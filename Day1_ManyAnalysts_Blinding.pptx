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2" r:id="rId1"/>
  </p:sldMasterIdLst>
  <p:notesMasterIdLst>
    <p:notesMasterId r:id="rId55"/>
  </p:notesMasterIdLst>
  <p:sldIdLst>
    <p:sldId id="443" r:id="rId2"/>
    <p:sldId id="287" r:id="rId3"/>
    <p:sldId id="437" r:id="rId4"/>
    <p:sldId id="307" r:id="rId5"/>
    <p:sldId id="438" r:id="rId6"/>
    <p:sldId id="439" r:id="rId7"/>
    <p:sldId id="433" r:id="rId8"/>
    <p:sldId id="440" r:id="rId9"/>
    <p:sldId id="451" r:id="rId10"/>
    <p:sldId id="434" r:id="rId11"/>
    <p:sldId id="452" r:id="rId12"/>
    <p:sldId id="441" r:id="rId13"/>
    <p:sldId id="442" r:id="rId14"/>
    <p:sldId id="449" r:id="rId15"/>
    <p:sldId id="256" r:id="rId16"/>
    <p:sldId id="446" r:id="rId17"/>
    <p:sldId id="445" r:id="rId18"/>
    <p:sldId id="413" r:id="rId19"/>
    <p:sldId id="414" r:id="rId20"/>
    <p:sldId id="415" r:id="rId21"/>
    <p:sldId id="447" r:id="rId22"/>
    <p:sldId id="444" r:id="rId23"/>
    <p:sldId id="417" r:id="rId24"/>
    <p:sldId id="418" r:id="rId25"/>
    <p:sldId id="419" r:id="rId26"/>
    <p:sldId id="420" r:id="rId27"/>
    <p:sldId id="421" r:id="rId28"/>
    <p:sldId id="422" r:id="rId29"/>
    <p:sldId id="423" r:id="rId30"/>
    <p:sldId id="424" r:id="rId31"/>
    <p:sldId id="425" r:id="rId32"/>
    <p:sldId id="448" r:id="rId33"/>
    <p:sldId id="426" r:id="rId34"/>
    <p:sldId id="428" r:id="rId35"/>
    <p:sldId id="431" r:id="rId36"/>
    <p:sldId id="430" r:id="rId37"/>
    <p:sldId id="432" r:id="rId38"/>
    <p:sldId id="286" r:id="rId39"/>
    <p:sldId id="450" r:id="rId40"/>
    <p:sldId id="455" r:id="rId41"/>
    <p:sldId id="435" r:id="rId42"/>
    <p:sldId id="261" r:id="rId43"/>
    <p:sldId id="302" r:id="rId44"/>
    <p:sldId id="288" r:id="rId45"/>
    <p:sldId id="262" r:id="rId46"/>
    <p:sldId id="300" r:id="rId47"/>
    <p:sldId id="301" r:id="rId48"/>
    <p:sldId id="408" r:id="rId49"/>
    <p:sldId id="409" r:id="rId50"/>
    <p:sldId id="410" r:id="rId51"/>
    <p:sldId id="411" r:id="rId52"/>
    <p:sldId id="412" r:id="rId53"/>
    <p:sldId id="453"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05"/>
    <p:restoredTop sz="93875"/>
  </p:normalViewPr>
  <p:slideViewPr>
    <p:cSldViewPr snapToGrid="0" snapToObjects="1">
      <p:cViewPr varScale="1">
        <p:scale>
          <a:sx n="92" d="100"/>
          <a:sy n="92" d="100"/>
        </p:scale>
        <p:origin x="208" y="744"/>
      </p:cViewPr>
      <p:guideLst/>
    </p:cSldViewPr>
  </p:slideViewPr>
  <p:outlineViewPr>
    <p:cViewPr>
      <p:scale>
        <a:sx n="33" d="100"/>
        <a:sy n="33" d="100"/>
      </p:scale>
      <p:origin x="0" y="-4528"/>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_rels/data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diagrams/_rels/data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diagrams/_rels/drawing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9983A5-F0C6-46DD-A928-B764E5A6DE1F}" type="doc">
      <dgm:prSet loTypeId="urn:microsoft.com/office/officeart/2008/layout/BendingPictureCaptionList" loCatId="picture" qsTypeId="urn:microsoft.com/office/officeart/2005/8/quickstyle/simple1" qsCatId="simple" csTypeId="urn:microsoft.com/office/officeart/2005/8/colors/colorful5" csCatId="colorful" phldr="1"/>
      <dgm:spPr/>
      <dgm:t>
        <a:bodyPr/>
        <a:lstStyle/>
        <a:p>
          <a:endParaRPr lang="de-DE"/>
        </a:p>
      </dgm:t>
    </dgm:pt>
    <dgm:pt modelId="{0E525A8E-24B5-4CDA-81E5-82F6BAF029C8}">
      <dgm:prSet phldrT="[Text]"/>
      <dgm:spPr/>
      <dgm:t>
        <a:bodyPr/>
        <a:lstStyle/>
        <a:p>
          <a:r>
            <a:rPr lang="de-DE" dirty="0" err="1">
              <a:latin typeface="Lucida Sans" panose="020B0602030504020204" pitchFamily="34" charset="0"/>
            </a:rPr>
            <a:t>Raw</a:t>
          </a:r>
          <a:r>
            <a:rPr lang="de-DE" dirty="0">
              <a:latin typeface="Lucida Sans" panose="020B0602030504020204" pitchFamily="34" charset="0"/>
            </a:rPr>
            <a:t> </a:t>
          </a:r>
          <a:r>
            <a:rPr lang="de-DE" dirty="0" err="1">
              <a:latin typeface="Lucida Sans" panose="020B0602030504020204" pitchFamily="34" charset="0"/>
            </a:rPr>
            <a:t>data</a:t>
          </a:r>
          <a:endParaRPr lang="de-DE" dirty="0">
            <a:latin typeface="Lucida Sans" panose="020B0602030504020204" pitchFamily="34" charset="0"/>
          </a:endParaRPr>
        </a:p>
      </dgm:t>
    </dgm:pt>
    <dgm:pt modelId="{D012ABD9-440E-4C14-ABF6-AA0C303D1BE6}" type="parTrans" cxnId="{1B982388-8EC6-4AB2-B508-A2F1AB6FC568}">
      <dgm:prSet/>
      <dgm:spPr/>
      <dgm:t>
        <a:bodyPr/>
        <a:lstStyle/>
        <a:p>
          <a:endParaRPr lang="de-DE"/>
        </a:p>
      </dgm:t>
    </dgm:pt>
    <dgm:pt modelId="{2E6C0E4D-30D5-4A26-B28A-0661233A2766}" type="sibTrans" cxnId="{1B982388-8EC6-4AB2-B508-A2F1AB6FC568}">
      <dgm:prSet/>
      <dgm:spPr/>
      <dgm:t>
        <a:bodyPr/>
        <a:lstStyle/>
        <a:p>
          <a:endParaRPr lang="de-DE"/>
        </a:p>
      </dgm:t>
    </dgm:pt>
    <dgm:pt modelId="{3BDF398D-DF61-489C-956A-E8D47FFB4F5E}">
      <dgm:prSet phldrT="[Text]"/>
      <dgm:spPr/>
      <dgm:t>
        <a:bodyPr/>
        <a:lstStyle/>
        <a:p>
          <a:r>
            <a:rPr lang="de-DE">
              <a:latin typeface="Lucida Sans" panose="020B0602030504020204" pitchFamily="34" charset="0"/>
            </a:rPr>
            <a:t>Square-root transformation</a:t>
          </a:r>
          <a:endParaRPr lang="de-DE" dirty="0">
            <a:latin typeface="Lucida Sans" panose="020B0602030504020204" pitchFamily="34" charset="0"/>
          </a:endParaRPr>
        </a:p>
      </dgm:t>
    </dgm:pt>
    <dgm:pt modelId="{7C9CD889-FB2D-4791-B55D-70ABC55D76F3}" type="parTrans" cxnId="{77E888AD-FB08-4D05-B2C8-5E37E7192F32}">
      <dgm:prSet/>
      <dgm:spPr/>
      <dgm:t>
        <a:bodyPr/>
        <a:lstStyle/>
        <a:p>
          <a:endParaRPr lang="de-DE"/>
        </a:p>
      </dgm:t>
    </dgm:pt>
    <dgm:pt modelId="{18AA93FC-E056-449B-98DC-FE03CD8DF995}" type="sibTrans" cxnId="{77E888AD-FB08-4D05-B2C8-5E37E7192F32}">
      <dgm:prSet/>
      <dgm:spPr/>
      <dgm:t>
        <a:bodyPr/>
        <a:lstStyle/>
        <a:p>
          <a:endParaRPr lang="de-DE"/>
        </a:p>
      </dgm:t>
    </dgm:pt>
    <dgm:pt modelId="{06C1038E-93D7-40C9-80D7-E70B5613DFF1}">
      <dgm:prSet phldrT="[Text]"/>
      <dgm:spPr/>
      <dgm:t>
        <a:bodyPr/>
        <a:lstStyle/>
        <a:p>
          <a:r>
            <a:rPr lang="de-DE">
              <a:latin typeface="Lucida Sans" panose="020B0602030504020204" pitchFamily="34" charset="0"/>
            </a:rPr>
            <a:t>Log transformation</a:t>
          </a:r>
          <a:endParaRPr lang="de-DE" dirty="0">
            <a:latin typeface="Lucida Sans" panose="020B0602030504020204" pitchFamily="34" charset="0"/>
          </a:endParaRPr>
        </a:p>
      </dgm:t>
    </dgm:pt>
    <dgm:pt modelId="{7B65B0FB-0F3B-4B0A-B81E-C97227FDB49C}" type="parTrans" cxnId="{7DD2E9F5-66A8-48EF-8BBF-D4FEF1B010DC}">
      <dgm:prSet/>
      <dgm:spPr/>
      <dgm:t>
        <a:bodyPr/>
        <a:lstStyle/>
        <a:p>
          <a:endParaRPr lang="de-DE"/>
        </a:p>
      </dgm:t>
    </dgm:pt>
    <dgm:pt modelId="{8C801AC3-B16D-4759-AAC1-14E02FE498D4}" type="sibTrans" cxnId="{7DD2E9F5-66A8-48EF-8BBF-D4FEF1B010DC}">
      <dgm:prSet/>
      <dgm:spPr/>
      <dgm:t>
        <a:bodyPr/>
        <a:lstStyle/>
        <a:p>
          <a:endParaRPr lang="de-DE"/>
        </a:p>
      </dgm:t>
    </dgm:pt>
    <dgm:pt modelId="{F7E6E053-2E4C-474A-A7BB-EC187E81B888}" type="pres">
      <dgm:prSet presAssocID="{919983A5-F0C6-46DD-A928-B764E5A6DE1F}" presName="Name0" presStyleCnt="0">
        <dgm:presLayoutVars>
          <dgm:dir/>
          <dgm:resizeHandles val="exact"/>
        </dgm:presLayoutVars>
      </dgm:prSet>
      <dgm:spPr/>
    </dgm:pt>
    <dgm:pt modelId="{C3C4F480-6EC4-4EFC-89AE-D889366E5DCE}" type="pres">
      <dgm:prSet presAssocID="{0E525A8E-24B5-4CDA-81E5-82F6BAF029C8}" presName="composite" presStyleCnt="0"/>
      <dgm:spPr/>
    </dgm:pt>
    <dgm:pt modelId="{B3507B8F-CC70-428A-8511-84AD9B301650}" type="pres">
      <dgm:prSet presAssocID="{0E525A8E-24B5-4CDA-81E5-82F6BAF029C8}" presName="rect1" presStyleLbl="bgImgPlace1" presStyleIdx="0" presStyleCnt="3" custLinFactNeighborY="1076"/>
      <dgm:spPr>
        <a:blipFill>
          <a:blip xmlns:r="http://schemas.openxmlformats.org/officeDocument/2006/relationships" r:embed="rId1">
            <a:extLst>
              <a:ext uri="{28A0092B-C50C-407E-A947-70E740481C1C}">
                <a14:useLocalDpi xmlns:a14="http://schemas.microsoft.com/office/drawing/2010/main" val="0"/>
              </a:ext>
            </a:extLst>
          </a:blip>
          <a:srcRect/>
          <a:stretch>
            <a:fillRect t="-12000" b="-12000"/>
          </a:stretch>
        </a:blipFill>
      </dgm:spPr>
    </dgm:pt>
    <dgm:pt modelId="{3AC630CE-4E2D-42D6-800D-BE2E828E7EF3}" type="pres">
      <dgm:prSet presAssocID="{0E525A8E-24B5-4CDA-81E5-82F6BAF029C8}" presName="wedgeRectCallout1" presStyleLbl="node1" presStyleIdx="0" presStyleCnt="3" custLinFactNeighborX="-4088" custLinFactNeighborY="37518">
        <dgm:presLayoutVars>
          <dgm:bulletEnabled val="1"/>
        </dgm:presLayoutVars>
      </dgm:prSet>
      <dgm:spPr/>
    </dgm:pt>
    <dgm:pt modelId="{378B3CC1-9A0A-4989-9DAB-0B6290327113}" type="pres">
      <dgm:prSet presAssocID="{2E6C0E4D-30D5-4A26-B28A-0661233A2766}" presName="sibTrans" presStyleCnt="0"/>
      <dgm:spPr/>
    </dgm:pt>
    <dgm:pt modelId="{3ED71FB1-B96F-4421-A9F4-AFD3F501FEC0}" type="pres">
      <dgm:prSet presAssocID="{3BDF398D-DF61-489C-956A-E8D47FFB4F5E}" presName="composite" presStyleCnt="0"/>
      <dgm:spPr/>
    </dgm:pt>
    <dgm:pt modelId="{F4F892AD-3A9C-430A-ACA8-601853DB9297}" type="pres">
      <dgm:prSet presAssocID="{3BDF398D-DF61-489C-956A-E8D47FFB4F5E}" presName="rect1" presStyleLbl="b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12000" b="-12000"/>
          </a:stretch>
        </a:blipFill>
      </dgm:spPr>
    </dgm:pt>
    <dgm:pt modelId="{CC24F998-71DD-45EC-B261-65C5FD094DB6}" type="pres">
      <dgm:prSet presAssocID="{3BDF398D-DF61-489C-956A-E8D47FFB4F5E}" presName="wedgeRectCallout1" presStyleLbl="node1" presStyleIdx="1" presStyleCnt="3" custLinFactNeighborX="-4610" custLinFactNeighborY="33966">
        <dgm:presLayoutVars>
          <dgm:bulletEnabled val="1"/>
        </dgm:presLayoutVars>
      </dgm:prSet>
      <dgm:spPr/>
    </dgm:pt>
    <dgm:pt modelId="{756F24DA-1A0D-4014-9704-6637AD3E5D06}" type="pres">
      <dgm:prSet presAssocID="{18AA93FC-E056-449B-98DC-FE03CD8DF995}" presName="sibTrans" presStyleCnt="0"/>
      <dgm:spPr/>
    </dgm:pt>
    <dgm:pt modelId="{725CB08A-F1BB-4D6C-A2BE-BD93DD7940B7}" type="pres">
      <dgm:prSet presAssocID="{06C1038E-93D7-40C9-80D7-E70B5613DFF1}" presName="composite" presStyleCnt="0"/>
      <dgm:spPr/>
    </dgm:pt>
    <dgm:pt modelId="{4101AEC0-473E-4B47-B2D6-B13EF07F0E3A}" type="pres">
      <dgm:prSet presAssocID="{06C1038E-93D7-40C9-80D7-E70B5613DFF1}" presName="rect1" presStyleLbl="b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t="-12000" b="-12000"/>
          </a:stretch>
        </a:blipFill>
      </dgm:spPr>
    </dgm:pt>
    <dgm:pt modelId="{04A99418-1AC8-4818-8F06-307030A84343}" type="pres">
      <dgm:prSet presAssocID="{06C1038E-93D7-40C9-80D7-E70B5613DFF1}" presName="wedgeRectCallout1" presStyleLbl="node1" presStyleIdx="2" presStyleCnt="3" custLinFactNeighborX="-5132" custLinFactNeighborY="33966">
        <dgm:presLayoutVars>
          <dgm:bulletEnabled val="1"/>
        </dgm:presLayoutVars>
      </dgm:prSet>
      <dgm:spPr/>
    </dgm:pt>
  </dgm:ptLst>
  <dgm:cxnLst>
    <dgm:cxn modelId="{BE4C8027-56D6-4B77-9FB6-6F728EF215B6}" type="presOf" srcId="{06C1038E-93D7-40C9-80D7-E70B5613DFF1}" destId="{04A99418-1AC8-4818-8F06-307030A84343}" srcOrd="0" destOrd="0" presId="urn:microsoft.com/office/officeart/2008/layout/BendingPictureCaptionList"/>
    <dgm:cxn modelId="{6A52CF2F-8527-4F04-B08D-A90C4257BCA9}" type="presOf" srcId="{0E525A8E-24B5-4CDA-81E5-82F6BAF029C8}" destId="{3AC630CE-4E2D-42D6-800D-BE2E828E7EF3}" srcOrd="0" destOrd="0" presId="urn:microsoft.com/office/officeart/2008/layout/BendingPictureCaptionList"/>
    <dgm:cxn modelId="{1B982388-8EC6-4AB2-B508-A2F1AB6FC568}" srcId="{919983A5-F0C6-46DD-A928-B764E5A6DE1F}" destId="{0E525A8E-24B5-4CDA-81E5-82F6BAF029C8}" srcOrd="0" destOrd="0" parTransId="{D012ABD9-440E-4C14-ABF6-AA0C303D1BE6}" sibTransId="{2E6C0E4D-30D5-4A26-B28A-0661233A2766}"/>
    <dgm:cxn modelId="{77E888AD-FB08-4D05-B2C8-5E37E7192F32}" srcId="{919983A5-F0C6-46DD-A928-B764E5A6DE1F}" destId="{3BDF398D-DF61-489C-956A-E8D47FFB4F5E}" srcOrd="1" destOrd="0" parTransId="{7C9CD889-FB2D-4791-B55D-70ABC55D76F3}" sibTransId="{18AA93FC-E056-449B-98DC-FE03CD8DF995}"/>
    <dgm:cxn modelId="{EE7CD9C4-1DD1-48A0-871B-CC93F6705288}" type="presOf" srcId="{3BDF398D-DF61-489C-956A-E8D47FFB4F5E}" destId="{CC24F998-71DD-45EC-B261-65C5FD094DB6}" srcOrd="0" destOrd="0" presId="urn:microsoft.com/office/officeart/2008/layout/BendingPictureCaptionList"/>
    <dgm:cxn modelId="{066924C7-B7D4-43D3-A99F-0BE4E16B60CA}" type="presOf" srcId="{919983A5-F0C6-46DD-A928-B764E5A6DE1F}" destId="{F7E6E053-2E4C-474A-A7BB-EC187E81B888}" srcOrd="0" destOrd="0" presId="urn:microsoft.com/office/officeart/2008/layout/BendingPictureCaptionList"/>
    <dgm:cxn modelId="{7DD2E9F5-66A8-48EF-8BBF-D4FEF1B010DC}" srcId="{919983A5-F0C6-46DD-A928-B764E5A6DE1F}" destId="{06C1038E-93D7-40C9-80D7-E70B5613DFF1}" srcOrd="2" destOrd="0" parTransId="{7B65B0FB-0F3B-4B0A-B81E-C97227FDB49C}" sibTransId="{8C801AC3-B16D-4759-AAC1-14E02FE498D4}"/>
    <dgm:cxn modelId="{27C26955-7ABD-4A96-98D4-F02DDB8BC529}" type="presParOf" srcId="{F7E6E053-2E4C-474A-A7BB-EC187E81B888}" destId="{C3C4F480-6EC4-4EFC-89AE-D889366E5DCE}" srcOrd="0" destOrd="0" presId="urn:microsoft.com/office/officeart/2008/layout/BendingPictureCaptionList"/>
    <dgm:cxn modelId="{BBB1934B-87E7-49A9-8B67-A4997CA50084}" type="presParOf" srcId="{C3C4F480-6EC4-4EFC-89AE-D889366E5DCE}" destId="{B3507B8F-CC70-428A-8511-84AD9B301650}" srcOrd="0" destOrd="0" presId="urn:microsoft.com/office/officeart/2008/layout/BendingPictureCaptionList"/>
    <dgm:cxn modelId="{E742CC45-BF7C-4DA0-8036-BEC6834DC65E}" type="presParOf" srcId="{C3C4F480-6EC4-4EFC-89AE-D889366E5DCE}" destId="{3AC630CE-4E2D-42D6-800D-BE2E828E7EF3}" srcOrd="1" destOrd="0" presId="urn:microsoft.com/office/officeart/2008/layout/BendingPictureCaptionList"/>
    <dgm:cxn modelId="{ACE567CB-FD9D-41DE-A41E-E8DBDC9E756F}" type="presParOf" srcId="{F7E6E053-2E4C-474A-A7BB-EC187E81B888}" destId="{378B3CC1-9A0A-4989-9DAB-0B6290327113}" srcOrd="1" destOrd="0" presId="urn:microsoft.com/office/officeart/2008/layout/BendingPictureCaptionList"/>
    <dgm:cxn modelId="{DF5A67A9-0514-4A21-8B42-725D1F34194C}" type="presParOf" srcId="{F7E6E053-2E4C-474A-A7BB-EC187E81B888}" destId="{3ED71FB1-B96F-4421-A9F4-AFD3F501FEC0}" srcOrd="2" destOrd="0" presId="urn:microsoft.com/office/officeart/2008/layout/BendingPictureCaptionList"/>
    <dgm:cxn modelId="{8A5ACA46-733A-4F8C-B39C-2E01FFF1144A}" type="presParOf" srcId="{3ED71FB1-B96F-4421-A9F4-AFD3F501FEC0}" destId="{F4F892AD-3A9C-430A-ACA8-601853DB9297}" srcOrd="0" destOrd="0" presId="urn:microsoft.com/office/officeart/2008/layout/BendingPictureCaptionList"/>
    <dgm:cxn modelId="{AE89810E-3DA6-4CF1-8ED6-E3D7F933DCE3}" type="presParOf" srcId="{3ED71FB1-B96F-4421-A9F4-AFD3F501FEC0}" destId="{CC24F998-71DD-45EC-B261-65C5FD094DB6}" srcOrd="1" destOrd="0" presId="urn:microsoft.com/office/officeart/2008/layout/BendingPictureCaptionList"/>
    <dgm:cxn modelId="{87118C96-0B8E-437A-8B85-BB3805D8BFD4}" type="presParOf" srcId="{F7E6E053-2E4C-474A-A7BB-EC187E81B888}" destId="{756F24DA-1A0D-4014-9704-6637AD3E5D06}" srcOrd="3" destOrd="0" presId="urn:microsoft.com/office/officeart/2008/layout/BendingPictureCaptionList"/>
    <dgm:cxn modelId="{E6EA95D1-2A26-439D-AFA2-7C4C39CF53DE}" type="presParOf" srcId="{F7E6E053-2E4C-474A-A7BB-EC187E81B888}" destId="{725CB08A-F1BB-4D6C-A2BE-BD93DD7940B7}" srcOrd="4" destOrd="0" presId="urn:microsoft.com/office/officeart/2008/layout/BendingPictureCaptionList"/>
    <dgm:cxn modelId="{B81C57F8-8E77-461F-AFB9-904078B271B3}" type="presParOf" srcId="{725CB08A-F1BB-4D6C-A2BE-BD93DD7940B7}" destId="{4101AEC0-473E-4B47-B2D6-B13EF07F0E3A}" srcOrd="0" destOrd="0" presId="urn:microsoft.com/office/officeart/2008/layout/BendingPictureCaptionList"/>
    <dgm:cxn modelId="{52181394-1452-49C1-9FA4-DEFA2FA825A1}" type="presParOf" srcId="{725CB08A-F1BB-4D6C-A2BE-BD93DD7940B7}" destId="{04A99418-1AC8-4818-8F06-307030A84343}" srcOrd="1" destOrd="0" presId="urn:microsoft.com/office/officeart/2008/layout/BendingPictureCa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9983A5-F0C6-46DD-A928-B764E5A6DE1F}" type="doc">
      <dgm:prSet loTypeId="urn:microsoft.com/office/officeart/2008/layout/BendingPictureCaptionList" loCatId="picture" qsTypeId="urn:microsoft.com/office/officeart/2005/8/quickstyle/simple1" qsCatId="simple" csTypeId="urn:microsoft.com/office/officeart/2005/8/colors/colorful5" csCatId="colorful" phldr="1"/>
      <dgm:spPr/>
      <dgm:t>
        <a:bodyPr/>
        <a:lstStyle/>
        <a:p>
          <a:endParaRPr lang="de-DE"/>
        </a:p>
      </dgm:t>
    </dgm:pt>
    <dgm:pt modelId="{0E525A8E-24B5-4CDA-81E5-82F6BAF029C8}">
      <dgm:prSet phldrT="[Text]"/>
      <dgm:spPr/>
      <dgm:t>
        <a:bodyPr/>
        <a:lstStyle/>
        <a:p>
          <a:r>
            <a:rPr lang="de-DE">
              <a:latin typeface="Lucida Sans" panose="020B0602030504020204" pitchFamily="34" charset="0"/>
            </a:rPr>
            <a:t>Raw data</a:t>
          </a:r>
          <a:endParaRPr lang="de-DE" dirty="0">
            <a:latin typeface="Lucida Sans" panose="020B0602030504020204" pitchFamily="34" charset="0"/>
          </a:endParaRPr>
        </a:p>
      </dgm:t>
    </dgm:pt>
    <dgm:pt modelId="{D012ABD9-440E-4C14-ABF6-AA0C303D1BE6}" type="parTrans" cxnId="{1B982388-8EC6-4AB2-B508-A2F1AB6FC568}">
      <dgm:prSet/>
      <dgm:spPr/>
      <dgm:t>
        <a:bodyPr/>
        <a:lstStyle/>
        <a:p>
          <a:endParaRPr lang="de-DE"/>
        </a:p>
      </dgm:t>
    </dgm:pt>
    <dgm:pt modelId="{2E6C0E4D-30D5-4A26-B28A-0661233A2766}" type="sibTrans" cxnId="{1B982388-8EC6-4AB2-B508-A2F1AB6FC568}">
      <dgm:prSet/>
      <dgm:spPr/>
      <dgm:t>
        <a:bodyPr/>
        <a:lstStyle/>
        <a:p>
          <a:endParaRPr lang="de-DE"/>
        </a:p>
      </dgm:t>
    </dgm:pt>
    <dgm:pt modelId="{3BDF398D-DF61-489C-956A-E8D47FFB4F5E}">
      <dgm:prSet phldrT="[Text]"/>
      <dgm:spPr/>
      <dgm:t>
        <a:bodyPr/>
        <a:lstStyle/>
        <a:p>
          <a:r>
            <a:rPr lang="de-DE">
              <a:latin typeface="Lucida Sans" panose="020B0602030504020204" pitchFamily="34" charset="0"/>
            </a:rPr>
            <a:t>Square-root transformation</a:t>
          </a:r>
          <a:endParaRPr lang="de-DE" dirty="0">
            <a:latin typeface="Lucida Sans" panose="020B0602030504020204" pitchFamily="34" charset="0"/>
          </a:endParaRPr>
        </a:p>
      </dgm:t>
    </dgm:pt>
    <dgm:pt modelId="{7C9CD889-FB2D-4791-B55D-70ABC55D76F3}" type="parTrans" cxnId="{77E888AD-FB08-4D05-B2C8-5E37E7192F32}">
      <dgm:prSet/>
      <dgm:spPr/>
      <dgm:t>
        <a:bodyPr/>
        <a:lstStyle/>
        <a:p>
          <a:endParaRPr lang="de-DE"/>
        </a:p>
      </dgm:t>
    </dgm:pt>
    <dgm:pt modelId="{18AA93FC-E056-449B-98DC-FE03CD8DF995}" type="sibTrans" cxnId="{77E888AD-FB08-4D05-B2C8-5E37E7192F32}">
      <dgm:prSet/>
      <dgm:spPr/>
      <dgm:t>
        <a:bodyPr/>
        <a:lstStyle/>
        <a:p>
          <a:endParaRPr lang="de-DE"/>
        </a:p>
      </dgm:t>
    </dgm:pt>
    <dgm:pt modelId="{06C1038E-93D7-40C9-80D7-E70B5613DFF1}">
      <dgm:prSet phldrT="[Text]"/>
      <dgm:spPr/>
      <dgm:t>
        <a:bodyPr/>
        <a:lstStyle/>
        <a:p>
          <a:r>
            <a:rPr lang="de-DE">
              <a:latin typeface="Lucida Sans" panose="020B0602030504020204" pitchFamily="34" charset="0"/>
            </a:rPr>
            <a:t>Log transformation</a:t>
          </a:r>
          <a:endParaRPr lang="de-DE" dirty="0">
            <a:latin typeface="Lucida Sans" panose="020B0602030504020204" pitchFamily="34" charset="0"/>
          </a:endParaRPr>
        </a:p>
      </dgm:t>
    </dgm:pt>
    <dgm:pt modelId="{7B65B0FB-0F3B-4B0A-B81E-C97227FDB49C}" type="parTrans" cxnId="{7DD2E9F5-66A8-48EF-8BBF-D4FEF1B010DC}">
      <dgm:prSet/>
      <dgm:spPr/>
      <dgm:t>
        <a:bodyPr/>
        <a:lstStyle/>
        <a:p>
          <a:endParaRPr lang="de-DE"/>
        </a:p>
      </dgm:t>
    </dgm:pt>
    <dgm:pt modelId="{8C801AC3-B16D-4759-AAC1-14E02FE498D4}" type="sibTrans" cxnId="{7DD2E9F5-66A8-48EF-8BBF-D4FEF1B010DC}">
      <dgm:prSet/>
      <dgm:spPr/>
      <dgm:t>
        <a:bodyPr/>
        <a:lstStyle/>
        <a:p>
          <a:endParaRPr lang="de-DE"/>
        </a:p>
      </dgm:t>
    </dgm:pt>
    <dgm:pt modelId="{F7E6E053-2E4C-474A-A7BB-EC187E81B888}" type="pres">
      <dgm:prSet presAssocID="{919983A5-F0C6-46DD-A928-B764E5A6DE1F}" presName="Name0" presStyleCnt="0">
        <dgm:presLayoutVars>
          <dgm:dir/>
          <dgm:resizeHandles val="exact"/>
        </dgm:presLayoutVars>
      </dgm:prSet>
      <dgm:spPr/>
    </dgm:pt>
    <dgm:pt modelId="{C3C4F480-6EC4-4EFC-89AE-D889366E5DCE}" type="pres">
      <dgm:prSet presAssocID="{0E525A8E-24B5-4CDA-81E5-82F6BAF029C8}" presName="composite" presStyleCnt="0"/>
      <dgm:spPr/>
    </dgm:pt>
    <dgm:pt modelId="{B3507B8F-CC70-428A-8511-84AD9B301650}" type="pres">
      <dgm:prSet presAssocID="{0E525A8E-24B5-4CDA-81E5-82F6BAF029C8}" presName="rect1" presStyleLbl="bgImgPlace1" presStyleIdx="0" presStyleCnt="3" custLinFactNeighborY="1076"/>
      <dgm:spPr>
        <a:blipFill>
          <a:blip xmlns:r="http://schemas.openxmlformats.org/officeDocument/2006/relationships" r:embed="rId1">
            <a:extLst>
              <a:ext uri="{28A0092B-C50C-407E-A947-70E740481C1C}">
                <a14:useLocalDpi xmlns:a14="http://schemas.microsoft.com/office/drawing/2010/main" val="0"/>
              </a:ext>
            </a:extLst>
          </a:blip>
          <a:srcRect/>
          <a:stretch>
            <a:fillRect t="-12000" b="-12000"/>
          </a:stretch>
        </a:blipFill>
      </dgm:spPr>
    </dgm:pt>
    <dgm:pt modelId="{3AC630CE-4E2D-42D6-800D-BE2E828E7EF3}" type="pres">
      <dgm:prSet presAssocID="{0E525A8E-24B5-4CDA-81E5-82F6BAF029C8}" presName="wedgeRectCallout1" presStyleLbl="node1" presStyleIdx="0" presStyleCnt="3" custLinFactNeighborX="-4088" custLinFactNeighborY="37518">
        <dgm:presLayoutVars>
          <dgm:bulletEnabled val="1"/>
        </dgm:presLayoutVars>
      </dgm:prSet>
      <dgm:spPr/>
    </dgm:pt>
    <dgm:pt modelId="{378B3CC1-9A0A-4989-9DAB-0B6290327113}" type="pres">
      <dgm:prSet presAssocID="{2E6C0E4D-30D5-4A26-B28A-0661233A2766}" presName="sibTrans" presStyleCnt="0"/>
      <dgm:spPr/>
    </dgm:pt>
    <dgm:pt modelId="{3ED71FB1-B96F-4421-A9F4-AFD3F501FEC0}" type="pres">
      <dgm:prSet presAssocID="{3BDF398D-DF61-489C-956A-E8D47FFB4F5E}" presName="composite" presStyleCnt="0"/>
      <dgm:spPr/>
    </dgm:pt>
    <dgm:pt modelId="{F4F892AD-3A9C-430A-ACA8-601853DB9297}" type="pres">
      <dgm:prSet presAssocID="{3BDF398D-DF61-489C-956A-E8D47FFB4F5E}" presName="rect1" presStyleLbl="bgImgPlace1" presStyleIdx="1" presStyleCnt="3" custLinFactNeighborX="919"/>
      <dgm:spPr>
        <a:blipFill>
          <a:blip xmlns:r="http://schemas.openxmlformats.org/officeDocument/2006/relationships" r:embed="rId2"/>
          <a:srcRect/>
          <a:stretch>
            <a:fillRect t="-12000" b="-12000"/>
          </a:stretch>
        </a:blipFill>
      </dgm:spPr>
    </dgm:pt>
    <dgm:pt modelId="{CC24F998-71DD-45EC-B261-65C5FD094DB6}" type="pres">
      <dgm:prSet presAssocID="{3BDF398D-DF61-489C-956A-E8D47FFB4F5E}" presName="wedgeRectCallout1" presStyleLbl="node1" presStyleIdx="1" presStyleCnt="3" custLinFactNeighborX="-4610" custLinFactNeighborY="33966">
        <dgm:presLayoutVars>
          <dgm:bulletEnabled val="1"/>
        </dgm:presLayoutVars>
      </dgm:prSet>
      <dgm:spPr/>
    </dgm:pt>
    <dgm:pt modelId="{756F24DA-1A0D-4014-9704-6637AD3E5D06}" type="pres">
      <dgm:prSet presAssocID="{18AA93FC-E056-449B-98DC-FE03CD8DF995}" presName="sibTrans" presStyleCnt="0"/>
      <dgm:spPr/>
    </dgm:pt>
    <dgm:pt modelId="{725CB08A-F1BB-4D6C-A2BE-BD93DD7940B7}" type="pres">
      <dgm:prSet presAssocID="{06C1038E-93D7-40C9-80D7-E70B5613DFF1}" presName="composite" presStyleCnt="0"/>
      <dgm:spPr/>
    </dgm:pt>
    <dgm:pt modelId="{4101AEC0-473E-4B47-B2D6-B13EF07F0E3A}" type="pres">
      <dgm:prSet presAssocID="{06C1038E-93D7-40C9-80D7-E70B5613DFF1}" presName="rect1" presStyleLbl="b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t="-12000" b="-12000"/>
          </a:stretch>
        </a:blipFill>
      </dgm:spPr>
    </dgm:pt>
    <dgm:pt modelId="{04A99418-1AC8-4818-8F06-307030A84343}" type="pres">
      <dgm:prSet presAssocID="{06C1038E-93D7-40C9-80D7-E70B5613DFF1}" presName="wedgeRectCallout1" presStyleLbl="node1" presStyleIdx="2" presStyleCnt="3" custLinFactNeighborX="-5132" custLinFactNeighborY="33966">
        <dgm:presLayoutVars>
          <dgm:bulletEnabled val="1"/>
        </dgm:presLayoutVars>
      </dgm:prSet>
      <dgm:spPr/>
    </dgm:pt>
  </dgm:ptLst>
  <dgm:cxnLst>
    <dgm:cxn modelId="{BE4C8027-56D6-4B77-9FB6-6F728EF215B6}" type="presOf" srcId="{06C1038E-93D7-40C9-80D7-E70B5613DFF1}" destId="{04A99418-1AC8-4818-8F06-307030A84343}" srcOrd="0" destOrd="0" presId="urn:microsoft.com/office/officeart/2008/layout/BendingPictureCaptionList"/>
    <dgm:cxn modelId="{6A52CF2F-8527-4F04-B08D-A90C4257BCA9}" type="presOf" srcId="{0E525A8E-24B5-4CDA-81E5-82F6BAF029C8}" destId="{3AC630CE-4E2D-42D6-800D-BE2E828E7EF3}" srcOrd="0" destOrd="0" presId="urn:microsoft.com/office/officeart/2008/layout/BendingPictureCaptionList"/>
    <dgm:cxn modelId="{1B982388-8EC6-4AB2-B508-A2F1AB6FC568}" srcId="{919983A5-F0C6-46DD-A928-B764E5A6DE1F}" destId="{0E525A8E-24B5-4CDA-81E5-82F6BAF029C8}" srcOrd="0" destOrd="0" parTransId="{D012ABD9-440E-4C14-ABF6-AA0C303D1BE6}" sibTransId="{2E6C0E4D-30D5-4A26-B28A-0661233A2766}"/>
    <dgm:cxn modelId="{77E888AD-FB08-4D05-B2C8-5E37E7192F32}" srcId="{919983A5-F0C6-46DD-A928-B764E5A6DE1F}" destId="{3BDF398D-DF61-489C-956A-E8D47FFB4F5E}" srcOrd="1" destOrd="0" parTransId="{7C9CD889-FB2D-4791-B55D-70ABC55D76F3}" sibTransId="{18AA93FC-E056-449B-98DC-FE03CD8DF995}"/>
    <dgm:cxn modelId="{EE7CD9C4-1DD1-48A0-871B-CC93F6705288}" type="presOf" srcId="{3BDF398D-DF61-489C-956A-E8D47FFB4F5E}" destId="{CC24F998-71DD-45EC-B261-65C5FD094DB6}" srcOrd="0" destOrd="0" presId="urn:microsoft.com/office/officeart/2008/layout/BendingPictureCaptionList"/>
    <dgm:cxn modelId="{066924C7-B7D4-43D3-A99F-0BE4E16B60CA}" type="presOf" srcId="{919983A5-F0C6-46DD-A928-B764E5A6DE1F}" destId="{F7E6E053-2E4C-474A-A7BB-EC187E81B888}" srcOrd="0" destOrd="0" presId="urn:microsoft.com/office/officeart/2008/layout/BendingPictureCaptionList"/>
    <dgm:cxn modelId="{7DD2E9F5-66A8-48EF-8BBF-D4FEF1B010DC}" srcId="{919983A5-F0C6-46DD-A928-B764E5A6DE1F}" destId="{06C1038E-93D7-40C9-80D7-E70B5613DFF1}" srcOrd="2" destOrd="0" parTransId="{7B65B0FB-0F3B-4B0A-B81E-C97227FDB49C}" sibTransId="{8C801AC3-B16D-4759-AAC1-14E02FE498D4}"/>
    <dgm:cxn modelId="{27C26955-7ABD-4A96-98D4-F02DDB8BC529}" type="presParOf" srcId="{F7E6E053-2E4C-474A-A7BB-EC187E81B888}" destId="{C3C4F480-6EC4-4EFC-89AE-D889366E5DCE}" srcOrd="0" destOrd="0" presId="urn:microsoft.com/office/officeart/2008/layout/BendingPictureCaptionList"/>
    <dgm:cxn modelId="{BBB1934B-87E7-49A9-8B67-A4997CA50084}" type="presParOf" srcId="{C3C4F480-6EC4-4EFC-89AE-D889366E5DCE}" destId="{B3507B8F-CC70-428A-8511-84AD9B301650}" srcOrd="0" destOrd="0" presId="urn:microsoft.com/office/officeart/2008/layout/BendingPictureCaptionList"/>
    <dgm:cxn modelId="{E742CC45-BF7C-4DA0-8036-BEC6834DC65E}" type="presParOf" srcId="{C3C4F480-6EC4-4EFC-89AE-D889366E5DCE}" destId="{3AC630CE-4E2D-42D6-800D-BE2E828E7EF3}" srcOrd="1" destOrd="0" presId="urn:microsoft.com/office/officeart/2008/layout/BendingPictureCaptionList"/>
    <dgm:cxn modelId="{ACE567CB-FD9D-41DE-A41E-E8DBDC9E756F}" type="presParOf" srcId="{F7E6E053-2E4C-474A-A7BB-EC187E81B888}" destId="{378B3CC1-9A0A-4989-9DAB-0B6290327113}" srcOrd="1" destOrd="0" presId="urn:microsoft.com/office/officeart/2008/layout/BendingPictureCaptionList"/>
    <dgm:cxn modelId="{DF5A67A9-0514-4A21-8B42-725D1F34194C}" type="presParOf" srcId="{F7E6E053-2E4C-474A-A7BB-EC187E81B888}" destId="{3ED71FB1-B96F-4421-A9F4-AFD3F501FEC0}" srcOrd="2" destOrd="0" presId="urn:microsoft.com/office/officeart/2008/layout/BendingPictureCaptionList"/>
    <dgm:cxn modelId="{8A5ACA46-733A-4F8C-B39C-2E01FFF1144A}" type="presParOf" srcId="{3ED71FB1-B96F-4421-A9F4-AFD3F501FEC0}" destId="{F4F892AD-3A9C-430A-ACA8-601853DB9297}" srcOrd="0" destOrd="0" presId="urn:microsoft.com/office/officeart/2008/layout/BendingPictureCaptionList"/>
    <dgm:cxn modelId="{AE89810E-3DA6-4CF1-8ED6-E3D7F933DCE3}" type="presParOf" srcId="{3ED71FB1-B96F-4421-A9F4-AFD3F501FEC0}" destId="{CC24F998-71DD-45EC-B261-65C5FD094DB6}" srcOrd="1" destOrd="0" presId="urn:microsoft.com/office/officeart/2008/layout/BendingPictureCaptionList"/>
    <dgm:cxn modelId="{87118C96-0B8E-437A-8B85-BB3805D8BFD4}" type="presParOf" srcId="{F7E6E053-2E4C-474A-A7BB-EC187E81B888}" destId="{756F24DA-1A0D-4014-9704-6637AD3E5D06}" srcOrd="3" destOrd="0" presId="urn:microsoft.com/office/officeart/2008/layout/BendingPictureCaptionList"/>
    <dgm:cxn modelId="{E6EA95D1-2A26-439D-AFA2-7C4C39CF53DE}" type="presParOf" srcId="{F7E6E053-2E4C-474A-A7BB-EC187E81B888}" destId="{725CB08A-F1BB-4D6C-A2BE-BD93DD7940B7}" srcOrd="4" destOrd="0" presId="urn:microsoft.com/office/officeart/2008/layout/BendingPictureCaptionList"/>
    <dgm:cxn modelId="{B81C57F8-8E77-461F-AFB9-904078B271B3}" type="presParOf" srcId="{725CB08A-F1BB-4D6C-A2BE-BD93DD7940B7}" destId="{4101AEC0-473E-4B47-B2D6-B13EF07F0E3A}" srcOrd="0" destOrd="0" presId="urn:microsoft.com/office/officeart/2008/layout/BendingPictureCaptionList"/>
    <dgm:cxn modelId="{52181394-1452-49C1-9FA4-DEFA2FA825A1}" type="presParOf" srcId="{725CB08A-F1BB-4D6C-A2BE-BD93DD7940B7}" destId="{04A99418-1AC8-4818-8F06-307030A84343}" srcOrd="1" destOrd="0" presId="urn:microsoft.com/office/officeart/2008/layout/BendingPictureCa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507B8F-CC70-428A-8511-84AD9B301650}">
      <dsp:nvSpPr>
        <dsp:cNvPr id="0" name=""/>
        <dsp:cNvSpPr/>
      </dsp:nvSpPr>
      <dsp:spPr>
        <a:xfrm>
          <a:off x="0" y="933668"/>
          <a:ext cx="2235142" cy="178811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12000" b="-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C630CE-4E2D-42D6-800D-BE2E828E7EF3}">
      <dsp:nvSpPr>
        <dsp:cNvPr id="0" name=""/>
        <dsp:cNvSpPr/>
      </dsp:nvSpPr>
      <dsp:spPr>
        <a:xfrm>
          <a:off x="119841" y="2758533"/>
          <a:ext cx="1989276" cy="625839"/>
        </a:xfrm>
        <a:prstGeom prst="wedgeRectCallout">
          <a:avLst>
            <a:gd name="adj1" fmla="val 20250"/>
            <a:gd name="adj2" fmla="val -607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err="1">
              <a:latin typeface="Lucida Sans" panose="020B0602030504020204" pitchFamily="34" charset="0"/>
            </a:rPr>
            <a:t>Raw</a:t>
          </a:r>
          <a:r>
            <a:rPr lang="de-DE" sz="1800" kern="1200" dirty="0">
              <a:latin typeface="Lucida Sans" panose="020B0602030504020204" pitchFamily="34" charset="0"/>
            </a:rPr>
            <a:t> </a:t>
          </a:r>
          <a:r>
            <a:rPr lang="de-DE" sz="1800" kern="1200" dirty="0" err="1">
              <a:latin typeface="Lucida Sans" panose="020B0602030504020204" pitchFamily="34" charset="0"/>
            </a:rPr>
            <a:t>data</a:t>
          </a:r>
          <a:endParaRPr lang="de-DE" sz="1800" kern="1200" dirty="0">
            <a:latin typeface="Lucida Sans" panose="020B0602030504020204" pitchFamily="34" charset="0"/>
          </a:endParaRPr>
        </a:p>
      </dsp:txBody>
      <dsp:txXfrm>
        <a:off x="119841" y="2758533"/>
        <a:ext cx="1989276" cy="625839"/>
      </dsp:txXfrm>
    </dsp:sp>
    <dsp:sp modelId="{F4F892AD-3A9C-430A-ACA8-601853DB9297}">
      <dsp:nvSpPr>
        <dsp:cNvPr id="0" name=""/>
        <dsp:cNvSpPr/>
      </dsp:nvSpPr>
      <dsp:spPr>
        <a:xfrm>
          <a:off x="2458656" y="914428"/>
          <a:ext cx="2235142" cy="178811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2000" b="-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24F998-71DD-45EC-B261-65C5FD094DB6}">
      <dsp:nvSpPr>
        <dsp:cNvPr id="0" name=""/>
        <dsp:cNvSpPr/>
      </dsp:nvSpPr>
      <dsp:spPr>
        <a:xfrm>
          <a:off x="2568113" y="2736304"/>
          <a:ext cx="1989276" cy="625839"/>
        </a:xfrm>
        <a:prstGeom prst="wedgeRectCallout">
          <a:avLst>
            <a:gd name="adj1" fmla="val 20250"/>
            <a:gd name="adj2" fmla="val -60700"/>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latin typeface="Lucida Sans" panose="020B0602030504020204" pitchFamily="34" charset="0"/>
            </a:rPr>
            <a:t>Square-root transformation</a:t>
          </a:r>
          <a:endParaRPr lang="de-DE" sz="1800" kern="1200" dirty="0">
            <a:latin typeface="Lucida Sans" panose="020B0602030504020204" pitchFamily="34" charset="0"/>
          </a:endParaRPr>
        </a:p>
      </dsp:txBody>
      <dsp:txXfrm>
        <a:off x="2568113" y="2736304"/>
        <a:ext cx="1989276" cy="625839"/>
      </dsp:txXfrm>
    </dsp:sp>
    <dsp:sp modelId="{4101AEC0-473E-4B47-B2D6-B13EF07F0E3A}">
      <dsp:nvSpPr>
        <dsp:cNvPr id="0" name=""/>
        <dsp:cNvSpPr/>
      </dsp:nvSpPr>
      <dsp:spPr>
        <a:xfrm>
          <a:off x="4917313" y="914428"/>
          <a:ext cx="2235142" cy="178811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12000" b="-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A99418-1AC8-4818-8F06-307030A84343}">
      <dsp:nvSpPr>
        <dsp:cNvPr id="0" name=""/>
        <dsp:cNvSpPr/>
      </dsp:nvSpPr>
      <dsp:spPr>
        <a:xfrm>
          <a:off x="5016386" y="2736304"/>
          <a:ext cx="1989276" cy="625839"/>
        </a:xfrm>
        <a:prstGeom prst="wedgeRectCallout">
          <a:avLst>
            <a:gd name="adj1" fmla="val 20250"/>
            <a:gd name="adj2" fmla="val -6070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latin typeface="Lucida Sans" panose="020B0602030504020204" pitchFamily="34" charset="0"/>
            </a:rPr>
            <a:t>Log transformation</a:t>
          </a:r>
          <a:endParaRPr lang="de-DE" sz="1800" kern="1200" dirty="0">
            <a:latin typeface="Lucida Sans" panose="020B0602030504020204" pitchFamily="34" charset="0"/>
          </a:endParaRPr>
        </a:p>
      </dsp:txBody>
      <dsp:txXfrm>
        <a:off x="5016386" y="2736304"/>
        <a:ext cx="1989276" cy="6258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507B8F-CC70-428A-8511-84AD9B301650}">
      <dsp:nvSpPr>
        <dsp:cNvPr id="0" name=""/>
        <dsp:cNvSpPr/>
      </dsp:nvSpPr>
      <dsp:spPr>
        <a:xfrm>
          <a:off x="0" y="721613"/>
          <a:ext cx="1882656" cy="150612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12000" b="-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C630CE-4E2D-42D6-800D-BE2E828E7EF3}">
      <dsp:nvSpPr>
        <dsp:cNvPr id="0" name=""/>
        <dsp:cNvSpPr/>
      </dsp:nvSpPr>
      <dsp:spPr>
        <a:xfrm>
          <a:off x="100942" y="2258694"/>
          <a:ext cx="1675564" cy="527143"/>
        </a:xfrm>
        <a:prstGeom prst="wedgeRectCallout">
          <a:avLst>
            <a:gd name="adj1" fmla="val 20250"/>
            <a:gd name="adj2" fmla="val -607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de-DE" sz="1500" kern="1200">
              <a:latin typeface="Lucida Sans" panose="020B0602030504020204" pitchFamily="34" charset="0"/>
            </a:rPr>
            <a:t>Raw data</a:t>
          </a:r>
          <a:endParaRPr lang="de-DE" sz="1500" kern="1200" dirty="0">
            <a:latin typeface="Lucida Sans" panose="020B0602030504020204" pitchFamily="34" charset="0"/>
          </a:endParaRPr>
        </a:p>
      </dsp:txBody>
      <dsp:txXfrm>
        <a:off x="100942" y="2258694"/>
        <a:ext cx="1675564" cy="527143"/>
      </dsp:txXfrm>
    </dsp:sp>
    <dsp:sp modelId="{F4F892AD-3A9C-430A-ACA8-601853DB9297}">
      <dsp:nvSpPr>
        <dsp:cNvPr id="0" name=""/>
        <dsp:cNvSpPr/>
      </dsp:nvSpPr>
      <dsp:spPr>
        <a:xfrm>
          <a:off x="2088223" y="705407"/>
          <a:ext cx="1882656" cy="1506125"/>
        </a:xfrm>
        <a:prstGeom prst="rect">
          <a:avLst/>
        </a:prstGeom>
        <a:blipFill>
          <a:blip xmlns:r="http://schemas.openxmlformats.org/officeDocument/2006/relationships" r:embed="rId2"/>
          <a:srcRect/>
          <a:stretch>
            <a:fillRect t="-12000" b="-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24F998-71DD-45EC-B261-65C5FD094DB6}">
      <dsp:nvSpPr>
        <dsp:cNvPr id="0" name=""/>
        <dsp:cNvSpPr/>
      </dsp:nvSpPr>
      <dsp:spPr>
        <a:xfrm>
          <a:off x="2163117" y="2239970"/>
          <a:ext cx="1675564" cy="527143"/>
        </a:xfrm>
        <a:prstGeom prst="wedgeRectCallout">
          <a:avLst>
            <a:gd name="adj1" fmla="val 20250"/>
            <a:gd name="adj2" fmla="val -60700"/>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de-DE" sz="1500" kern="1200">
              <a:latin typeface="Lucida Sans" panose="020B0602030504020204" pitchFamily="34" charset="0"/>
            </a:rPr>
            <a:t>Square-root transformation</a:t>
          </a:r>
          <a:endParaRPr lang="de-DE" sz="1500" kern="1200" dirty="0">
            <a:latin typeface="Lucida Sans" panose="020B0602030504020204" pitchFamily="34" charset="0"/>
          </a:endParaRPr>
        </a:p>
      </dsp:txBody>
      <dsp:txXfrm>
        <a:off x="2163117" y="2239970"/>
        <a:ext cx="1675564" cy="527143"/>
      </dsp:txXfrm>
    </dsp:sp>
    <dsp:sp modelId="{4101AEC0-473E-4B47-B2D6-B13EF07F0E3A}">
      <dsp:nvSpPr>
        <dsp:cNvPr id="0" name=""/>
        <dsp:cNvSpPr/>
      </dsp:nvSpPr>
      <dsp:spPr>
        <a:xfrm>
          <a:off x="4141843" y="705407"/>
          <a:ext cx="1882656" cy="150612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12000" b="-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A99418-1AC8-4818-8F06-307030A84343}">
      <dsp:nvSpPr>
        <dsp:cNvPr id="0" name=""/>
        <dsp:cNvSpPr/>
      </dsp:nvSpPr>
      <dsp:spPr>
        <a:xfrm>
          <a:off x="4225292" y="2239970"/>
          <a:ext cx="1675564" cy="527143"/>
        </a:xfrm>
        <a:prstGeom prst="wedgeRectCallout">
          <a:avLst>
            <a:gd name="adj1" fmla="val 20250"/>
            <a:gd name="adj2" fmla="val -6070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de-DE" sz="1500" kern="1200">
              <a:latin typeface="Lucida Sans" panose="020B0602030504020204" pitchFamily="34" charset="0"/>
            </a:rPr>
            <a:t>Log transformation</a:t>
          </a:r>
          <a:endParaRPr lang="de-DE" sz="1500" kern="1200" dirty="0">
            <a:latin typeface="Lucida Sans" panose="020B0602030504020204" pitchFamily="34" charset="0"/>
          </a:endParaRPr>
        </a:p>
      </dsp:txBody>
      <dsp:txXfrm>
        <a:off x="4225292" y="2239970"/>
        <a:ext cx="1675564" cy="527143"/>
      </dsp:txXfrm>
    </dsp:sp>
  </dsp:spTree>
</dsp:drawing>
</file>

<file path=ppt/diagrams/layout1.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92E78-E4D0-0147-8064-F123574F7084}" type="datetimeFigureOut">
              <a:rPr lang="en-US" smtClean="0"/>
              <a:t>5/5/21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6ABBA-2F85-C843-AAC4-8A106C5A5C2C}" type="slidenum">
              <a:rPr lang="en-US" smtClean="0"/>
              <a:t>‹#›</a:t>
            </a:fld>
            <a:endParaRPr lang="en-US"/>
          </a:p>
        </p:txBody>
      </p:sp>
    </p:spTree>
    <p:extLst>
      <p:ext uri="{BB962C8B-B14F-4D97-AF65-F5344CB8AC3E}">
        <p14:creationId xmlns:p14="http://schemas.microsoft.com/office/powerpoint/2010/main" val="602058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5E525-CDE5-804A-B0CF-B624E211CF0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3C3B1C1-F5DB-C44B-A5FF-81F01B3C43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B89AF55-A5FD-B54A-90ED-9FB8995446AE}"/>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5" name="Footer Placeholder 4">
            <a:extLst>
              <a:ext uri="{FF2B5EF4-FFF2-40B4-BE49-F238E27FC236}">
                <a16:creationId xmlns:a16="http://schemas.microsoft.com/office/drawing/2014/main" id="{2CED1622-3716-F645-BD7A-13CA1B3908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8E099B-BEFD-3348-817B-6065FD318CE0}"/>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780399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4F662-DF6E-F84F-B918-9DD0A946D37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2B8260-DE53-664A-8477-FEE1C620DE6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58DB9F1-57CD-5D48-A773-DC17E9D4DA6F}"/>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5" name="Footer Placeholder 4">
            <a:extLst>
              <a:ext uri="{FF2B5EF4-FFF2-40B4-BE49-F238E27FC236}">
                <a16:creationId xmlns:a16="http://schemas.microsoft.com/office/drawing/2014/main" id="{E87B63C7-5554-DC49-9109-E1452B59B6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49FAA9-5EC8-CF4E-AF1A-FC5E273CAF0A}"/>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2738038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0C1A9-ABD9-4B4D-B21B-352C926A405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84B0CF9-A7AF-6548-BDEA-4B669DC26E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1B5BC8B-0D20-CA44-AC8D-C4918C017580}"/>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5" name="Footer Placeholder 4">
            <a:extLst>
              <a:ext uri="{FF2B5EF4-FFF2-40B4-BE49-F238E27FC236}">
                <a16:creationId xmlns:a16="http://schemas.microsoft.com/office/drawing/2014/main" id="{85673B32-2B70-E449-9554-34C3FB8934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F87241-6742-A643-AD73-2D4068B5B506}"/>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3504945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48244-2E98-AF4B-B129-FDC65FBE27C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B719571-A7A6-FF4E-8D27-A3EC1AE25D8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A85333-75EF-374C-997E-835C82BB64E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6C1784B-395F-5848-9D9A-E86D36C8B9E5}"/>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6" name="Footer Placeholder 5">
            <a:extLst>
              <a:ext uri="{FF2B5EF4-FFF2-40B4-BE49-F238E27FC236}">
                <a16:creationId xmlns:a16="http://schemas.microsoft.com/office/drawing/2014/main" id="{DE2CC856-2E4D-4745-9F5D-8DF1298D28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03924-26C6-1349-ADB4-2879C39625BB}"/>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3248417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4C91B-632F-084C-815D-8B052F02D9C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3B4EE7-76EA-8948-B6A9-20AEBA1EFC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B765DE2-B755-E542-A8A4-36C3CD38252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8E33AC3-9BF6-D24E-BBB6-B64FE9F1FD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A83B4F6-F466-6E4D-BEB2-70B0F982450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8561029-9BCB-074A-9EF3-9A4A5D05A252}"/>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8" name="Footer Placeholder 7">
            <a:extLst>
              <a:ext uri="{FF2B5EF4-FFF2-40B4-BE49-F238E27FC236}">
                <a16:creationId xmlns:a16="http://schemas.microsoft.com/office/drawing/2014/main" id="{00E405F6-2CA8-974F-99F6-5E5026E9C0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E40746-FA92-6B43-8495-4C3282338489}"/>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3573297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0AF7F-3699-A640-86F6-8A3CF805865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45C83B3-3CAB-584E-8E91-4F6A3FE065C2}"/>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4" name="Footer Placeholder 3">
            <a:extLst>
              <a:ext uri="{FF2B5EF4-FFF2-40B4-BE49-F238E27FC236}">
                <a16:creationId xmlns:a16="http://schemas.microsoft.com/office/drawing/2014/main" id="{C27C5EF2-C72A-3044-BBDD-D6C527DC71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435DAB-F2DD-774B-B96C-2156F3207593}"/>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3257066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2DEFEC-DE64-0E4A-A50D-B8261649E878}"/>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3" name="Footer Placeholder 2">
            <a:extLst>
              <a:ext uri="{FF2B5EF4-FFF2-40B4-BE49-F238E27FC236}">
                <a16:creationId xmlns:a16="http://schemas.microsoft.com/office/drawing/2014/main" id="{F2F7391D-490F-0D41-9580-6215EBA61F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96965D-E778-5A4A-909A-E774649220DA}"/>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1127807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63FDF-A215-794C-AD20-000BA93AC01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8BD59C0-AA74-3640-AD4B-C6EA5498DC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0887482-02A2-9F48-89D3-7BFE87BD36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3D2293C-2EE7-BE49-9A12-615215491F97}"/>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6" name="Footer Placeholder 5">
            <a:extLst>
              <a:ext uri="{FF2B5EF4-FFF2-40B4-BE49-F238E27FC236}">
                <a16:creationId xmlns:a16="http://schemas.microsoft.com/office/drawing/2014/main" id="{C034A216-7A71-5748-BBC2-74C22D49EB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07C496-AA59-5E41-9E54-7FB07F66865C}"/>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36940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5B2CB-1543-AF40-B803-6DFE0DF9382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AF6189F-8B24-F844-B5AA-3CC61F8BC7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844E24-A316-3040-BF54-520089E281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8FD4659-02D5-664B-8154-8DBDC7FD96D1}"/>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6" name="Footer Placeholder 5">
            <a:extLst>
              <a:ext uri="{FF2B5EF4-FFF2-40B4-BE49-F238E27FC236}">
                <a16:creationId xmlns:a16="http://schemas.microsoft.com/office/drawing/2014/main" id="{DAD5B1A0-09AB-CA45-AAD5-71EE8B4D42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FE3AA4-684F-A946-B9CF-85A23E87824D}"/>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2315488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647C7-2885-6445-8696-443D1123CFD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D95CB8B-AF9C-DB4F-A7A5-9B752A70F44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50E629-54F7-0D4B-AAAE-648D5648F873}"/>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5" name="Footer Placeholder 4">
            <a:extLst>
              <a:ext uri="{FF2B5EF4-FFF2-40B4-BE49-F238E27FC236}">
                <a16:creationId xmlns:a16="http://schemas.microsoft.com/office/drawing/2014/main" id="{0A149C24-ED75-7C4D-98E7-76B9FA4DA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0B6828-D96E-C841-9414-73664702B766}"/>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1171369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204E96-73EF-6047-B7AB-024DA5BD34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49336E8-97ED-B74A-9612-D80AF37562F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726F533-AC2C-F744-8C28-A9CC0E93DFF0}"/>
              </a:ext>
            </a:extLst>
          </p:cNvPr>
          <p:cNvSpPr>
            <a:spLocks noGrp="1"/>
          </p:cNvSpPr>
          <p:nvPr>
            <p:ph type="dt" sz="half" idx="10"/>
          </p:nvPr>
        </p:nvSpPr>
        <p:spPr/>
        <p:txBody>
          <a:bodyPr/>
          <a:lstStyle/>
          <a:p>
            <a:fld id="{9ACEC554-1E82-2E47-9D1B-5A042A14144A}" type="datetimeFigureOut">
              <a:rPr lang="en-US" smtClean="0"/>
              <a:t>5/5/21</a:t>
            </a:fld>
            <a:endParaRPr lang="en-US"/>
          </a:p>
        </p:txBody>
      </p:sp>
      <p:sp>
        <p:nvSpPr>
          <p:cNvPr id="5" name="Footer Placeholder 4">
            <a:extLst>
              <a:ext uri="{FF2B5EF4-FFF2-40B4-BE49-F238E27FC236}">
                <a16:creationId xmlns:a16="http://schemas.microsoft.com/office/drawing/2014/main" id="{40FA4499-89A7-D246-BEFD-237638D939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9ACF4B-00DE-664E-B0BE-B159C5438BED}"/>
              </a:ext>
            </a:extLst>
          </p:cNvPr>
          <p:cNvSpPr>
            <a:spLocks noGrp="1"/>
          </p:cNvSpPr>
          <p:nvPr>
            <p:ph type="sldNum" sz="quarter" idx="12"/>
          </p:nvPr>
        </p:nvSpPr>
        <p:spPr/>
        <p:txBody>
          <a:bodyPr/>
          <a:lstStyle/>
          <a:p>
            <a:fld id="{66D4CE10-D4C8-9C48-8E7C-C6757807DCE1}" type="slidenum">
              <a:rPr lang="en-US" smtClean="0"/>
              <a:t>‹#›</a:t>
            </a:fld>
            <a:endParaRPr lang="en-US"/>
          </a:p>
        </p:txBody>
      </p:sp>
    </p:spTree>
    <p:extLst>
      <p:ext uri="{BB962C8B-B14F-4D97-AF65-F5344CB8AC3E}">
        <p14:creationId xmlns:p14="http://schemas.microsoft.com/office/powerpoint/2010/main" val="1954993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E68D06-7700-F14A-8300-1FCEC33664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3B76E7D-00B0-074E-9DDB-52B9B3C565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7D8B348-452B-E548-87E3-8E182958F3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CEC554-1E82-2E47-9D1B-5A042A14144A}" type="datetimeFigureOut">
              <a:rPr lang="en-US" smtClean="0"/>
              <a:t>5/5/21</a:t>
            </a:fld>
            <a:endParaRPr lang="en-US"/>
          </a:p>
        </p:txBody>
      </p:sp>
      <p:sp>
        <p:nvSpPr>
          <p:cNvPr id="5" name="Footer Placeholder 4">
            <a:extLst>
              <a:ext uri="{FF2B5EF4-FFF2-40B4-BE49-F238E27FC236}">
                <a16:creationId xmlns:a16="http://schemas.microsoft.com/office/drawing/2014/main" id="{A01BB0AF-EAC2-2343-B383-011E94DC00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77EAA59-356F-3A40-8DFF-7D2ABF711B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4CE10-D4C8-9C48-8E7C-C6757807DCE1}" type="slidenum">
              <a:rPr lang="en-US" smtClean="0"/>
              <a:t>‹#›</a:t>
            </a:fld>
            <a:endParaRPr lang="en-US"/>
          </a:p>
        </p:txBody>
      </p:sp>
    </p:spTree>
    <p:extLst>
      <p:ext uri="{BB962C8B-B14F-4D97-AF65-F5344CB8AC3E}">
        <p14:creationId xmlns:p14="http://schemas.microsoft.com/office/powerpoint/2010/main" val="2317134815"/>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12.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jp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diagramLayout" Target="../diagrams/layout1.xml"/><Relationship Id="rId7" Type="http://schemas.openxmlformats.org/officeDocument/2006/relationships/image" Target="../media/image2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psyarxiv.com/vr2u8/" TargetMode="External"/><Relationship Id="rId2" Type="http://schemas.openxmlformats.org/officeDocument/2006/relationships/hyperlink" Target="https://osf.io/hfkjv/"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7A21B5-F599-4E4D-A51F-AB1AAD8FA3E6}"/>
              </a:ext>
            </a:extLst>
          </p:cNvPr>
          <p:cNvSpPr>
            <a:spLocks noGrp="1"/>
          </p:cNvSpPr>
          <p:nvPr>
            <p:ph type="ctrTitle"/>
          </p:nvPr>
        </p:nvSpPr>
        <p:spPr>
          <a:xfrm>
            <a:off x="6497245" y="2010034"/>
            <a:ext cx="5290996" cy="2966935"/>
          </a:xfrm>
        </p:spPr>
        <p:txBody>
          <a:bodyPr anchor="b">
            <a:noAutofit/>
          </a:bodyPr>
          <a:lstStyle/>
          <a:p>
            <a:pPr algn="l"/>
            <a:r>
              <a:rPr lang="en-US" b="1" dirty="0">
                <a:solidFill>
                  <a:schemeClr val="bg1"/>
                </a:solidFill>
              </a:rPr>
              <a:t>Preregistration and Blinded Analysis</a:t>
            </a:r>
          </a:p>
        </p:txBody>
      </p:sp>
      <p:sp>
        <p:nvSpPr>
          <p:cNvPr id="24" name="Freeform: Shape 23">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5">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Inhaltsplatzhalter 3" descr="Vrouwe Justitia_Gilles_01.jpg">
            <a:extLst>
              <a:ext uri="{FF2B5EF4-FFF2-40B4-BE49-F238E27FC236}">
                <a16:creationId xmlns:a16="http://schemas.microsoft.com/office/drawing/2014/main" id="{4F67A47C-42CE-A147-BA37-E2532CE5936D}"/>
              </a:ext>
            </a:extLst>
          </p:cNvPr>
          <p:cNvPicPr>
            <a:picLocks/>
          </p:cNvPicPr>
          <p:nvPr/>
        </p:nvPicPr>
        <p:blipFill rotWithShape="1">
          <a:blip r:embed="rId2" cstate="print">
            <a:duotone>
              <a:schemeClr val="accent4">
                <a:shade val="45000"/>
                <a:satMod val="135000"/>
              </a:schemeClr>
              <a:prstClr val="white"/>
            </a:duotone>
            <a:alphaModFix/>
            <a:extLst>
              <a:ext uri="{BEBA8EAE-BF5A-486C-A8C5-ECC9F3942E4B}">
                <a14:imgProps xmlns:a14="http://schemas.microsoft.com/office/drawing/2010/main">
                  <a14:imgLayer r:embed="rId3">
                    <a14:imgEffect>
                      <a14:colorTemperature colorTemp="7200"/>
                    </a14:imgEffect>
                  </a14:imgLayer>
                </a14:imgProps>
              </a:ext>
            </a:extLst>
          </a:blip>
          <a:srcRect l="25407" t="14009" r="16548" b="20078"/>
          <a:stretch/>
        </p:blipFill>
        <p:spPr>
          <a:xfrm rot="10800000" flipH="1" flipV="1">
            <a:off x="26696" y="97005"/>
            <a:ext cx="4205545" cy="6755057"/>
          </a:xfrm>
          <a:prstGeom prst="foldedCorner">
            <a:avLst>
              <a:gd name="adj" fmla="val 39257"/>
            </a:avLst>
          </a:prstGeom>
          <a:effectLst>
            <a:softEdge rad="0"/>
          </a:effectLst>
        </p:spPr>
      </p:pic>
      <p:sp>
        <p:nvSpPr>
          <p:cNvPr id="8" name="Right Triangle 7">
            <a:extLst>
              <a:ext uri="{FF2B5EF4-FFF2-40B4-BE49-F238E27FC236}">
                <a16:creationId xmlns:a16="http://schemas.microsoft.com/office/drawing/2014/main" id="{968D7616-7E80-7B44-BE9E-7E9927436E3C}"/>
              </a:ext>
            </a:extLst>
          </p:cNvPr>
          <p:cNvSpPr/>
          <p:nvPr/>
        </p:nvSpPr>
        <p:spPr>
          <a:xfrm rot="6172081">
            <a:off x="2411753" y="5286005"/>
            <a:ext cx="2119704" cy="1352202"/>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2">
            <a:extLst>
              <a:ext uri="{FF2B5EF4-FFF2-40B4-BE49-F238E27FC236}">
                <a16:creationId xmlns:a16="http://schemas.microsoft.com/office/drawing/2014/main" id="{3459BB9B-A5DA-1540-ACEE-A1DF3798DD3E}"/>
              </a:ext>
            </a:extLst>
          </p:cNvPr>
          <p:cNvSpPr>
            <a:spLocks noGrp="1"/>
          </p:cNvSpPr>
          <p:nvPr>
            <p:ph type="subTitle" idx="1"/>
          </p:nvPr>
        </p:nvSpPr>
        <p:spPr>
          <a:xfrm>
            <a:off x="6497245" y="5264882"/>
            <a:ext cx="4645250" cy="539564"/>
          </a:xfrm>
        </p:spPr>
        <p:txBody>
          <a:bodyPr anchor="t">
            <a:normAutofit/>
          </a:bodyPr>
          <a:lstStyle/>
          <a:p>
            <a:pPr algn="l"/>
            <a:r>
              <a:rPr lang="en-US" dirty="0">
                <a:solidFill>
                  <a:schemeClr val="bg1"/>
                </a:solidFill>
              </a:rPr>
              <a:t>Alexandra </a:t>
            </a:r>
            <a:r>
              <a:rPr lang="en-US" dirty="0" err="1">
                <a:solidFill>
                  <a:schemeClr val="bg1"/>
                </a:solidFill>
              </a:rPr>
              <a:t>Sarafoglou</a:t>
            </a:r>
            <a:endParaRPr lang="en-US" dirty="0">
              <a:solidFill>
                <a:schemeClr val="bg1"/>
              </a:solidFill>
            </a:endParaRPr>
          </a:p>
        </p:txBody>
      </p:sp>
    </p:spTree>
    <p:extLst>
      <p:ext uri="{BB962C8B-B14F-4D97-AF65-F5344CB8AC3E}">
        <p14:creationId xmlns:p14="http://schemas.microsoft.com/office/powerpoint/2010/main" val="1076813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Preregistration</a:t>
            </a:r>
          </a:p>
        </p:txBody>
      </p:sp>
      <p:pic>
        <p:nvPicPr>
          <p:cNvPr id="8" name="Picture 6" descr="OSF | Badges to Acknowledge Open Practices Wiki">
            <a:extLst>
              <a:ext uri="{FF2B5EF4-FFF2-40B4-BE49-F238E27FC236}">
                <a16:creationId xmlns:a16="http://schemas.microsoft.com/office/drawing/2014/main" id="{FFCC2124-6D28-DF42-B0CB-735A1D4B70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994" t="21247"/>
          <a:stretch/>
        </p:blipFill>
        <p:spPr bwMode="auto">
          <a:xfrm>
            <a:off x="3462572" y="3055206"/>
            <a:ext cx="1468639" cy="1452036"/>
          </a:xfrm>
          <a:prstGeom prst="rect">
            <a:avLst/>
          </a:prstGeom>
          <a:noFill/>
          <a:extLst>
            <a:ext uri="{909E8E84-426E-40DD-AFC4-6F175D3DCCD1}">
              <a14:hiddenFill xmlns:a14="http://schemas.microsoft.com/office/drawing/2010/main">
                <a:solidFill>
                  <a:srgbClr val="FFFFFF"/>
                </a:solidFill>
              </a14:hiddenFill>
            </a:ext>
          </a:extLst>
        </p:spPr>
      </p:pic>
      <p:pic>
        <p:nvPicPr>
          <p:cNvPr id="11" name="Grafik 3">
            <a:extLst>
              <a:ext uri="{FF2B5EF4-FFF2-40B4-BE49-F238E27FC236}">
                <a16:creationId xmlns:a16="http://schemas.microsoft.com/office/drawing/2014/main" id="{FCD370B1-3507-9349-AF23-6C79E78E75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0989" y="3042153"/>
            <a:ext cx="2581396" cy="1452036"/>
          </a:xfrm>
          <a:prstGeom prst="rect">
            <a:avLst/>
          </a:prstGeom>
        </p:spPr>
      </p:pic>
      <p:pic>
        <p:nvPicPr>
          <p:cNvPr id="2050" name="Picture 2" descr="How Language Affects Decision-Making">
            <a:extLst>
              <a:ext uri="{FF2B5EF4-FFF2-40B4-BE49-F238E27FC236}">
                <a16:creationId xmlns:a16="http://schemas.microsoft.com/office/drawing/2014/main" id="{05FCC37B-651F-4D45-BDE5-51BDE52B80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293" y="3043175"/>
            <a:ext cx="2195083" cy="146406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searcher designs, themes, templates and downloadable graphic elements on  Dribbble">
            <a:extLst>
              <a:ext uri="{FF2B5EF4-FFF2-40B4-BE49-F238E27FC236}">
                <a16:creationId xmlns:a16="http://schemas.microsoft.com/office/drawing/2014/main" id="{BCD8C962-4887-8946-99F2-9DA2B467DB3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636" t="33818" r="18311" b="16722"/>
          <a:stretch/>
        </p:blipFill>
        <p:spPr bwMode="auto">
          <a:xfrm>
            <a:off x="5415968" y="3042153"/>
            <a:ext cx="2371825" cy="146508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0B47DCA1-A9DA-6B44-BA65-77CE2A61204D}"/>
              </a:ext>
            </a:extLst>
          </p:cNvPr>
          <p:cNvCxnSpPr>
            <a:stCxn id="2050" idx="3"/>
            <a:endCxn id="8" idx="1"/>
          </p:cNvCxnSpPr>
          <p:nvPr/>
        </p:nvCxnSpPr>
        <p:spPr>
          <a:xfrm>
            <a:off x="2929376" y="3775209"/>
            <a:ext cx="533196" cy="6015"/>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C486DD9-E4D4-074C-B1AB-39798322BCF2}"/>
              </a:ext>
            </a:extLst>
          </p:cNvPr>
          <p:cNvCxnSpPr>
            <a:cxnSpLocks/>
            <a:stCxn id="2052" idx="3"/>
            <a:endCxn id="11" idx="1"/>
          </p:cNvCxnSpPr>
          <p:nvPr/>
        </p:nvCxnSpPr>
        <p:spPr>
          <a:xfrm flipV="1">
            <a:off x="7787793" y="3768171"/>
            <a:ext cx="533196" cy="6527"/>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6000F95-10AD-A94D-8316-E23D45972342}"/>
              </a:ext>
            </a:extLst>
          </p:cNvPr>
          <p:cNvCxnSpPr>
            <a:cxnSpLocks/>
            <a:stCxn id="2052" idx="1"/>
            <a:endCxn id="8" idx="3"/>
          </p:cNvCxnSpPr>
          <p:nvPr/>
        </p:nvCxnSpPr>
        <p:spPr>
          <a:xfrm flipH="1">
            <a:off x="4931211" y="3774698"/>
            <a:ext cx="484757" cy="6526"/>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44058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Preregistration</a:t>
            </a:r>
          </a:p>
        </p:txBody>
      </p:sp>
      <p:sp>
        <p:nvSpPr>
          <p:cNvPr id="3" name="Content Placeholder 2">
            <a:extLst>
              <a:ext uri="{FF2B5EF4-FFF2-40B4-BE49-F238E27FC236}">
                <a16:creationId xmlns:a16="http://schemas.microsoft.com/office/drawing/2014/main" id="{18C267DB-F4B7-D049-A265-90B27DB7B870}"/>
              </a:ext>
            </a:extLst>
          </p:cNvPr>
          <p:cNvSpPr>
            <a:spLocks noGrp="1"/>
          </p:cNvSpPr>
          <p:nvPr>
            <p:ph idx="1"/>
          </p:nvPr>
        </p:nvSpPr>
        <p:spPr>
          <a:xfrm>
            <a:off x="838200" y="2015406"/>
            <a:ext cx="10515600" cy="4065986"/>
          </a:xfrm>
        </p:spPr>
        <p:txBody>
          <a:bodyPr anchor="ctr">
            <a:normAutofit/>
          </a:bodyPr>
          <a:lstStyle/>
          <a:p>
            <a:pPr marL="914400" lvl="1" indent="-457200">
              <a:buFont typeface="+mj-lt"/>
              <a:buAutoNum type="arabicPeriod"/>
            </a:pPr>
            <a:endParaRPr lang="en-US" dirty="0"/>
          </a:p>
          <a:p>
            <a:pPr marL="0" indent="0">
              <a:buNone/>
            </a:pPr>
            <a:r>
              <a:rPr lang="en-US" dirty="0"/>
              <a:t>Safeguards confirmatory status of your research</a:t>
            </a:r>
          </a:p>
          <a:p>
            <a:pPr marL="0" indent="0">
              <a:buNone/>
            </a:pPr>
            <a:endParaRPr lang="en-US" dirty="0"/>
          </a:p>
          <a:p>
            <a:pPr marL="0" indent="0">
              <a:buNone/>
            </a:pPr>
            <a:r>
              <a:rPr lang="en-US" dirty="0"/>
              <a:t>Prevents biases from contaminating the results</a:t>
            </a:r>
          </a:p>
          <a:p>
            <a:pPr marL="0" indent="0">
              <a:buNone/>
            </a:pPr>
            <a:endParaRPr lang="en-US" dirty="0"/>
          </a:p>
        </p:txBody>
      </p:sp>
    </p:spTree>
    <p:extLst>
      <p:ext uri="{BB962C8B-B14F-4D97-AF65-F5344CB8AC3E}">
        <p14:creationId xmlns:p14="http://schemas.microsoft.com/office/powerpoint/2010/main" val="279348264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5DC99-6186-7242-90A8-655BA41A5AA4}"/>
              </a:ext>
            </a:extLst>
          </p:cNvPr>
          <p:cNvSpPr>
            <a:spLocks noGrp="1"/>
          </p:cNvSpPr>
          <p:nvPr>
            <p:ph type="title"/>
          </p:nvPr>
        </p:nvSpPr>
        <p:spPr>
          <a:xfrm>
            <a:off x="554181" y="4710545"/>
            <a:ext cx="5957455" cy="1951655"/>
          </a:xfrm>
        </p:spPr>
        <p:txBody>
          <a:bodyPr>
            <a:normAutofit/>
          </a:bodyPr>
          <a:lstStyle/>
          <a:p>
            <a:r>
              <a:rPr lang="en-US" b="1" dirty="0">
                <a:solidFill>
                  <a:schemeClr val="bg1"/>
                </a:solidFill>
              </a:rPr>
              <a:t>Preregistration Survey</a:t>
            </a:r>
          </a:p>
        </p:txBody>
      </p:sp>
      <p:pic>
        <p:nvPicPr>
          <p:cNvPr id="1030" name="Picture 6" descr="OSF | Badges to Acknowledge Open Practices Wiki">
            <a:extLst>
              <a:ext uri="{FF2B5EF4-FFF2-40B4-BE49-F238E27FC236}">
                <a16:creationId xmlns:a16="http://schemas.microsoft.com/office/drawing/2014/main" id="{E3D1DC7E-EA48-A945-8D13-2139379D98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994" t="21247"/>
          <a:stretch/>
        </p:blipFill>
        <p:spPr bwMode="auto">
          <a:xfrm>
            <a:off x="4009949" y="389763"/>
            <a:ext cx="4566367" cy="4514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4877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Pilot Study</a:t>
            </a:r>
          </a:p>
        </p:txBody>
      </p:sp>
      <p:sp>
        <p:nvSpPr>
          <p:cNvPr id="3" name="Content Placeholder 2">
            <a:extLst>
              <a:ext uri="{FF2B5EF4-FFF2-40B4-BE49-F238E27FC236}">
                <a16:creationId xmlns:a16="http://schemas.microsoft.com/office/drawing/2014/main" id="{18C267DB-F4B7-D049-A265-90B27DB7B870}"/>
              </a:ext>
            </a:extLst>
          </p:cNvPr>
          <p:cNvSpPr>
            <a:spLocks noGrp="1"/>
          </p:cNvSpPr>
          <p:nvPr>
            <p:ph idx="1"/>
          </p:nvPr>
        </p:nvSpPr>
        <p:spPr>
          <a:xfrm>
            <a:off x="838200" y="2015405"/>
            <a:ext cx="10515600" cy="4477469"/>
          </a:xfrm>
        </p:spPr>
        <p:txBody>
          <a:bodyPr anchor="ctr">
            <a:normAutofit/>
          </a:bodyPr>
          <a:lstStyle/>
          <a:p>
            <a:pPr marL="0" indent="0">
              <a:buNone/>
            </a:pPr>
            <a:r>
              <a:rPr lang="en-US" dirty="0"/>
              <a:t> Goal: Research practical benefits and challenges of preregistration</a:t>
            </a:r>
          </a:p>
          <a:p>
            <a:pPr marL="0" indent="0">
              <a:buNone/>
            </a:pPr>
            <a:endParaRPr lang="en-US" dirty="0"/>
          </a:p>
          <a:p>
            <a:pPr marL="0" indent="0">
              <a:buNone/>
            </a:pPr>
            <a:r>
              <a:rPr lang="en-US" dirty="0"/>
              <a:t>49 Researchers with experience with preregistration</a:t>
            </a:r>
          </a:p>
          <a:p>
            <a:pPr>
              <a:buFont typeface="Courier New" panose="02070309020205020404" pitchFamily="49" charset="0"/>
              <a:buChar char="o"/>
            </a:pPr>
            <a:endParaRPr lang="en-US" dirty="0"/>
          </a:p>
          <a:p>
            <a:pPr marL="0" indent="0" algn="ctr">
              <a:buNone/>
            </a:pPr>
            <a:r>
              <a:rPr lang="en-US" dirty="0"/>
              <a:t> </a:t>
            </a:r>
            <a:r>
              <a:rPr lang="en-US" i="1" dirty="0"/>
              <a:t>How do preregistered studies differ from non-preregistered study with respect to workflow, data management, and quality (advantages and disadvantages)?</a:t>
            </a:r>
          </a:p>
          <a:p>
            <a:pPr marL="0" indent="0">
              <a:buNone/>
            </a:pPr>
            <a:endParaRPr lang="en-US" dirty="0"/>
          </a:p>
          <a:p>
            <a:pPr marL="0" indent="0">
              <a:buNone/>
            </a:pPr>
            <a:r>
              <a:rPr lang="en-US" dirty="0"/>
              <a:t>We categorized these answers into nine aspects of research process that are affected by preregistration</a:t>
            </a:r>
          </a:p>
        </p:txBody>
      </p:sp>
    </p:spTree>
    <p:extLst>
      <p:ext uri="{BB962C8B-B14F-4D97-AF65-F5344CB8AC3E}">
        <p14:creationId xmlns:p14="http://schemas.microsoft.com/office/powerpoint/2010/main" val="3697947506"/>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Main Study</a:t>
            </a:r>
          </a:p>
        </p:txBody>
      </p:sp>
      <p:sp>
        <p:nvSpPr>
          <p:cNvPr id="3" name="Content Placeholder 2">
            <a:extLst>
              <a:ext uri="{FF2B5EF4-FFF2-40B4-BE49-F238E27FC236}">
                <a16:creationId xmlns:a16="http://schemas.microsoft.com/office/drawing/2014/main" id="{18C267DB-F4B7-D049-A265-90B27DB7B870}"/>
              </a:ext>
            </a:extLst>
          </p:cNvPr>
          <p:cNvSpPr>
            <a:spLocks noGrp="1"/>
          </p:cNvSpPr>
          <p:nvPr>
            <p:ph idx="1"/>
          </p:nvPr>
        </p:nvSpPr>
        <p:spPr>
          <a:xfrm>
            <a:off x="838200" y="2015406"/>
            <a:ext cx="10515600" cy="4065986"/>
          </a:xfrm>
        </p:spPr>
        <p:txBody>
          <a:bodyPr anchor="ctr">
            <a:normAutofit/>
          </a:bodyPr>
          <a:lstStyle/>
          <a:p>
            <a:pPr marL="457200" lvl="1" indent="0">
              <a:buNone/>
            </a:pPr>
            <a:endParaRPr lang="en-US" dirty="0"/>
          </a:p>
          <a:p>
            <a:pPr>
              <a:buFont typeface="Courier New" panose="02070309020205020404" pitchFamily="49" charset="0"/>
              <a:buChar char="o"/>
            </a:pPr>
            <a:r>
              <a:rPr lang="en-US" dirty="0"/>
              <a:t> Surveyed 355 researchers (299 experience with preregistration, 56 no experience with preregistration)</a:t>
            </a:r>
          </a:p>
          <a:p>
            <a:pPr>
              <a:buFont typeface="Courier New" panose="02070309020205020404" pitchFamily="49" charset="0"/>
              <a:buChar char="o"/>
            </a:pPr>
            <a:r>
              <a:rPr lang="en-US" dirty="0"/>
              <a:t>Very low response rate from researchers without preregistration experience</a:t>
            </a:r>
          </a:p>
        </p:txBody>
      </p:sp>
    </p:spTree>
    <p:extLst>
      <p:ext uri="{BB962C8B-B14F-4D97-AF65-F5344CB8AC3E}">
        <p14:creationId xmlns:p14="http://schemas.microsoft.com/office/powerpoint/2010/main" val="948545752"/>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Sample </a:t>
            </a:r>
          </a:p>
        </p:txBody>
      </p:sp>
      <p:pic>
        <p:nvPicPr>
          <p:cNvPr id="4" name="Picture 3">
            <a:extLst>
              <a:ext uri="{FF2B5EF4-FFF2-40B4-BE49-F238E27FC236}">
                <a16:creationId xmlns:a16="http://schemas.microsoft.com/office/drawing/2014/main" id="{6F410411-783B-C345-84BB-825558216837}"/>
              </a:ext>
            </a:extLst>
          </p:cNvPr>
          <p:cNvPicPr>
            <a:picLocks noChangeAspect="1"/>
          </p:cNvPicPr>
          <p:nvPr/>
        </p:nvPicPr>
        <p:blipFill>
          <a:blip r:embed="rId2"/>
          <a:stretch>
            <a:fillRect/>
          </a:stretch>
        </p:blipFill>
        <p:spPr>
          <a:xfrm>
            <a:off x="1773381" y="2069199"/>
            <a:ext cx="7966364" cy="4423676"/>
          </a:xfrm>
          <a:prstGeom prst="rect">
            <a:avLst/>
          </a:prstGeom>
        </p:spPr>
      </p:pic>
    </p:spTree>
    <p:extLst>
      <p:ext uri="{BB962C8B-B14F-4D97-AF65-F5344CB8AC3E}">
        <p14:creationId xmlns:p14="http://schemas.microsoft.com/office/powerpoint/2010/main" val="2402280218"/>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Preregistration </a:t>
            </a:r>
          </a:p>
        </p:txBody>
      </p:sp>
      <p:pic>
        <p:nvPicPr>
          <p:cNvPr id="7" name="Picture 6">
            <a:extLst>
              <a:ext uri="{FF2B5EF4-FFF2-40B4-BE49-F238E27FC236}">
                <a16:creationId xmlns:a16="http://schemas.microsoft.com/office/drawing/2014/main" id="{29A48AC6-A22F-9046-AD1E-F40F177C72A9}"/>
              </a:ext>
            </a:extLst>
          </p:cNvPr>
          <p:cNvPicPr>
            <a:picLocks noChangeAspect="1"/>
          </p:cNvPicPr>
          <p:nvPr/>
        </p:nvPicPr>
        <p:blipFill>
          <a:blip r:embed="rId2"/>
          <a:stretch>
            <a:fillRect/>
          </a:stretch>
        </p:blipFill>
        <p:spPr>
          <a:xfrm>
            <a:off x="1059373" y="1690687"/>
            <a:ext cx="9303828" cy="5166361"/>
          </a:xfrm>
          <a:prstGeom prst="rect">
            <a:avLst/>
          </a:prstGeom>
        </p:spPr>
      </p:pic>
    </p:spTree>
    <p:extLst>
      <p:ext uri="{BB962C8B-B14F-4D97-AF65-F5344CB8AC3E}">
        <p14:creationId xmlns:p14="http://schemas.microsoft.com/office/powerpoint/2010/main" val="3616466354"/>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Preregistration </a:t>
            </a:r>
          </a:p>
        </p:txBody>
      </p:sp>
      <p:pic>
        <p:nvPicPr>
          <p:cNvPr id="7" name="Picture 6">
            <a:extLst>
              <a:ext uri="{FF2B5EF4-FFF2-40B4-BE49-F238E27FC236}">
                <a16:creationId xmlns:a16="http://schemas.microsoft.com/office/drawing/2014/main" id="{29A48AC6-A22F-9046-AD1E-F40F177C72A9}"/>
              </a:ext>
            </a:extLst>
          </p:cNvPr>
          <p:cNvPicPr>
            <a:picLocks noChangeAspect="1"/>
          </p:cNvPicPr>
          <p:nvPr/>
        </p:nvPicPr>
        <p:blipFill>
          <a:blip r:embed="rId2"/>
          <a:stretch>
            <a:fillRect/>
          </a:stretch>
        </p:blipFill>
        <p:spPr>
          <a:xfrm>
            <a:off x="1059373" y="1690687"/>
            <a:ext cx="9303828" cy="5166361"/>
          </a:xfrm>
          <a:prstGeom prst="rect">
            <a:avLst/>
          </a:prstGeom>
        </p:spPr>
      </p:pic>
      <p:sp>
        <p:nvSpPr>
          <p:cNvPr id="6" name="Rectangle 5">
            <a:extLst>
              <a:ext uri="{FF2B5EF4-FFF2-40B4-BE49-F238E27FC236}">
                <a16:creationId xmlns:a16="http://schemas.microsoft.com/office/drawing/2014/main" id="{09810B3C-E41C-B644-85BD-7FEDD9FAC5A6}"/>
              </a:ext>
            </a:extLst>
          </p:cNvPr>
          <p:cNvSpPr/>
          <p:nvPr/>
        </p:nvSpPr>
        <p:spPr>
          <a:xfrm>
            <a:off x="1419100" y="2055813"/>
            <a:ext cx="7378535" cy="3001096"/>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086539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Preregistration </a:t>
            </a:r>
          </a:p>
        </p:txBody>
      </p:sp>
      <p:pic>
        <p:nvPicPr>
          <p:cNvPr id="7" name="Picture 6">
            <a:extLst>
              <a:ext uri="{FF2B5EF4-FFF2-40B4-BE49-F238E27FC236}">
                <a16:creationId xmlns:a16="http://schemas.microsoft.com/office/drawing/2014/main" id="{29A48AC6-A22F-9046-AD1E-F40F177C72A9}"/>
              </a:ext>
            </a:extLst>
          </p:cNvPr>
          <p:cNvPicPr>
            <a:picLocks noChangeAspect="1"/>
          </p:cNvPicPr>
          <p:nvPr/>
        </p:nvPicPr>
        <p:blipFill>
          <a:blip r:embed="rId2"/>
          <a:stretch>
            <a:fillRect/>
          </a:stretch>
        </p:blipFill>
        <p:spPr>
          <a:xfrm>
            <a:off x="1059373" y="1690687"/>
            <a:ext cx="9303828" cy="5166361"/>
          </a:xfrm>
          <a:prstGeom prst="rect">
            <a:avLst/>
          </a:prstGeom>
        </p:spPr>
      </p:pic>
      <p:sp>
        <p:nvSpPr>
          <p:cNvPr id="3" name="Rectangle 2">
            <a:extLst>
              <a:ext uri="{FF2B5EF4-FFF2-40B4-BE49-F238E27FC236}">
                <a16:creationId xmlns:a16="http://schemas.microsoft.com/office/drawing/2014/main" id="{1301EE19-7C5D-4844-8656-C0DC128A5049}"/>
              </a:ext>
            </a:extLst>
          </p:cNvPr>
          <p:cNvSpPr/>
          <p:nvPr/>
        </p:nvSpPr>
        <p:spPr>
          <a:xfrm>
            <a:off x="1626919" y="5058888"/>
            <a:ext cx="4892634" cy="90252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5696441"/>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Free-text comments </a:t>
            </a:r>
          </a:p>
        </p:txBody>
      </p:sp>
      <p:sp>
        <p:nvSpPr>
          <p:cNvPr id="8" name="Content Placeholder 2">
            <a:extLst>
              <a:ext uri="{FF2B5EF4-FFF2-40B4-BE49-F238E27FC236}">
                <a16:creationId xmlns:a16="http://schemas.microsoft.com/office/drawing/2014/main" id="{3411AFC3-7980-4446-B3BA-92C5F909246A}"/>
              </a:ext>
            </a:extLst>
          </p:cNvPr>
          <p:cNvSpPr>
            <a:spLocks noGrp="1"/>
          </p:cNvSpPr>
          <p:nvPr>
            <p:ph idx="1"/>
          </p:nvPr>
        </p:nvSpPr>
        <p:spPr>
          <a:xfrm>
            <a:off x="419100" y="2090832"/>
            <a:ext cx="10515600" cy="4626134"/>
          </a:xfrm>
        </p:spPr>
        <p:txBody>
          <a:bodyPr anchor="ctr">
            <a:normAutofit fontScale="77500" lnSpcReduction="20000"/>
          </a:bodyPr>
          <a:lstStyle/>
          <a:p>
            <a:pPr marL="0" indent="0">
              <a:buNone/>
            </a:pPr>
            <a:r>
              <a:rPr lang="en-US" dirty="0"/>
              <a:t>78 free-text responses (20 positive, 22 negative, 36 mixed)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4100" dirty="0"/>
              <a:t>Influence of preregistration on the career</a:t>
            </a:r>
          </a:p>
          <a:p>
            <a:pPr marL="0" indent="0">
              <a:buNone/>
            </a:pPr>
            <a:endParaRPr lang="en-US" dirty="0"/>
          </a:p>
          <a:p>
            <a:pPr>
              <a:buFont typeface="Courier New" panose="02070309020205020404" pitchFamily="49" charset="0"/>
              <a:buChar char="o"/>
            </a:pPr>
            <a:r>
              <a:rPr lang="en-US" dirty="0"/>
              <a:t> Some find it easier to publish preregistered articles (expected by journals)</a:t>
            </a:r>
          </a:p>
          <a:p>
            <a:pPr>
              <a:buFont typeface="Courier New" panose="02070309020205020404" pitchFamily="49" charset="0"/>
              <a:buChar char="o"/>
            </a:pPr>
            <a:r>
              <a:rPr lang="en-US" dirty="0"/>
              <a:t>Critique and rejection when authors did not adhere to their preregistration, or if the narrative is not polished enough</a:t>
            </a:r>
          </a:p>
          <a:p>
            <a:pPr>
              <a:buFont typeface="Courier New" panose="02070309020205020404" pitchFamily="49" charset="0"/>
              <a:buChar char="o"/>
            </a:pPr>
            <a:endParaRPr lang="en-US" dirty="0"/>
          </a:p>
          <a:p>
            <a:pPr marL="0" indent="0">
              <a:buNone/>
            </a:pPr>
            <a:endParaRPr lang="en-US" dirty="0"/>
          </a:p>
        </p:txBody>
      </p:sp>
      <p:pic>
        <p:nvPicPr>
          <p:cNvPr id="13314" name="Picture 2" descr="Career Month | Career Services | University of Manitoba">
            <a:extLst>
              <a:ext uri="{FF2B5EF4-FFF2-40B4-BE49-F238E27FC236}">
                <a16:creationId xmlns:a16="http://schemas.microsoft.com/office/drawing/2014/main" id="{AC399C0C-EBD8-5A43-8C23-3C74906A9D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988"/>
          <a:stretch/>
        </p:blipFill>
        <p:spPr bwMode="auto">
          <a:xfrm>
            <a:off x="8378537" y="2055813"/>
            <a:ext cx="3394363" cy="2306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365381"/>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Free-text comments </a:t>
            </a:r>
          </a:p>
        </p:txBody>
      </p:sp>
      <p:sp>
        <p:nvSpPr>
          <p:cNvPr id="8" name="Content Placeholder 2">
            <a:extLst>
              <a:ext uri="{FF2B5EF4-FFF2-40B4-BE49-F238E27FC236}">
                <a16:creationId xmlns:a16="http://schemas.microsoft.com/office/drawing/2014/main" id="{3411AFC3-7980-4446-B3BA-92C5F909246A}"/>
              </a:ext>
            </a:extLst>
          </p:cNvPr>
          <p:cNvSpPr>
            <a:spLocks noGrp="1"/>
          </p:cNvSpPr>
          <p:nvPr>
            <p:ph idx="1"/>
          </p:nvPr>
        </p:nvSpPr>
        <p:spPr>
          <a:xfrm>
            <a:off x="838200" y="1952796"/>
            <a:ext cx="10515600" cy="4626134"/>
          </a:xfrm>
        </p:spPr>
        <p:txBody>
          <a:bodyPr anchor="ctr">
            <a:normAutofit fontScale="77500" lnSpcReduction="20000"/>
          </a:bodyPr>
          <a:lstStyle/>
          <a:p>
            <a:pPr marL="0" indent="0">
              <a:buNone/>
            </a:pPr>
            <a:r>
              <a:rPr lang="en-US" dirty="0"/>
              <a:t>78 free-text responses (20 positive, 22 negative, 36 mixed)</a:t>
            </a:r>
          </a:p>
          <a:p>
            <a:pPr marL="0" indent="0">
              <a:buNone/>
            </a:pPr>
            <a:endParaRPr lang="en-US" dirty="0"/>
          </a:p>
          <a:p>
            <a:pPr>
              <a:buFont typeface="Courier New" panose="02070309020205020404" pitchFamily="49" charset="0"/>
              <a:buChar char="o"/>
            </a:pPr>
            <a:endParaRPr lang="en-US" dirty="0"/>
          </a:p>
          <a:p>
            <a:pPr>
              <a:buFont typeface="Courier New" panose="02070309020205020404" pitchFamily="49" charset="0"/>
              <a:buChar char="o"/>
            </a:pPr>
            <a:endParaRPr lang="en-US" dirty="0"/>
          </a:p>
          <a:p>
            <a:pPr>
              <a:buFont typeface="Courier New" panose="02070309020205020404" pitchFamily="49" charset="0"/>
              <a:buChar char="o"/>
            </a:pPr>
            <a:endParaRPr lang="en-US" dirty="0"/>
          </a:p>
          <a:p>
            <a:pPr marL="0" indent="0">
              <a:buNone/>
            </a:pPr>
            <a:r>
              <a:rPr lang="en-US" sz="4100" dirty="0"/>
              <a:t>Inequality and stigmatization</a:t>
            </a:r>
          </a:p>
          <a:p>
            <a:pPr marL="0" indent="0">
              <a:buNone/>
            </a:pPr>
            <a:endParaRPr lang="en-US" sz="4100" dirty="0"/>
          </a:p>
          <a:p>
            <a:pPr>
              <a:buFont typeface="Courier New" panose="02070309020205020404" pitchFamily="49" charset="0"/>
              <a:buChar char="o"/>
            </a:pPr>
            <a:r>
              <a:rPr lang="en-US" dirty="0"/>
              <a:t>Disadvantages for descriptive and exploratory study designs</a:t>
            </a:r>
          </a:p>
          <a:p>
            <a:pPr>
              <a:buFont typeface="Courier New" panose="02070309020205020404" pitchFamily="49" charset="0"/>
              <a:buChar char="o"/>
            </a:pPr>
            <a:r>
              <a:rPr lang="en-US" dirty="0"/>
              <a:t>Studies that are not preregistered are perceived as having lower quality</a:t>
            </a:r>
          </a:p>
          <a:p>
            <a:pPr>
              <a:buFont typeface="Courier New" panose="02070309020205020404" pitchFamily="49" charset="0"/>
              <a:buChar char="o"/>
            </a:pPr>
            <a:r>
              <a:rPr lang="en-US" dirty="0"/>
              <a:t>Scientific community should emphasize positive reinforcement rather than harsh judgement</a:t>
            </a:r>
          </a:p>
          <a:p>
            <a:pPr marL="0" indent="0">
              <a:buNone/>
            </a:pPr>
            <a:endParaRPr lang="en-US" dirty="0"/>
          </a:p>
        </p:txBody>
      </p:sp>
      <p:pic>
        <p:nvPicPr>
          <p:cNvPr id="14338" name="Picture 2" descr="A world with inequality everywhere is a moral and economic threat">
            <a:extLst>
              <a:ext uri="{FF2B5EF4-FFF2-40B4-BE49-F238E27FC236}">
                <a16:creationId xmlns:a16="http://schemas.microsoft.com/office/drawing/2014/main" id="{392D0134-4514-D34F-8934-689A3B867D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3458" y="1952796"/>
            <a:ext cx="3375305" cy="2493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16924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Conclusion</a:t>
            </a:r>
          </a:p>
        </p:txBody>
      </p:sp>
      <p:sp>
        <p:nvSpPr>
          <p:cNvPr id="8" name="Content Placeholder 2">
            <a:extLst>
              <a:ext uri="{FF2B5EF4-FFF2-40B4-BE49-F238E27FC236}">
                <a16:creationId xmlns:a16="http://schemas.microsoft.com/office/drawing/2014/main" id="{3411AFC3-7980-4446-B3BA-92C5F909246A}"/>
              </a:ext>
            </a:extLst>
          </p:cNvPr>
          <p:cNvSpPr>
            <a:spLocks noGrp="1"/>
          </p:cNvSpPr>
          <p:nvPr>
            <p:ph idx="1"/>
          </p:nvPr>
        </p:nvSpPr>
        <p:spPr>
          <a:xfrm>
            <a:off x="838200" y="1952796"/>
            <a:ext cx="7047016" cy="1835433"/>
          </a:xfrm>
        </p:spPr>
        <p:txBody>
          <a:bodyPr anchor="ctr">
            <a:normAutofit/>
          </a:bodyPr>
          <a:lstStyle/>
          <a:p>
            <a:pPr>
              <a:buFont typeface="Courier New" panose="02070309020205020404" pitchFamily="49" charset="0"/>
              <a:buChar char="o"/>
            </a:pPr>
            <a:r>
              <a:rPr lang="en-US" dirty="0"/>
              <a:t> Overall preregistration is perceived positive</a:t>
            </a:r>
          </a:p>
          <a:p>
            <a:pPr>
              <a:buFont typeface="Courier New" panose="02070309020205020404" pitchFamily="49" charset="0"/>
              <a:buChar char="o"/>
            </a:pPr>
            <a:r>
              <a:rPr lang="en-US" dirty="0"/>
              <a:t> More effort</a:t>
            </a:r>
          </a:p>
          <a:p>
            <a:pPr>
              <a:buFont typeface="Courier New" panose="02070309020205020404" pitchFamily="49" charset="0"/>
              <a:buChar char="o"/>
            </a:pPr>
            <a:r>
              <a:rPr lang="en-US" dirty="0"/>
              <a:t> Increases total project duration</a:t>
            </a:r>
          </a:p>
          <a:p>
            <a:pPr marL="0" indent="0">
              <a:buNone/>
            </a:pPr>
            <a:endParaRPr lang="en-US" dirty="0"/>
          </a:p>
        </p:txBody>
      </p:sp>
      <p:sp>
        <p:nvSpPr>
          <p:cNvPr id="6" name="Content Placeholder 2">
            <a:extLst>
              <a:ext uri="{FF2B5EF4-FFF2-40B4-BE49-F238E27FC236}">
                <a16:creationId xmlns:a16="http://schemas.microsoft.com/office/drawing/2014/main" id="{FE18A48E-B011-8549-B182-7E41806D57A9}"/>
              </a:ext>
            </a:extLst>
          </p:cNvPr>
          <p:cNvSpPr txBox="1">
            <a:spLocks/>
          </p:cNvSpPr>
          <p:nvPr/>
        </p:nvSpPr>
        <p:spPr>
          <a:xfrm>
            <a:off x="1183078" y="3788229"/>
            <a:ext cx="9362209" cy="2588821"/>
          </a:xfrm>
          <a:prstGeom prst="rect">
            <a:avLst/>
          </a:prstGeom>
        </p:spPr>
        <p:txBody>
          <a:bodyPr vert="horz" lIns="91440" tIns="45720" rIns="91440" bIns="45720" rtlCol="0" anchor="ct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Acknowledged by </a:t>
            </a:r>
            <a:r>
              <a:rPr lang="en-US" b="1" dirty="0" err="1"/>
              <a:t>Nosek</a:t>
            </a:r>
            <a:r>
              <a:rPr lang="en-US" b="1" dirty="0"/>
              <a:t> and Lindsay (2018):</a:t>
            </a:r>
            <a:endParaRPr lang="en-US" i="1" dirty="0"/>
          </a:p>
          <a:p>
            <a:pPr marL="0" indent="0" algn="ctr">
              <a:buNone/>
            </a:pPr>
            <a:r>
              <a:rPr lang="en-US" i="1" dirty="0"/>
              <a:t>``[p]reregistration requires research planning and it is hard, especially contingency planning. It takes practice to make design and analysis decisions in the abstract, and it takes experience to learn what contingencies are most important to anticipate. This might lead researchers to shy away from preregistration for worries about imperfection'' (p. 817)</a:t>
            </a:r>
          </a:p>
        </p:txBody>
      </p:sp>
    </p:spTree>
    <p:extLst>
      <p:ext uri="{BB962C8B-B14F-4D97-AF65-F5344CB8AC3E}">
        <p14:creationId xmlns:p14="http://schemas.microsoft.com/office/powerpoint/2010/main" val="2623085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Discussion</a:t>
            </a:r>
          </a:p>
        </p:txBody>
      </p:sp>
      <p:sp>
        <p:nvSpPr>
          <p:cNvPr id="8" name="Content Placeholder 2">
            <a:extLst>
              <a:ext uri="{FF2B5EF4-FFF2-40B4-BE49-F238E27FC236}">
                <a16:creationId xmlns:a16="http://schemas.microsoft.com/office/drawing/2014/main" id="{3411AFC3-7980-4446-B3BA-92C5F909246A}"/>
              </a:ext>
            </a:extLst>
          </p:cNvPr>
          <p:cNvSpPr>
            <a:spLocks noGrp="1"/>
          </p:cNvSpPr>
          <p:nvPr>
            <p:ph idx="1"/>
          </p:nvPr>
        </p:nvSpPr>
        <p:spPr>
          <a:xfrm>
            <a:off x="838200" y="2175164"/>
            <a:ext cx="8569036" cy="3976253"/>
          </a:xfrm>
        </p:spPr>
        <p:txBody>
          <a:bodyPr anchor="ctr">
            <a:normAutofit/>
          </a:bodyPr>
          <a:lstStyle/>
          <a:p>
            <a:pPr>
              <a:buFont typeface="Courier New" panose="02070309020205020404" pitchFamily="49" charset="0"/>
              <a:buChar char="o"/>
            </a:pPr>
            <a:r>
              <a:rPr lang="en-US" dirty="0"/>
              <a:t> Experience with Preregistration</a:t>
            </a:r>
          </a:p>
          <a:p>
            <a:pPr>
              <a:buFont typeface="Courier New" panose="02070309020205020404" pitchFamily="49" charset="0"/>
              <a:buChar char="o"/>
            </a:pPr>
            <a:endParaRPr lang="en-US" dirty="0"/>
          </a:p>
          <a:p>
            <a:pPr>
              <a:buFont typeface="Courier New" panose="02070309020205020404" pitchFamily="49" charset="0"/>
              <a:buChar char="o"/>
            </a:pPr>
            <a:r>
              <a:rPr lang="en-US" dirty="0"/>
              <a:t>Project Workflow</a:t>
            </a:r>
          </a:p>
          <a:p>
            <a:pPr>
              <a:buFont typeface="Courier New" panose="02070309020205020404" pitchFamily="49" charset="0"/>
              <a:buChar char="o"/>
            </a:pPr>
            <a:r>
              <a:rPr lang="en-US" dirty="0"/>
              <a:t>Adherence to preregistration protocol</a:t>
            </a:r>
          </a:p>
          <a:p>
            <a:pPr>
              <a:buFont typeface="Courier New" panose="02070309020205020404" pitchFamily="49" charset="0"/>
              <a:buChar char="o"/>
            </a:pPr>
            <a:r>
              <a:rPr lang="en-US" dirty="0"/>
              <a:t>Other challenges?</a:t>
            </a:r>
          </a:p>
          <a:p>
            <a:pPr>
              <a:buFont typeface="Courier New" panose="02070309020205020404" pitchFamily="49" charset="0"/>
              <a:buChar char="o"/>
            </a:pPr>
            <a:endParaRPr lang="en-US" dirty="0"/>
          </a:p>
          <a:p>
            <a:pPr>
              <a:buFont typeface="Courier New" panose="02070309020205020404" pitchFamily="49" charset="0"/>
              <a:buChar char="o"/>
            </a:pPr>
            <a:endParaRPr lang="en-US" dirty="0"/>
          </a:p>
          <a:p>
            <a:pPr marL="0" indent="0">
              <a:buNone/>
            </a:pPr>
            <a:endParaRPr lang="en-US" dirty="0"/>
          </a:p>
        </p:txBody>
      </p:sp>
    </p:spTree>
    <p:extLst>
      <p:ext uri="{BB962C8B-B14F-4D97-AF65-F5344CB8AC3E}">
        <p14:creationId xmlns:p14="http://schemas.microsoft.com/office/powerpoint/2010/main" val="2897127061"/>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7A21B5-F599-4E4D-A51F-AB1AAD8FA3E6}"/>
              </a:ext>
            </a:extLst>
          </p:cNvPr>
          <p:cNvSpPr>
            <a:spLocks noGrp="1"/>
          </p:cNvSpPr>
          <p:nvPr>
            <p:ph type="ctrTitle"/>
          </p:nvPr>
        </p:nvSpPr>
        <p:spPr>
          <a:xfrm>
            <a:off x="6441825" y="2088758"/>
            <a:ext cx="5888182" cy="2966935"/>
          </a:xfrm>
        </p:spPr>
        <p:txBody>
          <a:bodyPr anchor="b">
            <a:noAutofit/>
          </a:bodyPr>
          <a:lstStyle/>
          <a:p>
            <a:pPr algn="l"/>
            <a:r>
              <a:rPr lang="en-US" b="1" dirty="0">
                <a:solidFill>
                  <a:schemeClr val="bg1"/>
                </a:solidFill>
              </a:rPr>
              <a:t>Blinded Analysis</a:t>
            </a:r>
          </a:p>
        </p:txBody>
      </p:sp>
      <p:sp>
        <p:nvSpPr>
          <p:cNvPr id="24" name="Freeform: Shape 23">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5">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Inhaltsplatzhalter 3" descr="Vrouwe Justitia_Gilles_01.jpg">
            <a:extLst>
              <a:ext uri="{FF2B5EF4-FFF2-40B4-BE49-F238E27FC236}">
                <a16:creationId xmlns:a16="http://schemas.microsoft.com/office/drawing/2014/main" id="{4F67A47C-42CE-A147-BA37-E2532CE5936D}"/>
              </a:ext>
            </a:extLst>
          </p:cNvPr>
          <p:cNvPicPr>
            <a:picLocks/>
          </p:cNvPicPr>
          <p:nvPr/>
        </p:nvPicPr>
        <p:blipFill rotWithShape="1">
          <a:blip r:embed="rId2" cstate="print">
            <a:duotone>
              <a:schemeClr val="accent4">
                <a:shade val="45000"/>
                <a:satMod val="135000"/>
              </a:schemeClr>
              <a:prstClr val="white"/>
            </a:duotone>
            <a:alphaModFix/>
            <a:extLst>
              <a:ext uri="{BEBA8EAE-BF5A-486C-A8C5-ECC9F3942E4B}">
                <a14:imgProps xmlns:a14="http://schemas.microsoft.com/office/drawing/2010/main">
                  <a14:imgLayer r:embed="rId3">
                    <a14:imgEffect>
                      <a14:colorTemperature colorTemp="7200"/>
                    </a14:imgEffect>
                  </a14:imgLayer>
                </a14:imgProps>
              </a:ext>
            </a:extLst>
          </a:blip>
          <a:srcRect l="25407" t="14009" r="16548" b="20078"/>
          <a:stretch/>
        </p:blipFill>
        <p:spPr>
          <a:xfrm rot="10800000" flipH="1" flipV="1">
            <a:off x="26696" y="97005"/>
            <a:ext cx="4205545" cy="6755057"/>
          </a:xfrm>
          <a:prstGeom prst="foldedCorner">
            <a:avLst>
              <a:gd name="adj" fmla="val 39257"/>
            </a:avLst>
          </a:prstGeom>
          <a:effectLst>
            <a:softEdge rad="0"/>
          </a:effectLst>
        </p:spPr>
      </p:pic>
      <p:sp>
        <p:nvSpPr>
          <p:cNvPr id="8" name="Right Triangle 7">
            <a:extLst>
              <a:ext uri="{FF2B5EF4-FFF2-40B4-BE49-F238E27FC236}">
                <a16:creationId xmlns:a16="http://schemas.microsoft.com/office/drawing/2014/main" id="{968D7616-7E80-7B44-BE9E-7E9927436E3C}"/>
              </a:ext>
            </a:extLst>
          </p:cNvPr>
          <p:cNvSpPr/>
          <p:nvPr/>
        </p:nvSpPr>
        <p:spPr>
          <a:xfrm rot="6172081">
            <a:off x="2411753" y="5286005"/>
            <a:ext cx="2119704" cy="1352202"/>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705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Preregistration</a:t>
            </a:r>
          </a:p>
        </p:txBody>
      </p:sp>
      <p:pic>
        <p:nvPicPr>
          <p:cNvPr id="8" name="Picture 6" descr="OSF | Badges to Acknowledge Open Practices Wiki">
            <a:extLst>
              <a:ext uri="{FF2B5EF4-FFF2-40B4-BE49-F238E27FC236}">
                <a16:creationId xmlns:a16="http://schemas.microsoft.com/office/drawing/2014/main" id="{FFCC2124-6D28-DF42-B0CB-735A1D4B70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994" t="21247"/>
          <a:stretch/>
        </p:blipFill>
        <p:spPr bwMode="auto">
          <a:xfrm>
            <a:off x="3462572" y="3055206"/>
            <a:ext cx="1468639" cy="1452036"/>
          </a:xfrm>
          <a:prstGeom prst="rect">
            <a:avLst/>
          </a:prstGeom>
          <a:noFill/>
          <a:extLst>
            <a:ext uri="{909E8E84-426E-40DD-AFC4-6F175D3DCCD1}">
              <a14:hiddenFill xmlns:a14="http://schemas.microsoft.com/office/drawing/2010/main">
                <a:solidFill>
                  <a:srgbClr val="FFFFFF"/>
                </a:solidFill>
              </a14:hiddenFill>
            </a:ext>
          </a:extLst>
        </p:spPr>
      </p:pic>
      <p:pic>
        <p:nvPicPr>
          <p:cNvPr id="11" name="Grafik 3">
            <a:extLst>
              <a:ext uri="{FF2B5EF4-FFF2-40B4-BE49-F238E27FC236}">
                <a16:creationId xmlns:a16="http://schemas.microsoft.com/office/drawing/2014/main" id="{FCD370B1-3507-9349-AF23-6C79E78E75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0989" y="3042153"/>
            <a:ext cx="2581396" cy="1452036"/>
          </a:xfrm>
          <a:prstGeom prst="rect">
            <a:avLst/>
          </a:prstGeom>
        </p:spPr>
      </p:pic>
      <p:pic>
        <p:nvPicPr>
          <p:cNvPr id="2050" name="Picture 2" descr="How Language Affects Decision-Making">
            <a:extLst>
              <a:ext uri="{FF2B5EF4-FFF2-40B4-BE49-F238E27FC236}">
                <a16:creationId xmlns:a16="http://schemas.microsoft.com/office/drawing/2014/main" id="{05FCC37B-651F-4D45-BDE5-51BDE52B80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293" y="3043175"/>
            <a:ext cx="2195083" cy="146406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searcher designs, themes, templates and downloadable graphic elements on  Dribbble">
            <a:extLst>
              <a:ext uri="{FF2B5EF4-FFF2-40B4-BE49-F238E27FC236}">
                <a16:creationId xmlns:a16="http://schemas.microsoft.com/office/drawing/2014/main" id="{BCD8C962-4887-8946-99F2-9DA2B467DB3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636" t="33818" r="18311" b="16722"/>
          <a:stretch/>
        </p:blipFill>
        <p:spPr bwMode="auto">
          <a:xfrm>
            <a:off x="5415968" y="3042153"/>
            <a:ext cx="2371825" cy="146508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0B47DCA1-A9DA-6B44-BA65-77CE2A61204D}"/>
              </a:ext>
            </a:extLst>
          </p:cNvPr>
          <p:cNvCxnSpPr>
            <a:stCxn id="2050" idx="3"/>
            <a:endCxn id="8" idx="1"/>
          </p:cNvCxnSpPr>
          <p:nvPr/>
        </p:nvCxnSpPr>
        <p:spPr>
          <a:xfrm>
            <a:off x="2929376" y="3775209"/>
            <a:ext cx="533196" cy="6015"/>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C486DD9-E4D4-074C-B1AB-39798322BCF2}"/>
              </a:ext>
            </a:extLst>
          </p:cNvPr>
          <p:cNvCxnSpPr>
            <a:cxnSpLocks/>
            <a:stCxn id="2052" idx="3"/>
            <a:endCxn id="11" idx="1"/>
          </p:cNvCxnSpPr>
          <p:nvPr/>
        </p:nvCxnSpPr>
        <p:spPr>
          <a:xfrm flipV="1">
            <a:off x="7787793" y="3768171"/>
            <a:ext cx="533196" cy="6527"/>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6000F95-10AD-A94D-8316-E23D45972342}"/>
              </a:ext>
            </a:extLst>
          </p:cNvPr>
          <p:cNvCxnSpPr>
            <a:cxnSpLocks/>
            <a:stCxn id="2052" idx="1"/>
            <a:endCxn id="8" idx="3"/>
          </p:cNvCxnSpPr>
          <p:nvPr/>
        </p:nvCxnSpPr>
        <p:spPr>
          <a:xfrm flipH="1">
            <a:off x="4931211" y="3774698"/>
            <a:ext cx="484757" cy="6526"/>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987660"/>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Blinded Analysis</a:t>
            </a:r>
          </a:p>
        </p:txBody>
      </p:sp>
      <p:pic>
        <p:nvPicPr>
          <p:cNvPr id="11" name="Grafik 3">
            <a:extLst>
              <a:ext uri="{FF2B5EF4-FFF2-40B4-BE49-F238E27FC236}">
                <a16:creationId xmlns:a16="http://schemas.microsoft.com/office/drawing/2014/main" id="{FCD370B1-3507-9349-AF23-6C79E78E75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0011" y="2165448"/>
            <a:ext cx="3308841" cy="1861224"/>
          </a:xfrm>
          <a:prstGeom prst="rect">
            <a:avLst/>
          </a:prstGeom>
        </p:spPr>
      </p:pic>
      <p:pic>
        <p:nvPicPr>
          <p:cNvPr id="2050" name="Picture 2" descr="How Language Affects Decision-Making">
            <a:extLst>
              <a:ext uri="{FF2B5EF4-FFF2-40B4-BE49-F238E27FC236}">
                <a16:creationId xmlns:a16="http://schemas.microsoft.com/office/drawing/2014/main" id="{05FCC37B-651F-4D45-BDE5-51BDE52B80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535" y="2833832"/>
            <a:ext cx="1792187" cy="119534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searcher designs, themes, templates and downloadable graphic elements on  Dribbble">
            <a:extLst>
              <a:ext uri="{FF2B5EF4-FFF2-40B4-BE49-F238E27FC236}">
                <a16:creationId xmlns:a16="http://schemas.microsoft.com/office/drawing/2014/main" id="{BCD8C962-4887-8946-99F2-9DA2B467DB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636" t="33818" r="18311" b="16722"/>
          <a:stretch/>
        </p:blipFill>
        <p:spPr bwMode="auto">
          <a:xfrm>
            <a:off x="246031" y="2831327"/>
            <a:ext cx="1935138" cy="119534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9F99BC14-EF77-6F49-8ED0-4E4E4D54B472}"/>
              </a:ext>
            </a:extLst>
          </p:cNvPr>
          <p:cNvCxnSpPr>
            <a:cxnSpLocks/>
            <a:stCxn id="2052" idx="2"/>
            <a:endCxn id="10" idx="1"/>
          </p:cNvCxnSpPr>
          <p:nvPr/>
        </p:nvCxnSpPr>
        <p:spPr>
          <a:xfrm>
            <a:off x="1213600" y="4026672"/>
            <a:ext cx="460787" cy="1413936"/>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10" name="Grafik 23">
            <a:extLst>
              <a:ext uri="{FF2B5EF4-FFF2-40B4-BE49-F238E27FC236}">
                <a16:creationId xmlns:a16="http://schemas.microsoft.com/office/drawing/2014/main" id="{48BCA4EC-6FE3-9444-B8BD-5F1D7C5920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74387" y="4842935"/>
            <a:ext cx="1714080" cy="1195345"/>
          </a:xfrm>
          <a:prstGeom prst="rect">
            <a:avLst/>
          </a:prstGeom>
        </p:spPr>
      </p:pic>
      <p:cxnSp>
        <p:nvCxnSpPr>
          <p:cNvPr id="23" name="Straight Connector 22">
            <a:extLst>
              <a:ext uri="{FF2B5EF4-FFF2-40B4-BE49-F238E27FC236}">
                <a16:creationId xmlns:a16="http://schemas.microsoft.com/office/drawing/2014/main" id="{5A0C4011-6AE7-BD4C-8134-B8258D4D84E9}"/>
              </a:ext>
            </a:extLst>
          </p:cNvPr>
          <p:cNvCxnSpPr>
            <a:cxnSpLocks/>
            <a:stCxn id="2050" idx="2"/>
            <a:endCxn id="10" idx="3"/>
          </p:cNvCxnSpPr>
          <p:nvPr/>
        </p:nvCxnSpPr>
        <p:spPr>
          <a:xfrm flipH="1">
            <a:off x="3388467" y="4029177"/>
            <a:ext cx="448162" cy="1411431"/>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432A5DE-D5C6-F94B-A11A-8AF336778B59}"/>
              </a:ext>
            </a:extLst>
          </p:cNvPr>
          <p:cNvCxnSpPr>
            <a:cxnSpLocks/>
            <a:stCxn id="6146" idx="1"/>
            <a:endCxn id="2050" idx="3"/>
          </p:cNvCxnSpPr>
          <p:nvPr/>
        </p:nvCxnSpPr>
        <p:spPr>
          <a:xfrm flipH="1">
            <a:off x="4732722" y="3428999"/>
            <a:ext cx="591394" cy="2506"/>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6146" name="Picture 2" descr="Discovering the code review | Promyze">
            <a:extLst>
              <a:ext uri="{FF2B5EF4-FFF2-40B4-BE49-F238E27FC236}">
                <a16:creationId xmlns:a16="http://schemas.microsoft.com/office/drawing/2014/main" id="{F85C3E92-9B49-DA40-8DDC-607245642E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24116" y="2963693"/>
            <a:ext cx="2302545" cy="930612"/>
          </a:xfrm>
          <a:prstGeom prst="rect">
            <a:avLst/>
          </a:prstGeom>
          <a:noFill/>
          <a:extLst>
            <a:ext uri="{909E8E84-426E-40DD-AFC4-6F175D3DCCD1}">
              <a14:hiddenFill xmlns:a14="http://schemas.microsoft.com/office/drawing/2010/main">
                <a:solidFill>
                  <a:srgbClr val="FFFFFF"/>
                </a:solidFill>
              </a14:hiddenFill>
            </a:ext>
          </a:extLst>
        </p:spPr>
      </p:pic>
      <p:cxnSp>
        <p:nvCxnSpPr>
          <p:cNvPr id="57" name="Straight Connector 56">
            <a:extLst>
              <a:ext uri="{FF2B5EF4-FFF2-40B4-BE49-F238E27FC236}">
                <a16:creationId xmlns:a16="http://schemas.microsoft.com/office/drawing/2014/main" id="{DA70D5BF-8BA3-B94A-9CE0-510780E8ADC8}"/>
              </a:ext>
            </a:extLst>
          </p:cNvPr>
          <p:cNvCxnSpPr>
            <a:cxnSpLocks/>
            <a:stCxn id="6146" idx="2"/>
            <a:endCxn id="60" idx="3"/>
          </p:cNvCxnSpPr>
          <p:nvPr/>
        </p:nvCxnSpPr>
        <p:spPr>
          <a:xfrm>
            <a:off x="6475389" y="3894305"/>
            <a:ext cx="1020813" cy="1481372"/>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60" name="Grafik 13">
            <a:extLst>
              <a:ext uri="{FF2B5EF4-FFF2-40B4-BE49-F238E27FC236}">
                <a16:creationId xmlns:a16="http://schemas.microsoft.com/office/drawing/2014/main" id="{6D2F88F2-40A9-B94C-AC6D-BAD60708355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7496202" y="4776518"/>
            <a:ext cx="1718342" cy="1198317"/>
          </a:xfrm>
          <a:prstGeom prst="rect">
            <a:avLst/>
          </a:prstGeom>
        </p:spPr>
      </p:pic>
      <p:cxnSp>
        <p:nvCxnSpPr>
          <p:cNvPr id="63" name="Straight Connector 62">
            <a:extLst>
              <a:ext uri="{FF2B5EF4-FFF2-40B4-BE49-F238E27FC236}">
                <a16:creationId xmlns:a16="http://schemas.microsoft.com/office/drawing/2014/main" id="{D7AABD61-699D-4446-B406-73CC95C57AE1}"/>
              </a:ext>
            </a:extLst>
          </p:cNvPr>
          <p:cNvCxnSpPr>
            <a:cxnSpLocks/>
            <a:stCxn id="11" idx="2"/>
            <a:endCxn id="60" idx="1"/>
          </p:cNvCxnSpPr>
          <p:nvPr/>
        </p:nvCxnSpPr>
        <p:spPr>
          <a:xfrm flipH="1">
            <a:off x="9214544" y="4026672"/>
            <a:ext cx="819888" cy="1349005"/>
          </a:xfrm>
          <a:prstGeom prst="line">
            <a:avLst/>
          </a:prstGeom>
          <a:ln w="5080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9041656"/>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How does blinding work?</a:t>
            </a:r>
          </a:p>
        </p:txBody>
      </p:sp>
      <p:sp>
        <p:nvSpPr>
          <p:cNvPr id="8" name="Textfeld 2">
            <a:extLst>
              <a:ext uri="{FF2B5EF4-FFF2-40B4-BE49-F238E27FC236}">
                <a16:creationId xmlns:a16="http://schemas.microsoft.com/office/drawing/2014/main" id="{A5DCC8CB-89C4-554A-B1D7-7C0B347A1389}"/>
              </a:ext>
            </a:extLst>
          </p:cNvPr>
          <p:cNvSpPr txBox="1"/>
          <p:nvPr/>
        </p:nvSpPr>
        <p:spPr>
          <a:xfrm>
            <a:off x="1374562" y="4809107"/>
            <a:ext cx="3727299" cy="954107"/>
          </a:xfrm>
          <a:prstGeom prst="rect">
            <a:avLst/>
          </a:prstGeom>
          <a:noFill/>
          <a:ln>
            <a:noFill/>
          </a:ln>
        </p:spPr>
        <p:txBody>
          <a:bodyPr wrap="square" rtlCol="0">
            <a:spAutoFit/>
          </a:bodyPr>
          <a:lstStyle/>
          <a:p>
            <a:pPr algn="ctr"/>
            <a:r>
              <a:rPr lang="de-DE" sz="2800" dirty="0">
                <a:latin typeface="Lucida Sans" panose="020B0602030504020204" pitchFamily="34" charset="0"/>
              </a:rPr>
              <a:t>Researcher </a:t>
            </a:r>
            <a:r>
              <a:rPr lang="de-DE" sz="2800" dirty="0" err="1">
                <a:latin typeface="Lucida Sans" panose="020B0602030504020204" pitchFamily="34" charset="0"/>
              </a:rPr>
              <a:t>collects</a:t>
            </a:r>
            <a:r>
              <a:rPr lang="de-DE" sz="2800" dirty="0">
                <a:latin typeface="Lucida Sans" panose="020B0602030504020204" pitchFamily="34" charset="0"/>
              </a:rPr>
              <a:t> </a:t>
            </a:r>
            <a:r>
              <a:rPr lang="de-DE" sz="2800" dirty="0" err="1">
                <a:latin typeface="Lucida Sans" panose="020B0602030504020204" pitchFamily="34" charset="0"/>
              </a:rPr>
              <a:t>data</a:t>
            </a:r>
            <a:endParaRPr lang="de-DE" sz="2800" dirty="0">
              <a:latin typeface="Lucida Sans" panose="020B0602030504020204" pitchFamily="34" charset="0"/>
            </a:endParaRPr>
          </a:p>
        </p:txBody>
      </p:sp>
      <p:sp>
        <p:nvSpPr>
          <p:cNvPr id="12" name="Rechteck 20">
            <a:extLst>
              <a:ext uri="{FF2B5EF4-FFF2-40B4-BE49-F238E27FC236}">
                <a16:creationId xmlns:a16="http://schemas.microsoft.com/office/drawing/2014/main" id="{47FEDBAD-8852-DA4F-9A73-57BE06BAE4FE}"/>
              </a:ext>
            </a:extLst>
          </p:cNvPr>
          <p:cNvSpPr/>
          <p:nvPr/>
        </p:nvSpPr>
        <p:spPr>
          <a:xfrm>
            <a:off x="6947739" y="3138949"/>
            <a:ext cx="677428" cy="1368152"/>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1">
                  <a:lumMod val="20000"/>
                  <a:lumOff val="80000"/>
                </a:schemeClr>
              </a:solidFill>
            </a:endParaRPr>
          </a:p>
        </p:txBody>
      </p:sp>
      <p:pic>
        <p:nvPicPr>
          <p:cNvPr id="11" name="Grafik 13">
            <a:extLst>
              <a:ext uri="{FF2B5EF4-FFF2-40B4-BE49-F238E27FC236}">
                <a16:creationId xmlns:a16="http://schemas.microsoft.com/office/drawing/2014/main" id="{E497FEF9-19C1-0E4A-935F-9E84F5DBDD22}"/>
              </a:ext>
            </a:extLst>
          </p:cNvPr>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6723148" y="2221279"/>
            <a:ext cx="2798440" cy="2798440"/>
          </a:xfrm>
          <a:prstGeom prst="rect">
            <a:avLst/>
          </a:prstGeom>
        </p:spPr>
      </p:pic>
      <p:pic>
        <p:nvPicPr>
          <p:cNvPr id="13" name="Picture 4" descr="Researcher designs, themes, templates and downloadable graphic elements on  Dribbble">
            <a:extLst>
              <a:ext uri="{FF2B5EF4-FFF2-40B4-BE49-F238E27FC236}">
                <a16:creationId xmlns:a16="http://schemas.microsoft.com/office/drawing/2014/main" id="{4BAFE847-BAA6-2542-B3E0-DDB9295E84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636" t="33818" r="18311" b="16722"/>
          <a:stretch/>
        </p:blipFill>
        <p:spPr bwMode="auto">
          <a:xfrm>
            <a:off x="1374562" y="2426023"/>
            <a:ext cx="3542587" cy="2188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feld 2">
            <a:extLst>
              <a:ext uri="{FF2B5EF4-FFF2-40B4-BE49-F238E27FC236}">
                <a16:creationId xmlns:a16="http://schemas.microsoft.com/office/drawing/2014/main" id="{25F7B11A-325B-A042-9918-D6376A2695B4}"/>
              </a:ext>
            </a:extLst>
          </p:cNvPr>
          <p:cNvSpPr txBox="1"/>
          <p:nvPr/>
        </p:nvSpPr>
        <p:spPr>
          <a:xfrm>
            <a:off x="6407781" y="4868361"/>
            <a:ext cx="4107819" cy="954107"/>
          </a:xfrm>
          <a:prstGeom prst="rect">
            <a:avLst/>
          </a:prstGeom>
          <a:noFill/>
          <a:ln>
            <a:noFill/>
          </a:ln>
        </p:spPr>
        <p:txBody>
          <a:bodyPr wrap="square" rtlCol="0">
            <a:spAutoFit/>
          </a:bodyPr>
          <a:lstStyle/>
          <a:p>
            <a:pPr algn="ctr"/>
            <a:r>
              <a:rPr lang="de-DE" sz="2800" dirty="0">
                <a:latin typeface="Lucida Sans" panose="020B0602030504020204" pitchFamily="34" charset="0"/>
              </a:rPr>
              <a:t>A </a:t>
            </a:r>
            <a:r>
              <a:rPr lang="de-DE" sz="2800" dirty="0" err="1">
                <a:latin typeface="Lucida Sans" panose="020B0602030504020204" pitchFamily="34" charset="0"/>
              </a:rPr>
              <a:t>data</a:t>
            </a:r>
            <a:r>
              <a:rPr lang="de-DE" sz="2800" dirty="0">
                <a:latin typeface="Lucida Sans" panose="020B0602030504020204" pitchFamily="34" charset="0"/>
              </a:rPr>
              <a:t> </a:t>
            </a:r>
            <a:r>
              <a:rPr lang="de-DE" sz="2800" dirty="0" err="1">
                <a:latin typeface="Lucida Sans" panose="020B0602030504020204" pitchFamily="34" charset="0"/>
              </a:rPr>
              <a:t>manager</a:t>
            </a:r>
            <a:r>
              <a:rPr lang="de-DE" sz="2800" dirty="0">
                <a:latin typeface="Lucida Sans" panose="020B0602030504020204" pitchFamily="34" charset="0"/>
              </a:rPr>
              <a:t> </a:t>
            </a:r>
            <a:r>
              <a:rPr lang="de-DE" sz="2800" i="1" dirty="0" err="1">
                <a:solidFill>
                  <a:srgbClr val="00B0F0"/>
                </a:solidFill>
                <a:latin typeface="Lucida Sans" panose="020B0602030504020204" pitchFamily="34" charset="0"/>
              </a:rPr>
              <a:t>blinds</a:t>
            </a:r>
            <a:r>
              <a:rPr lang="de-DE" sz="2800" dirty="0">
                <a:latin typeface="Lucida Sans" panose="020B0602030504020204" pitchFamily="34" charset="0"/>
              </a:rPr>
              <a:t> </a:t>
            </a:r>
            <a:r>
              <a:rPr lang="de-DE" sz="2800" i="1" dirty="0" err="1">
                <a:solidFill>
                  <a:srgbClr val="00B0F0"/>
                </a:solidFill>
                <a:latin typeface="Lucida Sans" panose="020B0602030504020204" pitchFamily="34" charset="0"/>
              </a:rPr>
              <a:t>the</a:t>
            </a:r>
            <a:r>
              <a:rPr lang="de-DE" sz="2800" i="1" dirty="0">
                <a:solidFill>
                  <a:srgbClr val="00B0F0"/>
                </a:solidFill>
                <a:latin typeface="Lucida Sans" panose="020B0602030504020204" pitchFamily="34" charset="0"/>
              </a:rPr>
              <a:t> </a:t>
            </a:r>
            <a:r>
              <a:rPr lang="de-DE" sz="2800" i="1" dirty="0" err="1">
                <a:solidFill>
                  <a:srgbClr val="00B0F0"/>
                </a:solidFill>
                <a:latin typeface="Lucida Sans" panose="020B0602030504020204" pitchFamily="34" charset="0"/>
              </a:rPr>
              <a:t>data</a:t>
            </a:r>
            <a:r>
              <a:rPr lang="de-DE" sz="2800" dirty="0">
                <a:latin typeface="Lucida Sans" panose="020B0602030504020204" pitchFamily="34" charset="0"/>
              </a:rPr>
              <a:t> </a:t>
            </a:r>
          </a:p>
        </p:txBody>
      </p:sp>
    </p:spTree>
    <p:extLst>
      <p:ext uri="{BB962C8B-B14F-4D97-AF65-F5344CB8AC3E}">
        <p14:creationId xmlns:p14="http://schemas.microsoft.com/office/powerpoint/2010/main" val="261869717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How does blinding work?</a:t>
            </a:r>
          </a:p>
        </p:txBody>
      </p:sp>
      <p:sp>
        <p:nvSpPr>
          <p:cNvPr id="13" name="Textfeld 2">
            <a:extLst>
              <a:ext uri="{FF2B5EF4-FFF2-40B4-BE49-F238E27FC236}">
                <a16:creationId xmlns:a16="http://schemas.microsoft.com/office/drawing/2014/main" id="{BB3CC5E4-2612-464D-8E99-5989158477D1}"/>
              </a:ext>
            </a:extLst>
          </p:cNvPr>
          <p:cNvSpPr txBox="1"/>
          <p:nvPr/>
        </p:nvSpPr>
        <p:spPr>
          <a:xfrm>
            <a:off x="888536" y="4908253"/>
            <a:ext cx="4813405" cy="1384995"/>
          </a:xfrm>
          <a:prstGeom prst="rect">
            <a:avLst/>
          </a:prstGeom>
          <a:noFill/>
          <a:ln>
            <a:noFill/>
          </a:ln>
        </p:spPr>
        <p:txBody>
          <a:bodyPr wrap="square" rtlCol="0">
            <a:spAutoFit/>
          </a:bodyPr>
          <a:lstStyle/>
          <a:p>
            <a:pPr algn="ctr"/>
            <a:r>
              <a:rPr lang="de-DE" sz="2800" dirty="0">
                <a:latin typeface="Lucida Sans" panose="020B0602030504020204" pitchFamily="34" charset="0"/>
              </a:rPr>
              <a:t>Data </a:t>
            </a:r>
            <a:r>
              <a:rPr lang="de-DE" sz="2800" dirty="0" err="1">
                <a:latin typeface="Lucida Sans" panose="020B0602030504020204" pitchFamily="34" charset="0"/>
              </a:rPr>
              <a:t>manager</a:t>
            </a:r>
            <a:r>
              <a:rPr lang="de-DE" sz="2800" dirty="0">
                <a:latin typeface="Lucida Sans" panose="020B0602030504020204" pitchFamily="34" charset="0"/>
              </a:rPr>
              <a:t> </a:t>
            </a:r>
            <a:r>
              <a:rPr lang="de-DE" sz="2800" dirty="0" err="1">
                <a:latin typeface="Lucida Sans" panose="020B0602030504020204" pitchFamily="34" charset="0"/>
              </a:rPr>
              <a:t>gives</a:t>
            </a:r>
            <a:r>
              <a:rPr lang="de-DE" sz="2800" dirty="0">
                <a:latin typeface="Lucida Sans" panose="020B0602030504020204" pitchFamily="34" charset="0"/>
              </a:rPr>
              <a:t> </a:t>
            </a:r>
            <a:r>
              <a:rPr lang="de-DE" sz="2800" dirty="0" err="1">
                <a:latin typeface="Lucida Sans" panose="020B0602030504020204" pitchFamily="34" charset="0"/>
              </a:rPr>
              <a:t>the</a:t>
            </a:r>
            <a:r>
              <a:rPr lang="de-DE" sz="2800" dirty="0">
                <a:latin typeface="Lucida Sans" panose="020B0602030504020204" pitchFamily="34" charset="0"/>
              </a:rPr>
              <a:t> </a:t>
            </a:r>
            <a:r>
              <a:rPr lang="de-DE" sz="2800" i="1" dirty="0" err="1">
                <a:solidFill>
                  <a:srgbClr val="00A9E6"/>
                </a:solidFill>
                <a:latin typeface="Lucida Sans" panose="020B0602030504020204" pitchFamily="34" charset="0"/>
              </a:rPr>
              <a:t>blinded</a:t>
            </a:r>
            <a:r>
              <a:rPr lang="de-DE" sz="2800" i="1" dirty="0">
                <a:solidFill>
                  <a:srgbClr val="00A9E6"/>
                </a:solidFill>
                <a:latin typeface="Lucida Sans" panose="020B0602030504020204" pitchFamily="34" charset="0"/>
              </a:rPr>
              <a:t> </a:t>
            </a:r>
            <a:r>
              <a:rPr lang="de-DE" sz="2800" i="1" dirty="0" err="1">
                <a:solidFill>
                  <a:srgbClr val="00A9E6"/>
                </a:solidFill>
                <a:latin typeface="Lucida Sans" panose="020B0602030504020204" pitchFamily="34" charset="0"/>
              </a:rPr>
              <a:t>data</a:t>
            </a:r>
            <a:r>
              <a:rPr lang="de-DE" sz="2800" i="1" dirty="0">
                <a:solidFill>
                  <a:srgbClr val="00A9E6"/>
                </a:solidFill>
                <a:latin typeface="Lucida Sans" panose="020B0602030504020204" pitchFamily="34" charset="0"/>
              </a:rPr>
              <a:t> </a:t>
            </a:r>
            <a:r>
              <a:rPr lang="de-DE" sz="2800" dirty="0" err="1">
                <a:latin typeface="Lucida Sans" panose="020B0602030504020204" pitchFamily="34" charset="0"/>
              </a:rPr>
              <a:t>to</a:t>
            </a:r>
            <a:r>
              <a:rPr lang="de-DE" sz="2800" dirty="0">
                <a:latin typeface="Lucida Sans" panose="020B0602030504020204" pitchFamily="34" charset="0"/>
              </a:rPr>
              <a:t> </a:t>
            </a:r>
            <a:r>
              <a:rPr lang="de-DE" sz="2800" dirty="0" err="1">
                <a:latin typeface="Lucida Sans" panose="020B0602030504020204" pitchFamily="34" charset="0"/>
              </a:rPr>
              <a:t>the</a:t>
            </a:r>
            <a:r>
              <a:rPr lang="de-DE" sz="2800" dirty="0">
                <a:latin typeface="Lucida Sans" panose="020B0602030504020204" pitchFamily="34" charset="0"/>
              </a:rPr>
              <a:t> </a:t>
            </a:r>
            <a:r>
              <a:rPr lang="de-DE" sz="2800" dirty="0" err="1">
                <a:latin typeface="Lucida Sans" panose="020B0602030504020204" pitchFamily="34" charset="0"/>
              </a:rPr>
              <a:t>researcher</a:t>
            </a:r>
            <a:endParaRPr lang="de-DE" sz="2800" dirty="0">
              <a:latin typeface="Lucida Sans" panose="020B0602030504020204" pitchFamily="34" charset="0"/>
            </a:endParaRPr>
          </a:p>
        </p:txBody>
      </p:sp>
      <p:sp>
        <p:nvSpPr>
          <p:cNvPr id="14" name="Textfeld 18">
            <a:extLst>
              <a:ext uri="{FF2B5EF4-FFF2-40B4-BE49-F238E27FC236}">
                <a16:creationId xmlns:a16="http://schemas.microsoft.com/office/drawing/2014/main" id="{D414530F-981B-B343-A2AB-52986B011D86}"/>
              </a:ext>
            </a:extLst>
          </p:cNvPr>
          <p:cNvSpPr txBox="1"/>
          <p:nvPr/>
        </p:nvSpPr>
        <p:spPr>
          <a:xfrm>
            <a:off x="6776522" y="5051490"/>
            <a:ext cx="3655951" cy="954107"/>
          </a:xfrm>
          <a:prstGeom prst="rect">
            <a:avLst/>
          </a:prstGeom>
          <a:noFill/>
          <a:ln>
            <a:noFill/>
          </a:ln>
        </p:spPr>
        <p:txBody>
          <a:bodyPr wrap="square" rtlCol="0">
            <a:spAutoFit/>
          </a:bodyPr>
          <a:lstStyle/>
          <a:p>
            <a:r>
              <a:rPr lang="de-DE" sz="2800" dirty="0">
                <a:latin typeface="Lucida Sans" panose="020B0602030504020204" pitchFamily="34" charset="0"/>
              </a:rPr>
              <a:t>Researcher </a:t>
            </a:r>
            <a:r>
              <a:rPr lang="de-DE" sz="2800" dirty="0" err="1">
                <a:latin typeface="Lucida Sans" panose="020B0602030504020204" pitchFamily="34" charset="0"/>
              </a:rPr>
              <a:t>decides</a:t>
            </a:r>
            <a:r>
              <a:rPr lang="de-DE" sz="2800" dirty="0">
                <a:latin typeface="Lucida Sans" panose="020B0602030504020204" pitchFamily="34" charset="0"/>
              </a:rPr>
              <a:t> on </a:t>
            </a:r>
            <a:r>
              <a:rPr lang="de-DE" sz="2800" dirty="0" err="1">
                <a:latin typeface="Lucida Sans" panose="020B0602030504020204" pitchFamily="34" charset="0"/>
              </a:rPr>
              <a:t>analysis</a:t>
            </a:r>
            <a:r>
              <a:rPr lang="de-DE" sz="2800" dirty="0">
                <a:latin typeface="Lucida Sans" panose="020B0602030504020204" pitchFamily="34" charset="0"/>
              </a:rPr>
              <a:t> plan</a:t>
            </a:r>
          </a:p>
        </p:txBody>
      </p:sp>
      <p:pic>
        <p:nvPicPr>
          <p:cNvPr id="16" name="Grafik 23">
            <a:extLst>
              <a:ext uri="{FF2B5EF4-FFF2-40B4-BE49-F238E27FC236}">
                <a16:creationId xmlns:a16="http://schemas.microsoft.com/office/drawing/2014/main" id="{E87F40EA-0855-3C46-A7C5-FB00EB000A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3260" y="2524825"/>
            <a:ext cx="3106433" cy="2166328"/>
          </a:xfrm>
          <a:prstGeom prst="rect">
            <a:avLst/>
          </a:prstGeom>
        </p:spPr>
      </p:pic>
      <p:pic>
        <p:nvPicPr>
          <p:cNvPr id="9" name="Picture 2" descr="How Language Affects Decision-Making">
            <a:extLst>
              <a:ext uri="{FF2B5EF4-FFF2-40B4-BE49-F238E27FC236}">
                <a16:creationId xmlns:a16="http://schemas.microsoft.com/office/drawing/2014/main" id="{3B042522-F5CD-F244-9F86-BB4EF93897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6522" y="2524825"/>
            <a:ext cx="3295733" cy="2198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26680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How does blinding work?</a:t>
            </a:r>
          </a:p>
        </p:txBody>
      </p:sp>
      <p:pic>
        <p:nvPicPr>
          <p:cNvPr id="13" name="Picture 2" descr="Discovering the code review | Promyze">
            <a:extLst>
              <a:ext uri="{FF2B5EF4-FFF2-40B4-BE49-F238E27FC236}">
                <a16:creationId xmlns:a16="http://schemas.microsoft.com/office/drawing/2014/main" id="{8A4EBFC6-100D-D047-960A-4B4D52F0DA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908" y="2944566"/>
            <a:ext cx="4656025" cy="18818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feld 18">
            <a:extLst>
              <a:ext uri="{FF2B5EF4-FFF2-40B4-BE49-F238E27FC236}">
                <a16:creationId xmlns:a16="http://schemas.microsoft.com/office/drawing/2014/main" id="{B4B0028D-21BC-0E4F-A467-1C0A10ABC155}"/>
              </a:ext>
            </a:extLst>
          </p:cNvPr>
          <p:cNvSpPr txBox="1"/>
          <p:nvPr/>
        </p:nvSpPr>
        <p:spPr>
          <a:xfrm>
            <a:off x="801374" y="5051881"/>
            <a:ext cx="4577278" cy="954107"/>
          </a:xfrm>
          <a:prstGeom prst="rect">
            <a:avLst/>
          </a:prstGeom>
          <a:noFill/>
          <a:ln>
            <a:noFill/>
          </a:ln>
        </p:spPr>
        <p:txBody>
          <a:bodyPr wrap="square" rtlCol="0">
            <a:spAutoFit/>
          </a:bodyPr>
          <a:lstStyle/>
          <a:p>
            <a:r>
              <a:rPr lang="de-DE" sz="2800" dirty="0">
                <a:latin typeface="Lucida Sans" panose="020B0602030504020204" pitchFamily="34" charset="0"/>
              </a:rPr>
              <a:t>Researcher </a:t>
            </a:r>
            <a:r>
              <a:rPr lang="de-DE" sz="2800" dirty="0" err="1">
                <a:latin typeface="Lucida Sans" panose="020B0602030504020204" pitchFamily="34" charset="0"/>
              </a:rPr>
              <a:t>writes</a:t>
            </a:r>
            <a:r>
              <a:rPr lang="de-DE" sz="2800" dirty="0">
                <a:latin typeface="Lucida Sans" panose="020B0602030504020204" pitchFamily="34" charset="0"/>
              </a:rPr>
              <a:t> a </a:t>
            </a:r>
            <a:r>
              <a:rPr lang="de-DE" sz="2800" dirty="0" err="1">
                <a:latin typeface="Lucida Sans" panose="020B0602030504020204" pitchFamily="34" charset="0"/>
              </a:rPr>
              <a:t>reproducible</a:t>
            </a:r>
            <a:r>
              <a:rPr lang="de-DE" sz="2800" dirty="0">
                <a:latin typeface="Lucida Sans" panose="020B0602030504020204" pitchFamily="34" charset="0"/>
              </a:rPr>
              <a:t> </a:t>
            </a:r>
            <a:r>
              <a:rPr lang="de-DE" sz="2800" dirty="0" err="1">
                <a:latin typeface="Lucida Sans" panose="020B0602030504020204" pitchFamily="34" charset="0"/>
              </a:rPr>
              <a:t>script</a:t>
            </a:r>
            <a:endParaRPr lang="de-DE" sz="2800" dirty="0">
              <a:latin typeface="Lucida Sans" panose="020B0602030504020204" pitchFamily="34" charset="0"/>
            </a:endParaRPr>
          </a:p>
        </p:txBody>
      </p:sp>
      <p:pic>
        <p:nvPicPr>
          <p:cNvPr id="15" name="Grafik 13">
            <a:extLst>
              <a:ext uri="{FF2B5EF4-FFF2-40B4-BE49-F238E27FC236}">
                <a16:creationId xmlns:a16="http://schemas.microsoft.com/office/drawing/2014/main" id="{BB94F6DA-2910-E84E-927E-2CEF201C46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7055069" y="2673978"/>
            <a:ext cx="3086458" cy="2152398"/>
          </a:xfrm>
          <a:prstGeom prst="rect">
            <a:avLst/>
          </a:prstGeom>
        </p:spPr>
      </p:pic>
      <p:sp>
        <p:nvSpPr>
          <p:cNvPr id="16" name="Textfeld 2">
            <a:extLst>
              <a:ext uri="{FF2B5EF4-FFF2-40B4-BE49-F238E27FC236}">
                <a16:creationId xmlns:a16="http://schemas.microsoft.com/office/drawing/2014/main" id="{48CF3BE0-C22E-1E49-9267-D08D639D8D2D}"/>
              </a:ext>
            </a:extLst>
          </p:cNvPr>
          <p:cNvSpPr txBox="1"/>
          <p:nvPr/>
        </p:nvSpPr>
        <p:spPr>
          <a:xfrm>
            <a:off x="6647788" y="5051881"/>
            <a:ext cx="4275075" cy="1384995"/>
          </a:xfrm>
          <a:prstGeom prst="rect">
            <a:avLst/>
          </a:prstGeom>
          <a:noFill/>
          <a:ln>
            <a:noFill/>
          </a:ln>
        </p:spPr>
        <p:txBody>
          <a:bodyPr wrap="square" rtlCol="0">
            <a:spAutoFit/>
          </a:bodyPr>
          <a:lstStyle/>
          <a:p>
            <a:pPr algn="ctr"/>
            <a:r>
              <a:rPr lang="de-DE" sz="2800" dirty="0">
                <a:latin typeface="Lucida Sans" panose="020B0602030504020204" pitchFamily="34" charset="0"/>
              </a:rPr>
              <a:t>Data </a:t>
            </a:r>
            <a:r>
              <a:rPr lang="de-DE" sz="2800" dirty="0" err="1">
                <a:latin typeface="Lucida Sans" panose="020B0602030504020204" pitchFamily="34" charset="0"/>
              </a:rPr>
              <a:t>manager</a:t>
            </a:r>
            <a:r>
              <a:rPr lang="de-DE" sz="2800" dirty="0">
                <a:latin typeface="Lucida Sans" panose="020B0602030504020204" pitchFamily="34" charset="0"/>
              </a:rPr>
              <a:t> </a:t>
            </a:r>
            <a:r>
              <a:rPr lang="de-DE" sz="2800" dirty="0" err="1">
                <a:latin typeface="Lucida Sans" panose="020B0602030504020204" pitchFamily="34" charset="0"/>
              </a:rPr>
              <a:t>gives</a:t>
            </a:r>
            <a:r>
              <a:rPr lang="de-DE" sz="2800" dirty="0">
                <a:latin typeface="Lucida Sans" panose="020B0602030504020204" pitchFamily="34" charset="0"/>
              </a:rPr>
              <a:t> </a:t>
            </a:r>
            <a:r>
              <a:rPr lang="de-DE" sz="2800" dirty="0" err="1">
                <a:latin typeface="Lucida Sans" panose="020B0602030504020204" pitchFamily="34" charset="0"/>
              </a:rPr>
              <a:t>the</a:t>
            </a:r>
            <a:r>
              <a:rPr lang="de-DE" sz="2800" i="1" dirty="0">
                <a:solidFill>
                  <a:srgbClr val="00D26E"/>
                </a:solidFill>
                <a:latin typeface="Lucida Sans" panose="020B0602030504020204" pitchFamily="34" charset="0"/>
              </a:rPr>
              <a:t> original </a:t>
            </a:r>
            <a:r>
              <a:rPr lang="de-DE" sz="2800" i="1" dirty="0" err="1">
                <a:solidFill>
                  <a:srgbClr val="00D26E"/>
                </a:solidFill>
                <a:latin typeface="Lucida Sans" panose="020B0602030504020204" pitchFamily="34" charset="0"/>
              </a:rPr>
              <a:t>data</a:t>
            </a:r>
            <a:r>
              <a:rPr lang="de-DE" sz="2800" i="1" dirty="0">
                <a:solidFill>
                  <a:srgbClr val="00D26E"/>
                </a:solidFill>
                <a:latin typeface="Lucida Sans" panose="020B0602030504020204" pitchFamily="34" charset="0"/>
              </a:rPr>
              <a:t> </a:t>
            </a:r>
            <a:r>
              <a:rPr lang="de-DE" sz="2800" dirty="0" err="1">
                <a:latin typeface="Lucida Sans" panose="020B0602030504020204" pitchFamily="34" charset="0"/>
              </a:rPr>
              <a:t>to</a:t>
            </a:r>
            <a:r>
              <a:rPr lang="de-DE" sz="2800" dirty="0">
                <a:latin typeface="Lucida Sans" panose="020B0602030504020204" pitchFamily="34" charset="0"/>
              </a:rPr>
              <a:t> </a:t>
            </a:r>
            <a:r>
              <a:rPr lang="de-DE" sz="2800" dirty="0" err="1">
                <a:latin typeface="Lucida Sans" panose="020B0602030504020204" pitchFamily="34" charset="0"/>
              </a:rPr>
              <a:t>researcher</a:t>
            </a:r>
            <a:endParaRPr lang="de-DE" sz="2800" dirty="0">
              <a:latin typeface="Lucida Sans" panose="020B0602030504020204" pitchFamily="34" charset="0"/>
            </a:endParaRPr>
          </a:p>
        </p:txBody>
      </p:sp>
    </p:spTree>
    <p:extLst>
      <p:ext uri="{BB962C8B-B14F-4D97-AF65-F5344CB8AC3E}">
        <p14:creationId xmlns:p14="http://schemas.microsoft.com/office/powerpoint/2010/main" val="312132483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How does blinding work?</a:t>
            </a:r>
          </a:p>
        </p:txBody>
      </p:sp>
      <p:sp>
        <p:nvSpPr>
          <p:cNvPr id="10" name="Textfeld 18">
            <a:extLst>
              <a:ext uri="{FF2B5EF4-FFF2-40B4-BE49-F238E27FC236}">
                <a16:creationId xmlns:a16="http://schemas.microsoft.com/office/drawing/2014/main" id="{D9A4A91B-CE83-6F4B-BB36-96C3BEE8CBD5}"/>
              </a:ext>
            </a:extLst>
          </p:cNvPr>
          <p:cNvSpPr txBox="1"/>
          <p:nvPr/>
        </p:nvSpPr>
        <p:spPr>
          <a:xfrm>
            <a:off x="531982" y="5414501"/>
            <a:ext cx="3611531" cy="523220"/>
          </a:xfrm>
          <a:prstGeom prst="rect">
            <a:avLst/>
          </a:prstGeom>
          <a:noFill/>
          <a:ln>
            <a:noFill/>
          </a:ln>
        </p:spPr>
        <p:txBody>
          <a:bodyPr wrap="square" rtlCol="0">
            <a:spAutoFit/>
          </a:bodyPr>
          <a:lstStyle/>
          <a:p>
            <a:r>
              <a:rPr lang="de-DE" sz="2800" dirty="0">
                <a:latin typeface="Lucida Sans" panose="020B0602030504020204" pitchFamily="34" charset="0"/>
              </a:rPr>
              <a:t>The blind </a:t>
            </a:r>
            <a:r>
              <a:rPr lang="de-DE" sz="2800" dirty="0" err="1">
                <a:latin typeface="Lucida Sans" panose="020B0602030504020204" pitchFamily="34" charset="0"/>
              </a:rPr>
              <a:t>is</a:t>
            </a:r>
            <a:r>
              <a:rPr lang="de-DE" sz="2800" dirty="0">
                <a:latin typeface="Lucida Sans" panose="020B0602030504020204" pitchFamily="34" charset="0"/>
              </a:rPr>
              <a:t> </a:t>
            </a:r>
            <a:r>
              <a:rPr lang="de-DE" sz="2800" dirty="0" err="1">
                <a:latin typeface="Lucida Sans" panose="020B0602030504020204" pitchFamily="34" charset="0"/>
              </a:rPr>
              <a:t>lifted</a:t>
            </a:r>
            <a:endParaRPr lang="de-DE" sz="2800" dirty="0">
              <a:latin typeface="Lucida Sans" panose="020B0602030504020204" pitchFamily="34" charset="0"/>
            </a:endParaRPr>
          </a:p>
        </p:txBody>
      </p:sp>
      <p:pic>
        <p:nvPicPr>
          <p:cNvPr id="17" name="Grafik 13">
            <a:extLst>
              <a:ext uri="{FF2B5EF4-FFF2-40B4-BE49-F238E27FC236}">
                <a16:creationId xmlns:a16="http://schemas.microsoft.com/office/drawing/2014/main" id="{5D99B6D6-A0A1-254B-993C-A240E2A8E6A5}"/>
              </a:ext>
            </a:extLst>
          </p:cNvPr>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279233" y="2854429"/>
            <a:ext cx="1723545" cy="1723545"/>
          </a:xfrm>
          <a:prstGeom prst="rect">
            <a:avLst/>
          </a:prstGeom>
        </p:spPr>
      </p:pic>
      <p:pic>
        <p:nvPicPr>
          <p:cNvPr id="12" name="Grafik 12">
            <a:extLst>
              <a:ext uri="{FF2B5EF4-FFF2-40B4-BE49-F238E27FC236}">
                <a16:creationId xmlns:a16="http://schemas.microsoft.com/office/drawing/2014/main" id="{88842F0F-4E58-C04D-A1A6-A2C877F3E542}"/>
              </a:ext>
            </a:extLst>
          </p:cNvPr>
          <p:cNvPicPr>
            <a:picLocks noChangeAspect="1"/>
          </p:cNvPicPr>
          <p:nvPr/>
        </p:nvPicPr>
        <p:blipFill rotWithShape="1">
          <a:blip r:embed="rId3">
            <a:extLst>
              <a:ext uri="{28A0092B-C50C-407E-A947-70E740481C1C}">
                <a14:useLocalDpi xmlns:a14="http://schemas.microsoft.com/office/drawing/2010/main" val="0"/>
              </a:ext>
            </a:extLst>
          </a:blip>
          <a:srcRect r="3722"/>
          <a:stretch/>
        </p:blipFill>
        <p:spPr>
          <a:xfrm>
            <a:off x="335241" y="1690688"/>
            <a:ext cx="4005015" cy="3620253"/>
          </a:xfrm>
          <a:prstGeom prst="rect">
            <a:avLst/>
          </a:prstGeom>
        </p:spPr>
      </p:pic>
      <p:pic>
        <p:nvPicPr>
          <p:cNvPr id="11" name="Grafik 3">
            <a:extLst>
              <a:ext uri="{FF2B5EF4-FFF2-40B4-BE49-F238E27FC236}">
                <a16:creationId xmlns:a16="http://schemas.microsoft.com/office/drawing/2014/main" id="{E89B31B4-C8FA-944F-909B-CC8D2593F5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7521" y="2055813"/>
            <a:ext cx="5907653" cy="3323056"/>
          </a:xfrm>
          <a:prstGeom prst="rect">
            <a:avLst/>
          </a:prstGeom>
        </p:spPr>
      </p:pic>
      <p:sp>
        <p:nvSpPr>
          <p:cNvPr id="15" name="Textfeld 2">
            <a:extLst>
              <a:ext uri="{FF2B5EF4-FFF2-40B4-BE49-F238E27FC236}">
                <a16:creationId xmlns:a16="http://schemas.microsoft.com/office/drawing/2014/main" id="{4107BE21-53A1-DE44-B1E3-20B53C8A0B3D}"/>
              </a:ext>
            </a:extLst>
          </p:cNvPr>
          <p:cNvSpPr txBox="1"/>
          <p:nvPr/>
        </p:nvSpPr>
        <p:spPr>
          <a:xfrm>
            <a:off x="5284248" y="5425008"/>
            <a:ext cx="6336704" cy="954107"/>
          </a:xfrm>
          <a:prstGeom prst="rect">
            <a:avLst/>
          </a:prstGeom>
          <a:noFill/>
          <a:ln>
            <a:noFill/>
          </a:ln>
        </p:spPr>
        <p:txBody>
          <a:bodyPr wrap="square" rtlCol="0">
            <a:spAutoFit/>
          </a:bodyPr>
          <a:lstStyle/>
          <a:p>
            <a:r>
              <a:rPr lang="de-DE" sz="2800" dirty="0">
                <a:latin typeface="Lucida Sans" panose="020B0602030504020204" pitchFamily="34" charset="0"/>
              </a:rPr>
              <a:t>Analysis plan </a:t>
            </a:r>
            <a:r>
              <a:rPr lang="de-DE" sz="2800" dirty="0" err="1">
                <a:latin typeface="Lucida Sans" panose="020B0602030504020204" pitchFamily="34" charset="0"/>
              </a:rPr>
              <a:t>is</a:t>
            </a:r>
            <a:r>
              <a:rPr lang="de-DE" sz="2800" dirty="0">
                <a:latin typeface="Lucida Sans" panose="020B0602030504020204" pitchFamily="34" charset="0"/>
              </a:rPr>
              <a:t> </a:t>
            </a:r>
            <a:r>
              <a:rPr lang="de-DE" sz="2800" i="1" dirty="0" err="1">
                <a:solidFill>
                  <a:srgbClr val="FF0000"/>
                </a:solidFill>
                <a:latin typeface="Lucida Sans" panose="020B0602030504020204" pitchFamily="34" charset="0"/>
              </a:rPr>
              <a:t>mechanically</a:t>
            </a:r>
            <a:r>
              <a:rPr lang="de-DE" sz="2800" i="1" dirty="0">
                <a:solidFill>
                  <a:srgbClr val="FF0000"/>
                </a:solidFill>
                <a:latin typeface="Lucida Sans" panose="020B0602030504020204" pitchFamily="34" charset="0"/>
              </a:rPr>
              <a:t> </a:t>
            </a:r>
            <a:r>
              <a:rPr lang="de-DE" sz="2800" dirty="0" err="1">
                <a:latin typeface="Lucida Sans" panose="020B0602030504020204" pitchFamily="34" charset="0"/>
              </a:rPr>
              <a:t>conducted</a:t>
            </a:r>
            <a:r>
              <a:rPr lang="de-DE" sz="2800" dirty="0">
                <a:latin typeface="Lucida Sans" panose="020B0602030504020204" pitchFamily="34" charset="0"/>
              </a:rPr>
              <a:t> on </a:t>
            </a:r>
            <a:r>
              <a:rPr lang="de-DE" sz="2800" dirty="0" err="1">
                <a:latin typeface="Lucida Sans" panose="020B0602030504020204" pitchFamily="34" charset="0"/>
              </a:rPr>
              <a:t>the</a:t>
            </a:r>
            <a:r>
              <a:rPr lang="de-DE" sz="2800" dirty="0">
                <a:latin typeface="Lucida Sans" panose="020B0602030504020204" pitchFamily="34" charset="0"/>
              </a:rPr>
              <a:t> original </a:t>
            </a:r>
            <a:r>
              <a:rPr lang="de-DE" sz="2800" dirty="0" err="1">
                <a:latin typeface="Lucida Sans" panose="020B0602030504020204" pitchFamily="34" charset="0"/>
              </a:rPr>
              <a:t>data</a:t>
            </a:r>
            <a:endParaRPr lang="de-DE" sz="2800" dirty="0">
              <a:latin typeface="Lucida Sans" panose="020B0602030504020204" pitchFamily="34" charset="0"/>
            </a:endParaRPr>
          </a:p>
        </p:txBody>
      </p:sp>
    </p:spTree>
    <p:extLst>
      <p:ext uri="{BB962C8B-B14F-4D97-AF65-F5344CB8AC3E}">
        <p14:creationId xmlns:p14="http://schemas.microsoft.com/office/powerpoint/2010/main" val="27858371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Blinded Analysis</a:t>
            </a:r>
          </a:p>
        </p:txBody>
      </p:sp>
      <p:sp>
        <p:nvSpPr>
          <p:cNvPr id="8" name="Content Placeholder 2">
            <a:extLst>
              <a:ext uri="{FF2B5EF4-FFF2-40B4-BE49-F238E27FC236}">
                <a16:creationId xmlns:a16="http://schemas.microsoft.com/office/drawing/2014/main" id="{3411AFC3-7980-4446-B3BA-92C5F909246A}"/>
              </a:ext>
            </a:extLst>
          </p:cNvPr>
          <p:cNvSpPr>
            <a:spLocks noGrp="1"/>
          </p:cNvSpPr>
          <p:nvPr>
            <p:ph idx="1"/>
          </p:nvPr>
        </p:nvSpPr>
        <p:spPr>
          <a:xfrm>
            <a:off x="838199" y="1952795"/>
            <a:ext cx="9899073" cy="4540080"/>
          </a:xfrm>
        </p:spPr>
        <p:txBody>
          <a:bodyPr anchor="ctr">
            <a:normAutofit/>
          </a:bodyPr>
          <a:lstStyle/>
          <a:p>
            <a:pPr marL="0" indent="0">
              <a:buNone/>
            </a:pPr>
            <a:r>
              <a:rPr lang="en-US" dirty="0"/>
              <a:t> Common practice in (</a:t>
            </a:r>
            <a:r>
              <a:rPr lang="en-US" dirty="0" err="1"/>
              <a:t>astro</a:t>
            </a:r>
            <a:r>
              <a:rPr lang="en-US" dirty="0"/>
              <a:t>-)physics</a:t>
            </a:r>
          </a:p>
          <a:p>
            <a:pPr marL="0" indent="0">
              <a:buNone/>
            </a:pPr>
            <a:endParaRPr lang="en-US" dirty="0"/>
          </a:p>
          <a:p>
            <a:pPr marL="0" indent="0">
              <a:buNone/>
            </a:pPr>
            <a:r>
              <a:rPr lang="en-US" dirty="0"/>
              <a:t>Safeguards confirmatory status of your research</a:t>
            </a:r>
          </a:p>
          <a:p>
            <a:pPr marL="0" indent="0">
              <a:buNone/>
            </a:pPr>
            <a:endParaRPr lang="en-US" dirty="0"/>
          </a:p>
          <a:p>
            <a:pPr marL="0" indent="0">
              <a:buNone/>
            </a:pPr>
            <a:r>
              <a:rPr lang="en-US" dirty="0"/>
              <a:t>Prevents biases from contaminating the results</a:t>
            </a:r>
          </a:p>
          <a:p>
            <a:pPr marL="0" indent="0">
              <a:buNone/>
            </a:pPr>
            <a:endParaRPr lang="en-US" dirty="0"/>
          </a:p>
          <a:p>
            <a:pPr marL="0" indent="0">
              <a:buNone/>
            </a:pPr>
            <a:r>
              <a:rPr lang="en-US" dirty="0"/>
              <a:t>Enables active problem-solving and discovery (reacting to peculiarities in the data)</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2501302043"/>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Concrete Example</a:t>
            </a:r>
          </a:p>
        </p:txBody>
      </p:sp>
      <p:pic>
        <p:nvPicPr>
          <p:cNvPr id="7" name="Grafik 16">
            <a:extLst>
              <a:ext uri="{FF2B5EF4-FFF2-40B4-BE49-F238E27FC236}">
                <a16:creationId xmlns:a16="http://schemas.microsoft.com/office/drawing/2014/main" id="{6B8EBEAA-0403-694D-9EC5-7E40220E8B4A}"/>
              </a:ext>
            </a:extLst>
          </p:cNvPr>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3841" b="3962"/>
          <a:stretch/>
        </p:blipFill>
        <p:spPr>
          <a:xfrm>
            <a:off x="1280492" y="2671521"/>
            <a:ext cx="2467286" cy="2464188"/>
          </a:xfrm>
          <a:prstGeom prst="rect">
            <a:avLst/>
          </a:prstGeom>
          <a:effectLst>
            <a:outerShdw blurRad="50800" dist="38100" dir="5400000" algn="t" rotWithShape="0">
              <a:prstClr val="black">
                <a:alpha val="40000"/>
              </a:prstClr>
            </a:outerShdw>
          </a:effectLst>
        </p:spPr>
      </p:pic>
      <p:pic>
        <p:nvPicPr>
          <p:cNvPr id="8" name="Grafik 22">
            <a:extLst>
              <a:ext uri="{FF2B5EF4-FFF2-40B4-BE49-F238E27FC236}">
                <a16:creationId xmlns:a16="http://schemas.microsoft.com/office/drawing/2014/main" id="{406271EC-5BB2-0142-B257-AA4C4390B9A1}"/>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7421" r="16772"/>
          <a:stretch/>
        </p:blipFill>
        <p:spPr>
          <a:xfrm>
            <a:off x="5480639" y="3117232"/>
            <a:ext cx="4277949" cy="1572766"/>
          </a:xfrm>
          <a:prstGeom prst="rect">
            <a:avLst/>
          </a:prstGeom>
        </p:spPr>
      </p:pic>
      <p:sp>
        <p:nvSpPr>
          <p:cNvPr id="9" name="Pfeil: nach rechts 27">
            <a:extLst>
              <a:ext uri="{FF2B5EF4-FFF2-40B4-BE49-F238E27FC236}">
                <a16:creationId xmlns:a16="http://schemas.microsoft.com/office/drawing/2014/main" id="{1BA62DF3-8B83-954F-8FFB-D0511DF6F634}"/>
              </a:ext>
            </a:extLst>
          </p:cNvPr>
          <p:cNvSpPr/>
          <p:nvPr/>
        </p:nvSpPr>
        <p:spPr>
          <a:xfrm>
            <a:off x="4112487" y="3723595"/>
            <a:ext cx="1296144" cy="360040"/>
          </a:xfrm>
          <a:prstGeom prst="rightArrow">
            <a:avLst/>
          </a:prstGeom>
          <a:solidFill>
            <a:srgbClr val="EC594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feld 28">
            <a:extLst>
              <a:ext uri="{FF2B5EF4-FFF2-40B4-BE49-F238E27FC236}">
                <a16:creationId xmlns:a16="http://schemas.microsoft.com/office/drawing/2014/main" id="{1E2525FB-04F4-C74F-A02A-D43F98695E7B}"/>
              </a:ext>
            </a:extLst>
          </p:cNvPr>
          <p:cNvSpPr txBox="1"/>
          <p:nvPr/>
        </p:nvSpPr>
        <p:spPr>
          <a:xfrm>
            <a:off x="1561011" y="2271411"/>
            <a:ext cx="1989647" cy="400110"/>
          </a:xfrm>
          <a:prstGeom prst="rect">
            <a:avLst/>
          </a:prstGeom>
          <a:noFill/>
        </p:spPr>
        <p:txBody>
          <a:bodyPr wrap="none" rtlCol="0">
            <a:spAutoFit/>
          </a:bodyPr>
          <a:lstStyle/>
          <a:p>
            <a:r>
              <a:rPr lang="de-DE" sz="2000" dirty="0">
                <a:latin typeface="Lucida Sans" panose="020B0602030504020204" pitchFamily="34" charset="0"/>
              </a:rPr>
              <a:t>Amygdala </a:t>
            </a:r>
            <a:r>
              <a:rPr lang="de-DE" sz="2000" dirty="0" err="1">
                <a:latin typeface="Lucida Sans" panose="020B0602030504020204" pitchFamily="34" charset="0"/>
              </a:rPr>
              <a:t>size</a:t>
            </a:r>
            <a:endParaRPr lang="en-GB" sz="2000" dirty="0">
              <a:latin typeface="Lucida Sans" panose="020B0602030504020204" pitchFamily="34" charset="0"/>
            </a:endParaRPr>
          </a:p>
        </p:txBody>
      </p:sp>
      <p:sp>
        <p:nvSpPr>
          <p:cNvPr id="11" name="Textfeld 35">
            <a:extLst>
              <a:ext uri="{FF2B5EF4-FFF2-40B4-BE49-F238E27FC236}">
                <a16:creationId xmlns:a16="http://schemas.microsoft.com/office/drawing/2014/main" id="{75172BDC-668B-8A45-9B0C-FECA44135098}"/>
              </a:ext>
            </a:extLst>
          </p:cNvPr>
          <p:cNvSpPr txBox="1"/>
          <p:nvPr/>
        </p:nvSpPr>
        <p:spPr>
          <a:xfrm>
            <a:off x="6301445" y="2271411"/>
            <a:ext cx="2557110" cy="400110"/>
          </a:xfrm>
          <a:prstGeom prst="rect">
            <a:avLst/>
          </a:prstGeom>
          <a:noFill/>
        </p:spPr>
        <p:txBody>
          <a:bodyPr wrap="none" rtlCol="0">
            <a:spAutoFit/>
          </a:bodyPr>
          <a:lstStyle/>
          <a:p>
            <a:r>
              <a:rPr lang="de-DE" sz="2000" dirty="0">
                <a:latin typeface="Lucida Sans" panose="020B0602030504020204" pitchFamily="34" charset="0"/>
              </a:rPr>
              <a:t># Facebook </a:t>
            </a:r>
            <a:r>
              <a:rPr lang="de-DE" sz="2000" dirty="0" err="1">
                <a:latin typeface="Lucida Sans" panose="020B0602030504020204" pitchFamily="34" charset="0"/>
              </a:rPr>
              <a:t>friends</a:t>
            </a:r>
            <a:endParaRPr lang="en-GB" sz="2000" dirty="0">
              <a:latin typeface="Lucida Sans" panose="020B0602030504020204" pitchFamily="34" charset="0"/>
            </a:endParaRPr>
          </a:p>
        </p:txBody>
      </p:sp>
      <p:sp>
        <p:nvSpPr>
          <p:cNvPr id="12" name="Textfeld 29">
            <a:extLst>
              <a:ext uri="{FF2B5EF4-FFF2-40B4-BE49-F238E27FC236}">
                <a16:creationId xmlns:a16="http://schemas.microsoft.com/office/drawing/2014/main" id="{B072471D-8B3A-5C41-AF70-E2501B859BFA}"/>
              </a:ext>
            </a:extLst>
          </p:cNvPr>
          <p:cNvSpPr txBox="1"/>
          <p:nvPr/>
        </p:nvSpPr>
        <p:spPr>
          <a:xfrm>
            <a:off x="5956342" y="5548012"/>
            <a:ext cx="3888432" cy="307777"/>
          </a:xfrm>
          <a:prstGeom prst="rect">
            <a:avLst/>
          </a:prstGeom>
          <a:noFill/>
        </p:spPr>
        <p:txBody>
          <a:bodyPr wrap="square" rtlCol="0">
            <a:spAutoFit/>
          </a:bodyPr>
          <a:lstStyle/>
          <a:p>
            <a:r>
              <a:rPr lang="de-DE" sz="1400" dirty="0" err="1">
                <a:latin typeface="Lucida Sans" panose="020B0602030504020204" pitchFamily="34" charset="0"/>
              </a:rPr>
              <a:t>Kanai</a:t>
            </a:r>
            <a:r>
              <a:rPr lang="de-DE" sz="1400" dirty="0">
                <a:latin typeface="Lucida Sans" panose="020B0602030504020204" pitchFamily="34" charset="0"/>
              </a:rPr>
              <a:t>, </a:t>
            </a:r>
            <a:r>
              <a:rPr lang="de-DE" sz="1400" dirty="0" err="1">
                <a:latin typeface="Lucida Sans" panose="020B0602030504020204" pitchFamily="34" charset="0"/>
              </a:rPr>
              <a:t>Bahrami</a:t>
            </a:r>
            <a:r>
              <a:rPr lang="de-DE" sz="1400" dirty="0">
                <a:latin typeface="Lucida Sans" panose="020B0602030504020204" pitchFamily="34" charset="0"/>
              </a:rPr>
              <a:t>, </a:t>
            </a:r>
            <a:r>
              <a:rPr lang="de-DE" sz="1400" dirty="0" err="1">
                <a:latin typeface="Lucida Sans" panose="020B0602030504020204" pitchFamily="34" charset="0"/>
              </a:rPr>
              <a:t>Roylance</a:t>
            </a:r>
            <a:r>
              <a:rPr lang="de-DE" sz="1400" dirty="0">
                <a:latin typeface="Lucida Sans" panose="020B0602030504020204" pitchFamily="34" charset="0"/>
              </a:rPr>
              <a:t>, </a:t>
            </a:r>
            <a:r>
              <a:rPr lang="de-DE" sz="1400" dirty="0" err="1">
                <a:latin typeface="Lucida Sans" panose="020B0602030504020204" pitchFamily="34" charset="0"/>
              </a:rPr>
              <a:t>and</a:t>
            </a:r>
            <a:r>
              <a:rPr lang="de-DE" sz="1400" dirty="0">
                <a:latin typeface="Lucida Sans" panose="020B0602030504020204" pitchFamily="34" charset="0"/>
              </a:rPr>
              <a:t> Rees (2012)</a:t>
            </a:r>
            <a:endParaRPr lang="en-GB" sz="1400" dirty="0">
              <a:latin typeface="Lucida Sans" panose="020B0602030504020204" pitchFamily="34" charset="0"/>
            </a:endParaRPr>
          </a:p>
        </p:txBody>
      </p:sp>
    </p:spTree>
    <p:extLst>
      <p:ext uri="{BB962C8B-B14F-4D97-AF65-F5344CB8AC3E}">
        <p14:creationId xmlns:p14="http://schemas.microsoft.com/office/powerpoint/2010/main" val="394249249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Scenario 1: Preregistration</a:t>
            </a:r>
          </a:p>
        </p:txBody>
      </p:sp>
      <p:sp>
        <p:nvSpPr>
          <p:cNvPr id="5" name="Textfeld 3">
            <a:extLst>
              <a:ext uri="{FF2B5EF4-FFF2-40B4-BE49-F238E27FC236}">
                <a16:creationId xmlns:a16="http://schemas.microsoft.com/office/drawing/2014/main" id="{1051C77F-3EDD-2A4B-B36B-3AD2E33D76CF}"/>
              </a:ext>
            </a:extLst>
          </p:cNvPr>
          <p:cNvSpPr txBox="1"/>
          <p:nvPr/>
        </p:nvSpPr>
        <p:spPr>
          <a:xfrm>
            <a:off x="1380432" y="2176294"/>
            <a:ext cx="3240360" cy="369332"/>
          </a:xfrm>
          <a:prstGeom prst="rect">
            <a:avLst/>
          </a:prstGeom>
          <a:noFill/>
        </p:spPr>
        <p:txBody>
          <a:bodyPr wrap="square" rtlCol="0">
            <a:spAutoFit/>
          </a:bodyPr>
          <a:lstStyle/>
          <a:p>
            <a:r>
              <a:rPr lang="de-DE" dirty="0">
                <a:latin typeface="Lucida Sans" panose="020B0602030504020204" pitchFamily="34" charset="0"/>
              </a:rPr>
              <a:t> # Facebook </a:t>
            </a:r>
            <a:r>
              <a:rPr lang="de-DE" dirty="0" err="1">
                <a:latin typeface="Lucida Sans" panose="020B0602030504020204" pitchFamily="34" charset="0"/>
              </a:rPr>
              <a:t>friends</a:t>
            </a:r>
            <a:r>
              <a:rPr lang="de-DE" dirty="0">
                <a:latin typeface="Lucida Sans" panose="020B0602030504020204" pitchFamily="34" charset="0"/>
              </a:rPr>
              <a:t> ~</a:t>
            </a:r>
            <a:endParaRPr lang="en-GB" dirty="0">
              <a:latin typeface="Lucida Sans" panose="020B0602030504020204" pitchFamily="34" charset="0"/>
            </a:endParaRPr>
          </a:p>
        </p:txBody>
      </p:sp>
      <p:sp>
        <p:nvSpPr>
          <p:cNvPr id="6" name="Textfeld 20">
            <a:extLst>
              <a:ext uri="{FF2B5EF4-FFF2-40B4-BE49-F238E27FC236}">
                <a16:creationId xmlns:a16="http://schemas.microsoft.com/office/drawing/2014/main" id="{6042C286-E83D-B242-8B9C-86B181B906D1}"/>
              </a:ext>
            </a:extLst>
          </p:cNvPr>
          <p:cNvSpPr txBox="1"/>
          <p:nvPr/>
        </p:nvSpPr>
        <p:spPr>
          <a:xfrm>
            <a:off x="3900712" y="2167002"/>
            <a:ext cx="1800200" cy="369332"/>
          </a:xfrm>
          <a:prstGeom prst="rect">
            <a:avLst/>
          </a:prstGeom>
          <a:noFill/>
        </p:spPr>
        <p:txBody>
          <a:bodyPr wrap="square" rtlCol="0">
            <a:spAutoFit/>
          </a:bodyPr>
          <a:lstStyle/>
          <a:p>
            <a:r>
              <a:rPr lang="de-DE" dirty="0">
                <a:latin typeface="Lucida Sans" panose="020B0602030504020204" pitchFamily="34" charset="0"/>
              </a:rPr>
              <a:t>Amygdala </a:t>
            </a:r>
            <a:r>
              <a:rPr lang="de-DE" dirty="0" err="1">
                <a:latin typeface="Lucida Sans" panose="020B0602030504020204" pitchFamily="34" charset="0"/>
              </a:rPr>
              <a:t>size</a:t>
            </a:r>
            <a:endParaRPr lang="en-GB" dirty="0">
              <a:latin typeface="Lucida Sans" panose="020B0602030504020204" pitchFamily="34" charset="0"/>
            </a:endParaRPr>
          </a:p>
        </p:txBody>
      </p:sp>
      <p:sp>
        <p:nvSpPr>
          <p:cNvPr id="7" name="Textfeld 21">
            <a:extLst>
              <a:ext uri="{FF2B5EF4-FFF2-40B4-BE49-F238E27FC236}">
                <a16:creationId xmlns:a16="http://schemas.microsoft.com/office/drawing/2014/main" id="{BFE9AE3C-808B-A045-AB12-B67639753952}"/>
              </a:ext>
            </a:extLst>
          </p:cNvPr>
          <p:cNvSpPr txBox="1"/>
          <p:nvPr/>
        </p:nvSpPr>
        <p:spPr>
          <a:xfrm>
            <a:off x="5628904" y="2176294"/>
            <a:ext cx="1351165" cy="369332"/>
          </a:xfrm>
          <a:prstGeom prst="rect">
            <a:avLst/>
          </a:prstGeom>
          <a:noFill/>
        </p:spPr>
        <p:txBody>
          <a:bodyPr wrap="square" rtlCol="0">
            <a:spAutoFit/>
          </a:bodyPr>
          <a:lstStyle/>
          <a:p>
            <a:r>
              <a:rPr lang="de-DE" dirty="0">
                <a:latin typeface="Lucida Sans" panose="020B0602030504020204" pitchFamily="34" charset="0"/>
              </a:rPr>
              <a:t>+ Gender</a:t>
            </a:r>
            <a:endParaRPr lang="en-GB" dirty="0">
              <a:latin typeface="Lucida Sans" panose="020B0602030504020204" pitchFamily="34" charset="0"/>
            </a:endParaRPr>
          </a:p>
        </p:txBody>
      </p:sp>
      <p:sp>
        <p:nvSpPr>
          <p:cNvPr id="8" name="Textfeld 22">
            <a:extLst>
              <a:ext uri="{FF2B5EF4-FFF2-40B4-BE49-F238E27FC236}">
                <a16:creationId xmlns:a16="http://schemas.microsoft.com/office/drawing/2014/main" id="{9D6C5E98-8649-974A-B026-DC4F3DB4EAC7}"/>
              </a:ext>
            </a:extLst>
          </p:cNvPr>
          <p:cNvSpPr txBox="1"/>
          <p:nvPr/>
        </p:nvSpPr>
        <p:spPr>
          <a:xfrm>
            <a:off x="6781032" y="2176294"/>
            <a:ext cx="1008112" cy="369332"/>
          </a:xfrm>
          <a:prstGeom prst="rect">
            <a:avLst/>
          </a:prstGeom>
          <a:noFill/>
        </p:spPr>
        <p:txBody>
          <a:bodyPr wrap="square" rtlCol="0">
            <a:spAutoFit/>
          </a:bodyPr>
          <a:lstStyle/>
          <a:p>
            <a:r>
              <a:rPr lang="de-DE" dirty="0">
                <a:latin typeface="Lucida Sans" panose="020B0602030504020204" pitchFamily="34" charset="0"/>
              </a:rPr>
              <a:t>+ Age</a:t>
            </a:r>
            <a:endParaRPr lang="en-GB" dirty="0">
              <a:latin typeface="Lucida Sans" panose="020B0602030504020204" pitchFamily="34" charset="0"/>
            </a:endParaRPr>
          </a:p>
        </p:txBody>
      </p:sp>
      <p:sp>
        <p:nvSpPr>
          <p:cNvPr id="9" name="Textfeld 23">
            <a:extLst>
              <a:ext uri="{FF2B5EF4-FFF2-40B4-BE49-F238E27FC236}">
                <a16:creationId xmlns:a16="http://schemas.microsoft.com/office/drawing/2014/main" id="{1A7AC5F2-1AF0-B246-B7E2-42424B7DEBD6}"/>
              </a:ext>
            </a:extLst>
          </p:cNvPr>
          <p:cNvSpPr txBox="1"/>
          <p:nvPr/>
        </p:nvSpPr>
        <p:spPr>
          <a:xfrm>
            <a:off x="7501111" y="2176294"/>
            <a:ext cx="2820591" cy="369332"/>
          </a:xfrm>
          <a:prstGeom prst="rect">
            <a:avLst/>
          </a:prstGeom>
          <a:noFill/>
        </p:spPr>
        <p:txBody>
          <a:bodyPr wrap="square" rtlCol="0">
            <a:spAutoFit/>
          </a:bodyPr>
          <a:lstStyle/>
          <a:p>
            <a:r>
              <a:rPr lang="de-DE" dirty="0">
                <a:latin typeface="Lucida Sans" panose="020B0602030504020204" pitchFamily="34" charset="0"/>
              </a:rPr>
              <a:t>+ Overall </a:t>
            </a:r>
            <a:r>
              <a:rPr lang="de-DE" dirty="0" err="1">
                <a:latin typeface="Lucida Sans" panose="020B0602030504020204" pitchFamily="34" charset="0"/>
              </a:rPr>
              <a:t>brain</a:t>
            </a:r>
            <a:r>
              <a:rPr lang="de-DE" dirty="0">
                <a:latin typeface="Lucida Sans" panose="020B0602030504020204" pitchFamily="34" charset="0"/>
              </a:rPr>
              <a:t> </a:t>
            </a:r>
            <a:r>
              <a:rPr lang="de-DE" dirty="0" err="1">
                <a:latin typeface="Lucida Sans" panose="020B0602030504020204" pitchFamily="34" charset="0"/>
              </a:rPr>
              <a:t>volume</a:t>
            </a:r>
            <a:endParaRPr lang="en-GB" dirty="0">
              <a:latin typeface="Lucida Sans" panose="020B0602030504020204" pitchFamily="34" charset="0"/>
            </a:endParaRPr>
          </a:p>
        </p:txBody>
      </p:sp>
      <p:pic>
        <p:nvPicPr>
          <p:cNvPr id="10" name="Grafik 25">
            <a:extLst>
              <a:ext uri="{FF2B5EF4-FFF2-40B4-BE49-F238E27FC236}">
                <a16:creationId xmlns:a16="http://schemas.microsoft.com/office/drawing/2014/main" id="{0C60E1AF-6CC0-B146-AB35-693E4E301A6B}"/>
              </a:ext>
            </a:extLst>
          </p:cNvPr>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551" t="1" r="16772" b="3174"/>
          <a:stretch/>
        </p:blipFill>
        <p:spPr>
          <a:xfrm>
            <a:off x="1296145" y="2544275"/>
            <a:ext cx="2532559" cy="774855"/>
          </a:xfrm>
          <a:prstGeom prst="rect">
            <a:avLst/>
          </a:prstGeom>
        </p:spPr>
      </p:pic>
      <p:pic>
        <p:nvPicPr>
          <p:cNvPr id="11" name="Grafik 26">
            <a:extLst>
              <a:ext uri="{FF2B5EF4-FFF2-40B4-BE49-F238E27FC236}">
                <a16:creationId xmlns:a16="http://schemas.microsoft.com/office/drawing/2014/main" id="{3AF2A70E-60BA-2F4C-9BE3-2DFB4E9A26DE}"/>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r="3841" b="3962"/>
          <a:stretch/>
        </p:blipFill>
        <p:spPr>
          <a:xfrm>
            <a:off x="4548784" y="2528308"/>
            <a:ext cx="1008112" cy="1006846"/>
          </a:xfrm>
          <a:prstGeom prst="rect">
            <a:avLst/>
          </a:prstGeom>
          <a:effectLst/>
        </p:spPr>
      </p:pic>
      <p:pic>
        <p:nvPicPr>
          <p:cNvPr id="12" name="Grafik 5">
            <a:extLst>
              <a:ext uri="{FF2B5EF4-FFF2-40B4-BE49-F238E27FC236}">
                <a16:creationId xmlns:a16="http://schemas.microsoft.com/office/drawing/2014/main" id="{3BD9FB6D-2927-384C-AAB3-9392456A01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16936" y="2671058"/>
            <a:ext cx="754073" cy="754073"/>
          </a:xfrm>
          <a:prstGeom prst="rect">
            <a:avLst/>
          </a:prstGeom>
        </p:spPr>
      </p:pic>
      <p:pic>
        <p:nvPicPr>
          <p:cNvPr id="13" name="Grafik 10">
            <a:extLst>
              <a:ext uri="{FF2B5EF4-FFF2-40B4-BE49-F238E27FC236}">
                <a16:creationId xmlns:a16="http://schemas.microsoft.com/office/drawing/2014/main" id="{D58D5D26-F660-0547-A087-85EED3A5A789}"/>
              </a:ext>
            </a:extLst>
          </p:cNvPr>
          <p:cNvPicPr>
            <a:picLocks noChangeAspect="1"/>
          </p:cNvPicPr>
          <p:nvPr/>
        </p:nvPicPr>
        <p:blipFill>
          <a:blip r:embed="rId5"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781032" y="2536334"/>
            <a:ext cx="943145" cy="943145"/>
          </a:xfrm>
          <a:prstGeom prst="rect">
            <a:avLst/>
          </a:prstGeom>
        </p:spPr>
      </p:pic>
      <p:pic>
        <p:nvPicPr>
          <p:cNvPr id="14" name="Grafik 12">
            <a:extLst>
              <a:ext uri="{FF2B5EF4-FFF2-40B4-BE49-F238E27FC236}">
                <a16:creationId xmlns:a16="http://schemas.microsoft.com/office/drawing/2014/main" id="{6AE9C4A7-99A9-3A4B-A3C9-DA6E52BE9EC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65208" y="2528308"/>
            <a:ext cx="1088146" cy="1088146"/>
          </a:xfrm>
          <a:prstGeom prst="rect">
            <a:avLst/>
          </a:prstGeom>
        </p:spPr>
      </p:pic>
      <p:pic>
        <p:nvPicPr>
          <p:cNvPr id="15" name="Grafik 14">
            <a:extLst>
              <a:ext uri="{FF2B5EF4-FFF2-40B4-BE49-F238E27FC236}">
                <a16:creationId xmlns:a16="http://schemas.microsoft.com/office/drawing/2014/main" id="{D138230D-2DDD-5542-9DB0-D13D8D23258E}"/>
              </a:ext>
            </a:extLst>
          </p:cNvPr>
          <p:cNvPicPr>
            <a:picLocks noChangeAspect="1"/>
          </p:cNvPicPr>
          <p:nvPr/>
        </p:nvPicPr>
        <p:blipFill rotWithShape="1">
          <a:blip r:embed="rId7">
            <a:extLst>
              <a:ext uri="{28A0092B-C50C-407E-A947-70E740481C1C}">
                <a14:useLocalDpi xmlns:a14="http://schemas.microsoft.com/office/drawing/2010/main" val="0"/>
              </a:ext>
            </a:extLst>
          </a:blip>
          <a:srcRect l="16331" r="5855"/>
          <a:stretch/>
        </p:blipFill>
        <p:spPr>
          <a:xfrm>
            <a:off x="3816826" y="3699204"/>
            <a:ext cx="2472028" cy="2681529"/>
          </a:xfrm>
          <a:prstGeom prst="rect">
            <a:avLst/>
          </a:prstGeom>
          <a:ln w="38100">
            <a:solidFill>
              <a:srgbClr val="00B050"/>
            </a:solidFill>
          </a:ln>
        </p:spPr>
      </p:pic>
      <p:sp>
        <p:nvSpPr>
          <p:cNvPr id="16" name="Textfeld 15">
            <a:extLst>
              <a:ext uri="{FF2B5EF4-FFF2-40B4-BE49-F238E27FC236}">
                <a16:creationId xmlns:a16="http://schemas.microsoft.com/office/drawing/2014/main" id="{12F99213-7B6D-B74D-8321-FD13E9E688F7}"/>
              </a:ext>
            </a:extLst>
          </p:cNvPr>
          <p:cNvSpPr txBox="1"/>
          <p:nvPr/>
        </p:nvSpPr>
        <p:spPr>
          <a:xfrm>
            <a:off x="6330728" y="4519612"/>
            <a:ext cx="3024336" cy="369332"/>
          </a:xfrm>
          <a:prstGeom prst="rect">
            <a:avLst/>
          </a:prstGeom>
          <a:noFill/>
        </p:spPr>
        <p:txBody>
          <a:bodyPr wrap="square" rtlCol="0">
            <a:spAutoFit/>
          </a:bodyPr>
          <a:lstStyle/>
          <a:p>
            <a:r>
              <a:rPr lang="de-DE" i="1" dirty="0">
                <a:sym typeface="Wingdings" panose="05000000000000000000" pitchFamily="2" charset="2"/>
              </a:rPr>
              <a:t> Square-</a:t>
            </a:r>
            <a:r>
              <a:rPr lang="de-DE" i="1" dirty="0" err="1">
                <a:sym typeface="Wingdings" panose="05000000000000000000" pitchFamily="2" charset="2"/>
              </a:rPr>
              <a:t>root</a:t>
            </a:r>
            <a:r>
              <a:rPr lang="de-DE" i="1" dirty="0">
                <a:sym typeface="Wingdings" panose="05000000000000000000" pitchFamily="2" charset="2"/>
              </a:rPr>
              <a:t> </a:t>
            </a:r>
            <a:r>
              <a:rPr lang="de-DE" i="1" dirty="0" err="1">
                <a:sym typeface="Wingdings" panose="05000000000000000000" pitchFamily="2" charset="2"/>
              </a:rPr>
              <a:t>transformation</a:t>
            </a:r>
            <a:endParaRPr lang="en-GB" i="1" dirty="0"/>
          </a:p>
        </p:txBody>
      </p:sp>
    </p:spTree>
    <p:extLst>
      <p:ext uri="{BB962C8B-B14F-4D97-AF65-F5344CB8AC3E}">
        <p14:creationId xmlns:p14="http://schemas.microsoft.com/office/powerpoint/2010/main" val="251842321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lstStyle/>
          <a:p>
            <a:endParaRPr lang="en-US"/>
          </a:p>
        </p:txBody>
      </p:sp>
      <p:sp>
        <p:nvSpPr>
          <p:cNvPr id="7" name="Title 1">
            <a:extLst>
              <a:ext uri="{FF2B5EF4-FFF2-40B4-BE49-F238E27FC236}">
                <a16:creationId xmlns:a16="http://schemas.microsoft.com/office/drawing/2014/main" id="{5E96864C-21BE-A044-9A9F-F4CBA45855CD}"/>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chemeClr val="bg1">
                    <a:lumMod val="95000"/>
                    <a:lumOff val="5000"/>
                  </a:schemeClr>
                </a:solidFill>
              </a:rPr>
              <a:t>Scenario 1: Preregistration</a:t>
            </a:r>
            <a:endParaRPr lang="en-US" dirty="0">
              <a:solidFill>
                <a:schemeClr val="bg1">
                  <a:lumMod val="95000"/>
                  <a:lumOff val="5000"/>
                </a:schemeClr>
              </a:solidFill>
            </a:endParaRPr>
          </a:p>
        </p:txBody>
      </p:sp>
      <p:sp>
        <p:nvSpPr>
          <p:cNvPr id="9" name="Pfeil: Chevron 27">
            <a:extLst>
              <a:ext uri="{FF2B5EF4-FFF2-40B4-BE49-F238E27FC236}">
                <a16:creationId xmlns:a16="http://schemas.microsoft.com/office/drawing/2014/main" id="{7B6367E7-A076-294C-8105-86ABF6D1197B}"/>
              </a:ext>
            </a:extLst>
          </p:cNvPr>
          <p:cNvSpPr/>
          <p:nvPr/>
        </p:nvSpPr>
        <p:spPr>
          <a:xfrm>
            <a:off x="3260971" y="5676111"/>
            <a:ext cx="360040" cy="664364"/>
          </a:xfrm>
          <a:prstGeom prst="chevron">
            <a:avLst>
              <a:gd name="adj" fmla="val 62310"/>
            </a:avLst>
          </a:prstGeom>
          <a:solidFill>
            <a:srgbClr val="6BBEE7"/>
          </a:solidFill>
        </p:spPr>
        <p:style>
          <a:lnRef idx="0">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a:lstStyle/>
          <a:p>
            <a:endParaRPr lang="en-GB" dirty="0"/>
          </a:p>
        </p:txBody>
      </p:sp>
      <p:sp>
        <p:nvSpPr>
          <p:cNvPr id="10" name="Textfeld 28">
            <a:extLst>
              <a:ext uri="{FF2B5EF4-FFF2-40B4-BE49-F238E27FC236}">
                <a16:creationId xmlns:a16="http://schemas.microsoft.com/office/drawing/2014/main" id="{0E9C7E8E-F080-334C-91B2-B45F8F3FCF74}"/>
              </a:ext>
            </a:extLst>
          </p:cNvPr>
          <p:cNvSpPr txBox="1"/>
          <p:nvPr/>
        </p:nvSpPr>
        <p:spPr>
          <a:xfrm>
            <a:off x="3621011" y="5808238"/>
            <a:ext cx="4949978" cy="400110"/>
          </a:xfrm>
          <a:prstGeom prst="rect">
            <a:avLst/>
          </a:prstGeom>
          <a:noFill/>
        </p:spPr>
        <p:txBody>
          <a:bodyPr wrap="square" rtlCol="0">
            <a:spAutoFit/>
          </a:bodyPr>
          <a:lstStyle/>
          <a:p>
            <a:r>
              <a:rPr lang="de-DE" sz="2000" dirty="0" err="1">
                <a:solidFill>
                  <a:schemeClr val="tx1">
                    <a:lumMod val="75000"/>
                    <a:lumOff val="25000"/>
                  </a:schemeClr>
                </a:solidFill>
                <a:latin typeface="Lucida Sans" panose="020B0602030504020204" pitchFamily="34" charset="0"/>
              </a:rPr>
              <a:t>Preregistration</a:t>
            </a:r>
            <a:r>
              <a:rPr lang="de-DE" sz="2000" dirty="0">
                <a:solidFill>
                  <a:schemeClr val="tx1">
                    <a:lumMod val="75000"/>
                    <a:lumOff val="25000"/>
                  </a:schemeClr>
                </a:solidFill>
                <a:latin typeface="Lucida Sans" panose="020B0602030504020204" pitchFamily="34" charset="0"/>
              </a:rPr>
              <a:t> </a:t>
            </a:r>
            <a:r>
              <a:rPr lang="de-DE" sz="2000" dirty="0" err="1">
                <a:solidFill>
                  <a:schemeClr val="tx1">
                    <a:lumMod val="75000"/>
                    <a:lumOff val="25000"/>
                  </a:schemeClr>
                </a:solidFill>
                <a:latin typeface="Lucida Sans" panose="020B0602030504020204" pitchFamily="34" charset="0"/>
              </a:rPr>
              <a:t>is</a:t>
            </a:r>
            <a:r>
              <a:rPr lang="de-DE" sz="2000" dirty="0">
                <a:solidFill>
                  <a:schemeClr val="tx1">
                    <a:lumMod val="75000"/>
                    <a:lumOff val="25000"/>
                  </a:schemeClr>
                </a:solidFill>
                <a:latin typeface="Lucida Sans" panose="020B0602030504020204" pitchFamily="34" charset="0"/>
              </a:rPr>
              <a:t> fair, but not flexible</a:t>
            </a:r>
            <a:endParaRPr lang="en-GB" sz="2000" dirty="0">
              <a:solidFill>
                <a:schemeClr val="tx1">
                  <a:lumMod val="75000"/>
                  <a:lumOff val="25000"/>
                </a:schemeClr>
              </a:solidFill>
              <a:latin typeface="Lucida Sans" panose="020B0602030504020204" pitchFamily="34" charset="0"/>
            </a:endParaRPr>
          </a:p>
        </p:txBody>
      </p:sp>
      <p:sp>
        <p:nvSpPr>
          <p:cNvPr id="11" name="Textfeld 17">
            <a:extLst>
              <a:ext uri="{FF2B5EF4-FFF2-40B4-BE49-F238E27FC236}">
                <a16:creationId xmlns:a16="http://schemas.microsoft.com/office/drawing/2014/main" id="{6D8D8C90-6ABC-8A42-9B38-697D2EAB77A5}"/>
              </a:ext>
            </a:extLst>
          </p:cNvPr>
          <p:cNvSpPr txBox="1"/>
          <p:nvPr/>
        </p:nvSpPr>
        <p:spPr>
          <a:xfrm>
            <a:off x="1183777" y="1907556"/>
            <a:ext cx="3240360" cy="369332"/>
          </a:xfrm>
          <a:prstGeom prst="rect">
            <a:avLst/>
          </a:prstGeom>
          <a:noFill/>
        </p:spPr>
        <p:txBody>
          <a:bodyPr wrap="square" rtlCol="0">
            <a:spAutoFit/>
          </a:bodyPr>
          <a:lstStyle/>
          <a:p>
            <a:r>
              <a:rPr lang="de-DE" dirty="0">
                <a:solidFill>
                  <a:schemeClr val="tx1">
                    <a:lumMod val="50000"/>
                    <a:lumOff val="50000"/>
                  </a:schemeClr>
                </a:solidFill>
                <a:latin typeface="Lucida Sans" panose="020B0602030504020204" pitchFamily="34" charset="0"/>
              </a:rPr>
              <a:t> # Facebook </a:t>
            </a:r>
            <a:r>
              <a:rPr lang="de-DE" dirty="0" err="1">
                <a:solidFill>
                  <a:schemeClr val="tx1">
                    <a:lumMod val="50000"/>
                    <a:lumOff val="50000"/>
                  </a:schemeClr>
                </a:solidFill>
                <a:latin typeface="Lucida Sans" panose="020B0602030504020204" pitchFamily="34" charset="0"/>
              </a:rPr>
              <a:t>friends</a:t>
            </a:r>
            <a:r>
              <a:rPr lang="de-DE" dirty="0">
                <a:solidFill>
                  <a:schemeClr val="tx1">
                    <a:lumMod val="50000"/>
                    <a:lumOff val="50000"/>
                  </a:schemeClr>
                </a:solidFill>
                <a:latin typeface="Lucida Sans" panose="020B0602030504020204" pitchFamily="34" charset="0"/>
              </a:rPr>
              <a:t> ~</a:t>
            </a:r>
            <a:endParaRPr lang="en-GB" dirty="0">
              <a:solidFill>
                <a:schemeClr val="tx1">
                  <a:lumMod val="50000"/>
                  <a:lumOff val="50000"/>
                </a:schemeClr>
              </a:solidFill>
              <a:latin typeface="Lucida Sans" panose="020B0602030504020204" pitchFamily="34" charset="0"/>
            </a:endParaRPr>
          </a:p>
        </p:txBody>
      </p:sp>
      <p:sp>
        <p:nvSpPr>
          <p:cNvPr id="12" name="Textfeld 18">
            <a:extLst>
              <a:ext uri="{FF2B5EF4-FFF2-40B4-BE49-F238E27FC236}">
                <a16:creationId xmlns:a16="http://schemas.microsoft.com/office/drawing/2014/main" id="{A9CCC979-856B-BE40-8AD6-4FA8D04EAAAD}"/>
              </a:ext>
            </a:extLst>
          </p:cNvPr>
          <p:cNvSpPr txBox="1"/>
          <p:nvPr/>
        </p:nvSpPr>
        <p:spPr>
          <a:xfrm>
            <a:off x="3692225" y="1898264"/>
            <a:ext cx="1800200" cy="369332"/>
          </a:xfrm>
          <a:prstGeom prst="rect">
            <a:avLst/>
          </a:prstGeom>
          <a:noFill/>
        </p:spPr>
        <p:txBody>
          <a:bodyPr wrap="square" rtlCol="0">
            <a:spAutoFit/>
          </a:bodyPr>
          <a:lstStyle/>
          <a:p>
            <a:r>
              <a:rPr lang="de-DE" dirty="0">
                <a:solidFill>
                  <a:schemeClr val="tx1">
                    <a:lumMod val="50000"/>
                    <a:lumOff val="50000"/>
                  </a:schemeClr>
                </a:solidFill>
                <a:latin typeface="Lucida Sans" panose="020B0602030504020204" pitchFamily="34" charset="0"/>
              </a:rPr>
              <a:t>Amygdala </a:t>
            </a:r>
            <a:r>
              <a:rPr lang="de-DE" dirty="0" err="1">
                <a:solidFill>
                  <a:schemeClr val="tx1">
                    <a:lumMod val="50000"/>
                    <a:lumOff val="50000"/>
                  </a:schemeClr>
                </a:solidFill>
                <a:latin typeface="Lucida Sans" panose="020B0602030504020204" pitchFamily="34" charset="0"/>
              </a:rPr>
              <a:t>size</a:t>
            </a:r>
            <a:endParaRPr lang="en-GB" dirty="0">
              <a:solidFill>
                <a:schemeClr val="tx1">
                  <a:lumMod val="50000"/>
                  <a:lumOff val="50000"/>
                </a:schemeClr>
              </a:solidFill>
              <a:latin typeface="Lucida Sans" panose="020B0602030504020204" pitchFamily="34" charset="0"/>
            </a:endParaRPr>
          </a:p>
        </p:txBody>
      </p:sp>
      <p:sp>
        <p:nvSpPr>
          <p:cNvPr id="13" name="Textfeld 19">
            <a:extLst>
              <a:ext uri="{FF2B5EF4-FFF2-40B4-BE49-F238E27FC236}">
                <a16:creationId xmlns:a16="http://schemas.microsoft.com/office/drawing/2014/main" id="{6CC3845C-2F6C-614A-81C9-2DFCB945CD17}"/>
              </a:ext>
            </a:extLst>
          </p:cNvPr>
          <p:cNvSpPr txBox="1"/>
          <p:nvPr/>
        </p:nvSpPr>
        <p:spPr>
          <a:xfrm>
            <a:off x="5420417" y="1907556"/>
            <a:ext cx="1351165" cy="369332"/>
          </a:xfrm>
          <a:prstGeom prst="rect">
            <a:avLst/>
          </a:prstGeom>
          <a:noFill/>
        </p:spPr>
        <p:txBody>
          <a:bodyPr wrap="square" rtlCol="0">
            <a:spAutoFit/>
          </a:bodyPr>
          <a:lstStyle/>
          <a:p>
            <a:r>
              <a:rPr lang="de-DE" dirty="0">
                <a:solidFill>
                  <a:schemeClr val="tx1">
                    <a:lumMod val="50000"/>
                    <a:lumOff val="50000"/>
                  </a:schemeClr>
                </a:solidFill>
                <a:latin typeface="Lucida Sans" panose="020B0602030504020204" pitchFamily="34" charset="0"/>
              </a:rPr>
              <a:t>+ Gender</a:t>
            </a:r>
            <a:endParaRPr lang="en-GB" dirty="0">
              <a:solidFill>
                <a:schemeClr val="tx1">
                  <a:lumMod val="50000"/>
                  <a:lumOff val="50000"/>
                </a:schemeClr>
              </a:solidFill>
              <a:latin typeface="Lucida Sans" panose="020B0602030504020204" pitchFamily="34" charset="0"/>
            </a:endParaRPr>
          </a:p>
        </p:txBody>
      </p:sp>
      <p:sp>
        <p:nvSpPr>
          <p:cNvPr id="14" name="Textfeld 20">
            <a:extLst>
              <a:ext uri="{FF2B5EF4-FFF2-40B4-BE49-F238E27FC236}">
                <a16:creationId xmlns:a16="http://schemas.microsoft.com/office/drawing/2014/main" id="{A9A3EDD6-7507-9542-ABF4-63CCD4BE62C2}"/>
              </a:ext>
            </a:extLst>
          </p:cNvPr>
          <p:cNvSpPr txBox="1"/>
          <p:nvPr/>
        </p:nvSpPr>
        <p:spPr>
          <a:xfrm>
            <a:off x="6572545" y="1907556"/>
            <a:ext cx="1008112" cy="369332"/>
          </a:xfrm>
          <a:prstGeom prst="rect">
            <a:avLst/>
          </a:prstGeom>
          <a:noFill/>
        </p:spPr>
        <p:txBody>
          <a:bodyPr wrap="square" rtlCol="0">
            <a:spAutoFit/>
          </a:bodyPr>
          <a:lstStyle/>
          <a:p>
            <a:r>
              <a:rPr lang="de-DE" dirty="0">
                <a:solidFill>
                  <a:schemeClr val="tx1">
                    <a:lumMod val="50000"/>
                    <a:lumOff val="50000"/>
                  </a:schemeClr>
                </a:solidFill>
                <a:latin typeface="Lucida Sans" panose="020B0602030504020204" pitchFamily="34" charset="0"/>
              </a:rPr>
              <a:t>+ Age</a:t>
            </a:r>
            <a:endParaRPr lang="en-GB" dirty="0">
              <a:solidFill>
                <a:schemeClr val="tx1">
                  <a:lumMod val="50000"/>
                  <a:lumOff val="50000"/>
                </a:schemeClr>
              </a:solidFill>
              <a:latin typeface="Lucida Sans" panose="020B0602030504020204" pitchFamily="34" charset="0"/>
            </a:endParaRPr>
          </a:p>
        </p:txBody>
      </p:sp>
      <p:sp>
        <p:nvSpPr>
          <p:cNvPr id="15" name="Textfeld 21">
            <a:extLst>
              <a:ext uri="{FF2B5EF4-FFF2-40B4-BE49-F238E27FC236}">
                <a16:creationId xmlns:a16="http://schemas.microsoft.com/office/drawing/2014/main" id="{3F841EF7-3726-AF4B-9F27-DC5AF877632E}"/>
              </a:ext>
            </a:extLst>
          </p:cNvPr>
          <p:cNvSpPr txBox="1"/>
          <p:nvPr/>
        </p:nvSpPr>
        <p:spPr>
          <a:xfrm>
            <a:off x="7292624" y="1907556"/>
            <a:ext cx="2820591" cy="369332"/>
          </a:xfrm>
          <a:prstGeom prst="rect">
            <a:avLst/>
          </a:prstGeom>
          <a:noFill/>
        </p:spPr>
        <p:txBody>
          <a:bodyPr wrap="square" rtlCol="0">
            <a:spAutoFit/>
          </a:bodyPr>
          <a:lstStyle/>
          <a:p>
            <a:r>
              <a:rPr lang="de-DE" dirty="0">
                <a:solidFill>
                  <a:schemeClr val="tx1">
                    <a:lumMod val="50000"/>
                    <a:lumOff val="50000"/>
                  </a:schemeClr>
                </a:solidFill>
                <a:latin typeface="Lucida Sans" panose="020B0602030504020204" pitchFamily="34" charset="0"/>
              </a:rPr>
              <a:t>+ Overall </a:t>
            </a:r>
            <a:r>
              <a:rPr lang="de-DE" dirty="0" err="1">
                <a:solidFill>
                  <a:schemeClr val="tx1">
                    <a:lumMod val="50000"/>
                    <a:lumOff val="50000"/>
                  </a:schemeClr>
                </a:solidFill>
                <a:latin typeface="Lucida Sans" panose="020B0602030504020204" pitchFamily="34" charset="0"/>
              </a:rPr>
              <a:t>brain</a:t>
            </a:r>
            <a:r>
              <a:rPr lang="de-DE" dirty="0">
                <a:solidFill>
                  <a:schemeClr val="tx1">
                    <a:lumMod val="50000"/>
                    <a:lumOff val="50000"/>
                  </a:schemeClr>
                </a:solidFill>
                <a:latin typeface="Lucida Sans" panose="020B0602030504020204" pitchFamily="34" charset="0"/>
              </a:rPr>
              <a:t> </a:t>
            </a:r>
            <a:r>
              <a:rPr lang="de-DE" dirty="0" err="1">
                <a:solidFill>
                  <a:schemeClr val="tx1">
                    <a:lumMod val="50000"/>
                    <a:lumOff val="50000"/>
                  </a:schemeClr>
                </a:solidFill>
                <a:latin typeface="Lucida Sans" panose="020B0602030504020204" pitchFamily="34" charset="0"/>
              </a:rPr>
              <a:t>volume</a:t>
            </a:r>
            <a:endParaRPr lang="en-GB" dirty="0">
              <a:solidFill>
                <a:schemeClr val="tx1">
                  <a:lumMod val="50000"/>
                  <a:lumOff val="50000"/>
                </a:schemeClr>
              </a:solidFill>
              <a:latin typeface="Lucida Sans" panose="020B0602030504020204" pitchFamily="34" charset="0"/>
            </a:endParaRPr>
          </a:p>
        </p:txBody>
      </p:sp>
      <p:graphicFrame>
        <p:nvGraphicFramePr>
          <p:cNvPr id="16" name="Diagramm 24">
            <a:extLst>
              <a:ext uri="{FF2B5EF4-FFF2-40B4-BE49-F238E27FC236}">
                <a16:creationId xmlns:a16="http://schemas.microsoft.com/office/drawing/2014/main" id="{B0FE2FFC-7F0F-624F-96EC-AB0C40F6AF10}"/>
              </a:ext>
            </a:extLst>
          </p:cNvPr>
          <p:cNvGraphicFramePr/>
          <p:nvPr>
            <p:extLst>
              <p:ext uri="{D42A27DB-BD31-4B8C-83A1-F6EECF244321}">
                <p14:modId xmlns:p14="http://schemas.microsoft.com/office/powerpoint/2010/main" val="2684870717"/>
              </p:ext>
            </p:extLst>
          </p:nvPr>
        </p:nvGraphicFramePr>
        <p:xfrm>
          <a:off x="2361434" y="1907556"/>
          <a:ext cx="7152456"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Multiplikationszeichen 9">
            <a:extLst>
              <a:ext uri="{FF2B5EF4-FFF2-40B4-BE49-F238E27FC236}">
                <a16:creationId xmlns:a16="http://schemas.microsoft.com/office/drawing/2014/main" id="{1192AF3E-63FA-064F-8CE0-859597CFCE59}"/>
              </a:ext>
            </a:extLst>
          </p:cNvPr>
          <p:cNvSpPr/>
          <p:nvPr/>
        </p:nvSpPr>
        <p:spPr>
          <a:xfrm>
            <a:off x="6501094" y="2767976"/>
            <a:ext cx="1008112" cy="1080120"/>
          </a:xfrm>
          <a:prstGeom prst="mathMultiply">
            <a:avLst>
              <a:gd name="adj1" fmla="val 15839"/>
            </a:avLst>
          </a:prstGeom>
          <a:solidFill>
            <a:srgbClr val="EC594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Grafik 4">
            <a:extLst>
              <a:ext uri="{FF2B5EF4-FFF2-40B4-BE49-F238E27FC236}">
                <a16:creationId xmlns:a16="http://schemas.microsoft.com/office/drawing/2014/main" id="{A5966E63-7ADF-5A45-93C3-FD5607D4C954}"/>
              </a:ext>
            </a:extLst>
          </p:cNvPr>
          <p:cNvPicPr>
            <a:picLocks noChangeAspect="1"/>
          </p:cNvPicPr>
          <p:nvPr/>
        </p:nvPicPr>
        <p:blipFill>
          <a:blip r:embed="rId7" cstate="print">
            <a:clrChange>
              <a:clrFrom>
                <a:srgbClr val="FFFFFF"/>
              </a:clrFrom>
              <a:clrTo>
                <a:srgbClr val="FFFFFF">
                  <a:alpha val="0"/>
                </a:srgbClr>
              </a:clrTo>
            </a:clrChange>
            <a:duotone>
              <a:schemeClr val="accent4">
                <a:shade val="45000"/>
                <a:satMod val="135000"/>
              </a:schemeClr>
              <a:prstClr val="white"/>
            </a:duotone>
            <a:extLst>
              <a:ext uri="{BEBA8EAE-BF5A-486C-A8C5-ECC9F3942E4B}">
                <a14:imgProps xmlns:a14="http://schemas.microsoft.com/office/drawing/2010/main">
                  <a14:imgLayer r:embed="rId8">
                    <a14:imgEffect>
                      <a14:sharpenSoften amount="5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9165390" y="2852178"/>
            <a:ext cx="687487" cy="868308"/>
          </a:xfrm>
          <a:prstGeom prst="rect">
            <a:avLst/>
          </a:prstGeom>
        </p:spPr>
      </p:pic>
    </p:spTree>
    <p:extLst>
      <p:ext uri="{BB962C8B-B14F-4D97-AF65-F5344CB8AC3E}">
        <p14:creationId xmlns:p14="http://schemas.microsoft.com/office/powerpoint/2010/main" val="278296347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graphicEl>
                                              <a:dgm id="{B3507B8F-CC70-428A-8511-84AD9B301650}"/>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graphicEl>
                                              <a:dgm id="{3AC630CE-4E2D-42D6-800D-BE2E828E7EF3}"/>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graphicEl>
                                              <a:dgm id="{F4F892AD-3A9C-430A-ACA8-601853DB9297}"/>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graphicEl>
                                              <a:dgm id="{CC24F998-71DD-45EC-B261-65C5FD094DB6}"/>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graphicEl>
                                              <a:dgm id="{4101AEC0-473E-4B47-B2D6-B13EF07F0E3A}"/>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graphicEl>
                                              <a:dgm id="{04A99418-1AC8-4818-8F06-307030A84343}"/>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Graphic spid="16" grpId="0" uiExpand="1">
        <p:bldSub>
          <a:bldDgm bld="one"/>
        </p:bldSub>
      </p:bldGraphic>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lstStyle/>
          <a:p>
            <a:endParaRPr lang="en-US"/>
          </a:p>
        </p:txBody>
      </p:sp>
      <p:sp>
        <p:nvSpPr>
          <p:cNvPr id="7" name="Title 1">
            <a:extLst>
              <a:ext uri="{FF2B5EF4-FFF2-40B4-BE49-F238E27FC236}">
                <a16:creationId xmlns:a16="http://schemas.microsoft.com/office/drawing/2014/main" id="{5E96864C-21BE-A044-9A9F-F4CBA45855CD}"/>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lumMod val="95000"/>
                    <a:lumOff val="5000"/>
                  </a:schemeClr>
                </a:solidFill>
              </a:rPr>
              <a:t>Scenario 2: Blinding</a:t>
            </a:r>
          </a:p>
        </p:txBody>
      </p:sp>
      <p:graphicFrame>
        <p:nvGraphicFramePr>
          <p:cNvPr id="6" name="Tabelle 8">
            <a:extLst>
              <a:ext uri="{FF2B5EF4-FFF2-40B4-BE49-F238E27FC236}">
                <a16:creationId xmlns:a16="http://schemas.microsoft.com/office/drawing/2014/main" id="{CC813DE9-7570-9849-A6FC-E7936260109A}"/>
              </a:ext>
            </a:extLst>
          </p:cNvPr>
          <p:cNvGraphicFramePr>
            <a:graphicFrameLocks noGrp="1"/>
          </p:cNvGraphicFramePr>
          <p:nvPr>
            <p:extLst>
              <p:ext uri="{D42A27DB-BD31-4B8C-83A1-F6EECF244321}">
                <p14:modId xmlns:p14="http://schemas.microsoft.com/office/powerpoint/2010/main" val="3699429342"/>
              </p:ext>
            </p:extLst>
          </p:nvPr>
        </p:nvGraphicFramePr>
        <p:xfrm>
          <a:off x="2099000" y="2708920"/>
          <a:ext cx="7632847" cy="3108960"/>
        </p:xfrm>
        <a:graphic>
          <a:graphicData uri="http://schemas.openxmlformats.org/drawingml/2006/table">
            <a:tbl>
              <a:tblPr firstRow="1" bandRow="1">
                <a:tableStyleId>{7DF18680-E054-41AD-8BC1-D1AEF772440D}</a:tableStyleId>
              </a:tblPr>
              <a:tblGrid>
                <a:gridCol w="2507636">
                  <a:extLst>
                    <a:ext uri="{9D8B030D-6E8A-4147-A177-3AD203B41FA5}">
                      <a16:colId xmlns:a16="http://schemas.microsoft.com/office/drawing/2014/main" val="4155399873"/>
                    </a:ext>
                  </a:extLst>
                </a:gridCol>
                <a:gridCol w="1805543">
                  <a:extLst>
                    <a:ext uri="{9D8B030D-6E8A-4147-A177-3AD203B41FA5}">
                      <a16:colId xmlns:a16="http://schemas.microsoft.com/office/drawing/2014/main" val="18854214"/>
                    </a:ext>
                  </a:extLst>
                </a:gridCol>
                <a:gridCol w="1106556">
                  <a:extLst>
                    <a:ext uri="{9D8B030D-6E8A-4147-A177-3AD203B41FA5}">
                      <a16:colId xmlns:a16="http://schemas.microsoft.com/office/drawing/2014/main" val="3972986864"/>
                    </a:ext>
                  </a:extLst>
                </a:gridCol>
                <a:gridCol w="1106556">
                  <a:extLst>
                    <a:ext uri="{9D8B030D-6E8A-4147-A177-3AD203B41FA5}">
                      <a16:colId xmlns:a16="http://schemas.microsoft.com/office/drawing/2014/main" val="488937303"/>
                    </a:ext>
                  </a:extLst>
                </a:gridCol>
                <a:gridCol w="1106556">
                  <a:extLst>
                    <a:ext uri="{9D8B030D-6E8A-4147-A177-3AD203B41FA5}">
                      <a16:colId xmlns:a16="http://schemas.microsoft.com/office/drawing/2014/main" val="1233733274"/>
                    </a:ext>
                  </a:extLst>
                </a:gridCol>
              </a:tblGrid>
              <a:tr h="259229">
                <a:tc>
                  <a:txBody>
                    <a:bodyPr/>
                    <a:lstStyle/>
                    <a:p>
                      <a:pPr algn="ctr"/>
                      <a:r>
                        <a:rPr lang="de-DE" dirty="0">
                          <a:latin typeface="Lucida Sans" panose="020B0602030504020204" pitchFamily="34" charset="0"/>
                        </a:rPr>
                        <a:t># Facebook </a:t>
                      </a:r>
                      <a:r>
                        <a:rPr lang="de-DE" dirty="0" err="1">
                          <a:latin typeface="Lucida Sans" panose="020B0602030504020204" pitchFamily="34" charset="0"/>
                        </a:rPr>
                        <a:t>friends</a:t>
                      </a:r>
                      <a:r>
                        <a:rPr lang="de-DE" dirty="0">
                          <a:latin typeface="Lucida Sans" panose="020B0602030504020204" pitchFamily="34" charset="0"/>
                        </a:rPr>
                        <a:t> </a:t>
                      </a:r>
                      <a:endParaRPr lang="en-GB" dirty="0">
                        <a:latin typeface="Lucida Sans" panose="020B0602030504020204" pitchFamily="34" charset="0"/>
                      </a:endParaRPr>
                    </a:p>
                  </a:txBody>
                  <a:tcPr/>
                </a:tc>
                <a:tc>
                  <a:txBody>
                    <a:bodyPr/>
                    <a:lstStyle/>
                    <a:p>
                      <a:pPr algn="ctr"/>
                      <a:r>
                        <a:rPr lang="de-DE" dirty="0">
                          <a:latin typeface="Lucida Sans" panose="020B0602030504020204" pitchFamily="34" charset="0"/>
                        </a:rPr>
                        <a:t>Amygdala </a:t>
                      </a:r>
                      <a:r>
                        <a:rPr lang="de-DE" dirty="0" err="1">
                          <a:latin typeface="Lucida Sans" panose="020B0602030504020204" pitchFamily="34" charset="0"/>
                        </a:rPr>
                        <a:t>size</a:t>
                      </a:r>
                      <a:endParaRPr lang="en-GB" dirty="0">
                        <a:latin typeface="Lucida Sans" panose="020B0602030504020204" pitchFamily="34" charset="0"/>
                      </a:endParaRPr>
                    </a:p>
                  </a:txBody>
                  <a:tcPr/>
                </a:tc>
                <a:tc>
                  <a:txBody>
                    <a:bodyPr/>
                    <a:lstStyle/>
                    <a:p>
                      <a:pPr algn="ctr"/>
                      <a:r>
                        <a:rPr lang="en-GB" dirty="0">
                          <a:latin typeface="Lucida Sans" panose="020B0602030504020204" pitchFamily="34" charset="0"/>
                        </a:rPr>
                        <a:t>Gender</a:t>
                      </a:r>
                    </a:p>
                  </a:txBody>
                  <a:tcPr/>
                </a:tc>
                <a:tc>
                  <a:txBody>
                    <a:bodyPr/>
                    <a:lstStyle/>
                    <a:p>
                      <a:pPr algn="ctr"/>
                      <a:r>
                        <a:rPr lang="de-DE" dirty="0">
                          <a:latin typeface="Lucida Sans" panose="020B0602030504020204" pitchFamily="34" charset="0"/>
                        </a:rPr>
                        <a:t>Age</a:t>
                      </a:r>
                      <a:endParaRPr lang="en-GB" dirty="0">
                        <a:latin typeface="Lucida Sans" panose="020B0602030504020204" pitchFamily="34" charset="0"/>
                      </a:endParaRPr>
                    </a:p>
                  </a:txBody>
                  <a:tcPr/>
                </a:tc>
                <a:tc>
                  <a:txBody>
                    <a:bodyPr/>
                    <a:lstStyle/>
                    <a:p>
                      <a:pPr algn="ctr"/>
                      <a:r>
                        <a:rPr lang="en-GB" dirty="0" err="1">
                          <a:latin typeface="Lucida Sans" panose="020B0602030504020204" pitchFamily="34" charset="0"/>
                        </a:rPr>
                        <a:t>Overal</a:t>
                      </a:r>
                      <a:r>
                        <a:rPr lang="en-GB" dirty="0">
                          <a:latin typeface="Lucida Sans" panose="020B0602030504020204" pitchFamily="34" charset="0"/>
                        </a:rPr>
                        <a:t> Brain volume</a:t>
                      </a:r>
                    </a:p>
                  </a:txBody>
                  <a:tcPr/>
                </a:tc>
                <a:extLst>
                  <a:ext uri="{0D108BD9-81ED-4DB2-BD59-A6C34878D82A}">
                    <a16:rowId xmlns:a16="http://schemas.microsoft.com/office/drawing/2014/main" val="1079951947"/>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latin typeface="Lucida Sans" panose="020B0602030504020204" pitchFamily="34" charset="0"/>
                        </a:rPr>
                        <a:t>190</a:t>
                      </a:r>
                      <a:endParaRPr lang="en-GB" b="1" dirty="0">
                        <a:solidFill>
                          <a:schemeClr val="tx1"/>
                        </a:solidFill>
                        <a:latin typeface="Lucida Sans" panose="020B0602030504020204" pitchFamily="34" charset="0"/>
                      </a:endParaRPr>
                    </a:p>
                  </a:txBody>
                  <a:tcPr/>
                </a:tc>
                <a:tc>
                  <a:txBody>
                    <a:bodyPr/>
                    <a:lstStyle/>
                    <a:p>
                      <a:pPr algn="r"/>
                      <a:r>
                        <a:rPr lang="en-GB" dirty="0">
                          <a:latin typeface="Lucida Sans" panose="020B0602030504020204" pitchFamily="34" charset="0"/>
                        </a:rPr>
                        <a:t>0.655</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male</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de-DE" dirty="0">
                          <a:latin typeface="Lucida Sans" panose="020B0602030504020204" pitchFamily="34" charset="0"/>
                        </a:rPr>
                        <a:t>28</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1238</a:t>
                      </a:r>
                      <a:endParaRPr lang="en-GB" dirty="0">
                        <a:solidFill>
                          <a:schemeClr val="tx1">
                            <a:lumMod val="75000"/>
                            <a:lumOff val="25000"/>
                          </a:schemeClr>
                        </a:solidFill>
                        <a:latin typeface="Lucida Sans" panose="020B0602030504020204" pitchFamily="34" charset="0"/>
                      </a:endParaRPr>
                    </a:p>
                  </a:txBody>
                  <a:tcPr/>
                </a:tc>
                <a:extLst>
                  <a:ext uri="{0D108BD9-81ED-4DB2-BD59-A6C34878D82A}">
                    <a16:rowId xmlns:a16="http://schemas.microsoft.com/office/drawing/2014/main" val="3831481541"/>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latin typeface="Lucida Sans" panose="020B0602030504020204" pitchFamily="34" charset="0"/>
                        </a:rPr>
                        <a:t>232</a:t>
                      </a:r>
                      <a:endParaRPr lang="en-GB" b="1" dirty="0">
                        <a:solidFill>
                          <a:schemeClr val="tx1"/>
                        </a:solidFill>
                        <a:latin typeface="Lucida Sans" panose="020B0602030504020204" pitchFamily="34" charset="0"/>
                      </a:endParaRPr>
                    </a:p>
                  </a:txBody>
                  <a:tcPr/>
                </a:tc>
                <a:tc>
                  <a:txBody>
                    <a:bodyPr/>
                    <a:lstStyle/>
                    <a:p>
                      <a:pPr algn="r"/>
                      <a:r>
                        <a:rPr lang="en-GB" dirty="0">
                          <a:latin typeface="Lucida Sans" panose="020B0602030504020204" pitchFamily="34" charset="0"/>
                        </a:rPr>
                        <a:t>0.680</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male</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de-DE" dirty="0">
                          <a:latin typeface="Lucida Sans" panose="020B0602030504020204" pitchFamily="34" charset="0"/>
                        </a:rPr>
                        <a:t>35</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1386</a:t>
                      </a:r>
                      <a:endParaRPr lang="en-GB" dirty="0">
                        <a:solidFill>
                          <a:schemeClr val="tx1">
                            <a:lumMod val="75000"/>
                            <a:lumOff val="25000"/>
                          </a:schemeClr>
                        </a:solidFill>
                        <a:latin typeface="Lucida Sans" panose="020B0602030504020204" pitchFamily="34" charset="0"/>
                      </a:endParaRPr>
                    </a:p>
                  </a:txBody>
                  <a:tcPr/>
                </a:tc>
                <a:extLst>
                  <a:ext uri="{0D108BD9-81ED-4DB2-BD59-A6C34878D82A}">
                    <a16:rowId xmlns:a16="http://schemas.microsoft.com/office/drawing/2014/main" val="3217501213"/>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latin typeface="Lucida Sans" panose="020B0602030504020204" pitchFamily="34" charset="0"/>
                        </a:rPr>
                        <a:t>84</a:t>
                      </a:r>
                      <a:endParaRPr lang="en-GB" b="1" dirty="0">
                        <a:solidFill>
                          <a:schemeClr val="tx1"/>
                        </a:solidFill>
                        <a:latin typeface="Lucida Sans" panose="020B0602030504020204" pitchFamily="34" charset="0"/>
                      </a:endParaRPr>
                    </a:p>
                  </a:txBody>
                  <a:tcPr/>
                </a:tc>
                <a:tc>
                  <a:txBody>
                    <a:bodyPr/>
                    <a:lstStyle/>
                    <a:p>
                      <a:pPr algn="r"/>
                      <a:r>
                        <a:rPr lang="en-GB" dirty="0">
                          <a:latin typeface="Lucida Sans" panose="020B0602030504020204" pitchFamily="34" charset="0"/>
                        </a:rPr>
                        <a:t>0.647</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female</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de-DE" dirty="0">
                          <a:latin typeface="Lucida Sans" panose="020B0602030504020204" pitchFamily="34" charset="0"/>
                        </a:rPr>
                        <a:t>18</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1176</a:t>
                      </a:r>
                      <a:endParaRPr lang="en-GB" dirty="0">
                        <a:solidFill>
                          <a:schemeClr val="tx1">
                            <a:lumMod val="75000"/>
                            <a:lumOff val="25000"/>
                          </a:schemeClr>
                        </a:solidFill>
                        <a:latin typeface="Lucida Sans" panose="020B0602030504020204" pitchFamily="34" charset="0"/>
                      </a:endParaRPr>
                    </a:p>
                  </a:txBody>
                  <a:tcPr/>
                </a:tc>
                <a:extLst>
                  <a:ext uri="{0D108BD9-81ED-4DB2-BD59-A6C34878D82A}">
                    <a16:rowId xmlns:a16="http://schemas.microsoft.com/office/drawing/2014/main" val="1345791065"/>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1"/>
                          </a:solidFill>
                          <a:latin typeface="Lucida Sans" panose="020B0602030504020204" pitchFamily="34" charset="0"/>
                        </a:rPr>
                        <a:t>311</a:t>
                      </a:r>
                    </a:p>
                  </a:txBody>
                  <a:tcPr/>
                </a:tc>
                <a:tc>
                  <a:txBody>
                    <a:bodyPr/>
                    <a:lstStyle/>
                    <a:p>
                      <a:pPr algn="r"/>
                      <a:r>
                        <a:rPr lang="en-GB" dirty="0">
                          <a:latin typeface="Lucida Sans" panose="020B0602030504020204" pitchFamily="34" charset="0"/>
                        </a:rPr>
                        <a:t>0.698</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male</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de-DE" dirty="0">
                          <a:latin typeface="Lucida Sans" panose="020B0602030504020204" pitchFamily="34" charset="0"/>
                        </a:rPr>
                        <a:t>20</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1172</a:t>
                      </a:r>
                      <a:endParaRPr lang="en-GB" dirty="0">
                        <a:solidFill>
                          <a:schemeClr val="tx1">
                            <a:lumMod val="75000"/>
                            <a:lumOff val="25000"/>
                          </a:schemeClr>
                        </a:solidFill>
                        <a:latin typeface="Lucida Sans" panose="020B0602030504020204" pitchFamily="34" charset="0"/>
                      </a:endParaRPr>
                    </a:p>
                  </a:txBody>
                  <a:tcPr/>
                </a:tc>
                <a:extLst>
                  <a:ext uri="{0D108BD9-81ED-4DB2-BD59-A6C34878D82A}">
                    <a16:rowId xmlns:a16="http://schemas.microsoft.com/office/drawing/2014/main" val="1050286898"/>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1"/>
                          </a:solidFill>
                          <a:latin typeface="Lucida Sans" panose="020B0602030504020204" pitchFamily="34" charset="0"/>
                        </a:rPr>
                        <a:t>138</a:t>
                      </a:r>
                    </a:p>
                  </a:txBody>
                  <a:tcPr/>
                </a:tc>
                <a:tc>
                  <a:txBody>
                    <a:bodyPr/>
                    <a:lstStyle/>
                    <a:p>
                      <a:pPr algn="r"/>
                      <a:r>
                        <a:rPr lang="en-GB" dirty="0">
                          <a:latin typeface="Lucida Sans" panose="020B0602030504020204" pitchFamily="34" charset="0"/>
                        </a:rPr>
                        <a:t>0.699</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female</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de-DE" dirty="0">
                          <a:latin typeface="Lucida Sans" panose="020B0602030504020204" pitchFamily="34" charset="0"/>
                        </a:rPr>
                        <a:t>27</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1185 </a:t>
                      </a:r>
                      <a:endParaRPr lang="en-GB" dirty="0">
                        <a:solidFill>
                          <a:schemeClr val="tx1">
                            <a:lumMod val="75000"/>
                            <a:lumOff val="25000"/>
                          </a:schemeClr>
                        </a:solidFill>
                        <a:latin typeface="Lucida Sans" panose="020B0602030504020204" pitchFamily="34" charset="0"/>
                      </a:endParaRPr>
                    </a:p>
                  </a:txBody>
                  <a:tcPr/>
                </a:tc>
                <a:extLst>
                  <a:ext uri="{0D108BD9-81ED-4DB2-BD59-A6C34878D82A}">
                    <a16:rowId xmlns:a16="http://schemas.microsoft.com/office/drawing/2014/main" val="2366998799"/>
                  </a:ext>
                </a:extLst>
              </a:tr>
              <a:tr h="259229">
                <a:tc>
                  <a:txBody>
                    <a:bodyPr/>
                    <a:lstStyle/>
                    <a:p>
                      <a:pPr algn="ctr"/>
                      <a:r>
                        <a:rPr lang="en-GB" b="1" dirty="0">
                          <a:solidFill>
                            <a:schemeClr val="bg1"/>
                          </a:solidFill>
                          <a:latin typeface="Lucida Sans" panose="020B0602030504020204" pitchFamily="34" charset="0"/>
                        </a:rPr>
                        <a:t>356</a:t>
                      </a:r>
                    </a:p>
                  </a:txBody>
                  <a:tcPr/>
                </a:tc>
                <a:tc>
                  <a:txBody>
                    <a:bodyPr/>
                    <a:lstStyle/>
                    <a:p>
                      <a:pPr algn="r"/>
                      <a:r>
                        <a:rPr lang="en-GB" dirty="0">
                          <a:latin typeface="Lucida Sans" panose="020B0602030504020204" pitchFamily="34" charset="0"/>
                        </a:rPr>
                        <a:t>0.732</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female</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de-DE" dirty="0">
                          <a:latin typeface="Lucida Sans" panose="020B0602030504020204" pitchFamily="34" charset="0"/>
                        </a:rPr>
                        <a:t>34</a:t>
                      </a:r>
                      <a:endParaRPr lang="en-GB" dirty="0">
                        <a:solidFill>
                          <a:schemeClr val="tx1">
                            <a:lumMod val="75000"/>
                            <a:lumOff val="25000"/>
                          </a:schemeClr>
                        </a:solidFill>
                        <a:latin typeface="Lucida Sans" panose="020B0602030504020204" pitchFamily="34" charset="0"/>
                      </a:endParaRPr>
                    </a:p>
                  </a:txBody>
                  <a:tcPr/>
                </a:tc>
                <a:tc>
                  <a:txBody>
                    <a:bodyPr/>
                    <a:lstStyle/>
                    <a:p>
                      <a:pPr algn="r"/>
                      <a:r>
                        <a:rPr lang="en-GB" dirty="0">
                          <a:latin typeface="Lucida Sans" panose="020B0602030504020204" pitchFamily="34" charset="0"/>
                        </a:rPr>
                        <a:t>970</a:t>
                      </a:r>
                      <a:endParaRPr lang="en-GB" dirty="0">
                        <a:solidFill>
                          <a:schemeClr val="tx1">
                            <a:lumMod val="75000"/>
                            <a:lumOff val="25000"/>
                          </a:schemeClr>
                        </a:solidFill>
                        <a:latin typeface="Lucida Sans" panose="020B0602030504020204" pitchFamily="34" charset="0"/>
                      </a:endParaRPr>
                    </a:p>
                  </a:txBody>
                  <a:tcPr/>
                </a:tc>
                <a:extLst>
                  <a:ext uri="{0D108BD9-81ED-4DB2-BD59-A6C34878D82A}">
                    <a16:rowId xmlns:a16="http://schemas.microsoft.com/office/drawing/2014/main" val="2541638592"/>
                  </a:ext>
                </a:extLst>
              </a:tr>
            </a:tbl>
          </a:graphicData>
        </a:graphic>
      </p:graphicFrame>
      <p:sp>
        <p:nvSpPr>
          <p:cNvPr id="8" name="Textfeld 2">
            <a:extLst>
              <a:ext uri="{FF2B5EF4-FFF2-40B4-BE49-F238E27FC236}">
                <a16:creationId xmlns:a16="http://schemas.microsoft.com/office/drawing/2014/main" id="{D35950D5-8AD3-1840-875D-BE49520F418C}"/>
              </a:ext>
            </a:extLst>
          </p:cNvPr>
          <p:cNvSpPr txBox="1"/>
          <p:nvPr/>
        </p:nvSpPr>
        <p:spPr>
          <a:xfrm>
            <a:off x="1522936" y="2092132"/>
            <a:ext cx="3222611" cy="523220"/>
          </a:xfrm>
          <a:prstGeom prst="rect">
            <a:avLst/>
          </a:prstGeom>
          <a:noFill/>
        </p:spPr>
        <p:txBody>
          <a:bodyPr wrap="square" rtlCol="0">
            <a:spAutoFit/>
          </a:bodyPr>
          <a:lstStyle/>
          <a:p>
            <a:r>
              <a:rPr lang="en-GB" sz="2800" dirty="0">
                <a:latin typeface="Lucida Sans" panose="020B0602030504020204" pitchFamily="34" charset="0"/>
              </a:rPr>
              <a:t>Raw data</a:t>
            </a:r>
          </a:p>
        </p:txBody>
      </p:sp>
      <p:sp>
        <p:nvSpPr>
          <p:cNvPr id="9" name="Pfeil: nach rechts gekrümmt 14">
            <a:extLst>
              <a:ext uri="{FF2B5EF4-FFF2-40B4-BE49-F238E27FC236}">
                <a16:creationId xmlns:a16="http://schemas.microsoft.com/office/drawing/2014/main" id="{5FFC6744-B713-C249-ADBF-61BCB6C6053F}"/>
              </a:ext>
            </a:extLst>
          </p:cNvPr>
          <p:cNvSpPr/>
          <p:nvPr/>
        </p:nvSpPr>
        <p:spPr>
          <a:xfrm flipV="1">
            <a:off x="1306910" y="3759345"/>
            <a:ext cx="771295" cy="792088"/>
          </a:xfrm>
          <a:prstGeom prst="curvedRightArrow">
            <a:avLst>
              <a:gd name="adj1" fmla="val 10525"/>
              <a:gd name="adj2" fmla="val 30390"/>
              <a:gd name="adj3" fmla="val 26017"/>
            </a:avLst>
          </a:prstGeom>
          <a:solidFill>
            <a:srgbClr val="00E276"/>
          </a:solidFill>
          <a:ln>
            <a:solidFill>
              <a:srgbClr val="00BA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Pfeil: nach rechts gekrümmt 17">
            <a:extLst>
              <a:ext uri="{FF2B5EF4-FFF2-40B4-BE49-F238E27FC236}">
                <a16:creationId xmlns:a16="http://schemas.microsoft.com/office/drawing/2014/main" id="{9A58E5CA-B085-8048-B0A9-28A7B58D75C6}"/>
              </a:ext>
            </a:extLst>
          </p:cNvPr>
          <p:cNvSpPr/>
          <p:nvPr/>
        </p:nvSpPr>
        <p:spPr>
          <a:xfrm flipV="1">
            <a:off x="1433146" y="4077462"/>
            <a:ext cx="665854" cy="1655794"/>
          </a:xfrm>
          <a:prstGeom prst="curvedRightArrow">
            <a:avLst>
              <a:gd name="adj1" fmla="val 10525"/>
              <a:gd name="adj2" fmla="val 30390"/>
              <a:gd name="adj3" fmla="val 26017"/>
            </a:avLst>
          </a:prstGeom>
          <a:solidFill>
            <a:srgbClr val="00E276"/>
          </a:solidFill>
          <a:ln>
            <a:solidFill>
              <a:srgbClr val="00BA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Pfeil: nach rechts gekrümmt 11">
            <a:extLst>
              <a:ext uri="{FF2B5EF4-FFF2-40B4-BE49-F238E27FC236}">
                <a16:creationId xmlns:a16="http://schemas.microsoft.com/office/drawing/2014/main" id="{1117208F-DC22-184D-997B-05F5AA7F1F96}"/>
              </a:ext>
            </a:extLst>
          </p:cNvPr>
          <p:cNvSpPr/>
          <p:nvPr/>
        </p:nvSpPr>
        <p:spPr>
          <a:xfrm rot="10800000" flipH="1" flipV="1">
            <a:off x="1666951" y="4869160"/>
            <a:ext cx="432047" cy="762392"/>
          </a:xfrm>
          <a:prstGeom prst="curvedRightArrow">
            <a:avLst>
              <a:gd name="adj1" fmla="val 10525"/>
              <a:gd name="adj2" fmla="val 34132"/>
              <a:gd name="adj3" fmla="val 26017"/>
            </a:avLst>
          </a:prstGeom>
          <a:solidFill>
            <a:schemeClr val="accent6">
              <a:lumMod val="40000"/>
              <a:lumOff val="60000"/>
            </a:schemeClr>
          </a:solidFill>
          <a:ln>
            <a:solidFill>
              <a:srgbClr val="FB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 name="Pfeil: nach rechts gekrümmt 12">
            <a:extLst>
              <a:ext uri="{FF2B5EF4-FFF2-40B4-BE49-F238E27FC236}">
                <a16:creationId xmlns:a16="http://schemas.microsoft.com/office/drawing/2014/main" id="{48C1BDBA-45D8-CD46-ADC4-6B81B96C5D08}"/>
              </a:ext>
            </a:extLst>
          </p:cNvPr>
          <p:cNvSpPr/>
          <p:nvPr/>
        </p:nvSpPr>
        <p:spPr>
          <a:xfrm>
            <a:off x="1522936" y="4191391"/>
            <a:ext cx="576064" cy="821785"/>
          </a:xfrm>
          <a:prstGeom prst="curvedRightArrow">
            <a:avLst>
              <a:gd name="adj1" fmla="val 10525"/>
              <a:gd name="adj2" fmla="val 30390"/>
              <a:gd name="adj3" fmla="val 26017"/>
            </a:avLst>
          </a:prstGeom>
          <a:solidFill>
            <a:schemeClr val="accent6">
              <a:lumMod val="40000"/>
              <a:lumOff val="60000"/>
            </a:schemeClr>
          </a:solidFill>
          <a:ln>
            <a:solidFill>
              <a:srgbClr val="FB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Pfeil: nach rechts gekrümmt 15">
            <a:extLst>
              <a:ext uri="{FF2B5EF4-FFF2-40B4-BE49-F238E27FC236}">
                <a16:creationId xmlns:a16="http://schemas.microsoft.com/office/drawing/2014/main" id="{B7976EC0-52D4-1C4B-8C62-26B8982A1482}"/>
              </a:ext>
            </a:extLst>
          </p:cNvPr>
          <p:cNvSpPr/>
          <p:nvPr/>
        </p:nvSpPr>
        <p:spPr>
          <a:xfrm rot="10800000" flipH="1" flipV="1">
            <a:off x="1450928" y="3723573"/>
            <a:ext cx="665853" cy="971876"/>
          </a:xfrm>
          <a:prstGeom prst="curvedRightArrow">
            <a:avLst>
              <a:gd name="adj1" fmla="val 10525"/>
              <a:gd name="adj2" fmla="val 30207"/>
              <a:gd name="adj3" fmla="val 26017"/>
            </a:avLst>
          </a:prstGeom>
          <a:solidFill>
            <a:srgbClr val="00E276"/>
          </a:solidFill>
          <a:ln>
            <a:solidFill>
              <a:srgbClr val="00BA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4451724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lstStyle/>
          <a:p>
            <a:endParaRPr lang="en-US"/>
          </a:p>
        </p:txBody>
      </p:sp>
      <p:sp>
        <p:nvSpPr>
          <p:cNvPr id="7" name="Title 1">
            <a:extLst>
              <a:ext uri="{FF2B5EF4-FFF2-40B4-BE49-F238E27FC236}">
                <a16:creationId xmlns:a16="http://schemas.microsoft.com/office/drawing/2014/main" id="{5E96864C-21BE-A044-9A9F-F4CBA45855CD}"/>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lumMod val="95000"/>
                    <a:lumOff val="5000"/>
                  </a:schemeClr>
                </a:solidFill>
              </a:rPr>
              <a:t>Scenario 2: Blinding</a:t>
            </a:r>
          </a:p>
        </p:txBody>
      </p:sp>
      <p:graphicFrame>
        <p:nvGraphicFramePr>
          <p:cNvPr id="6" name="Tabelle 16">
            <a:extLst>
              <a:ext uri="{FF2B5EF4-FFF2-40B4-BE49-F238E27FC236}">
                <a16:creationId xmlns:a16="http://schemas.microsoft.com/office/drawing/2014/main" id="{8A4D3C14-9762-1A45-B0D7-B9463A4A7703}"/>
              </a:ext>
            </a:extLst>
          </p:cNvPr>
          <p:cNvGraphicFramePr>
            <a:graphicFrameLocks noGrp="1"/>
          </p:cNvGraphicFramePr>
          <p:nvPr>
            <p:extLst>
              <p:ext uri="{D42A27DB-BD31-4B8C-83A1-F6EECF244321}">
                <p14:modId xmlns:p14="http://schemas.microsoft.com/office/powerpoint/2010/main" val="1882673394"/>
              </p:ext>
            </p:extLst>
          </p:nvPr>
        </p:nvGraphicFramePr>
        <p:xfrm>
          <a:off x="1920869" y="2719388"/>
          <a:ext cx="7632847" cy="3108960"/>
        </p:xfrm>
        <a:graphic>
          <a:graphicData uri="http://schemas.openxmlformats.org/drawingml/2006/table">
            <a:tbl>
              <a:tblPr firstRow="1" bandRow="1">
                <a:tableStyleId>{93296810-A885-4BE3-A3E7-6D5BEEA58F35}</a:tableStyleId>
              </a:tblPr>
              <a:tblGrid>
                <a:gridCol w="2507636">
                  <a:extLst>
                    <a:ext uri="{9D8B030D-6E8A-4147-A177-3AD203B41FA5}">
                      <a16:colId xmlns:a16="http://schemas.microsoft.com/office/drawing/2014/main" val="4155399873"/>
                    </a:ext>
                  </a:extLst>
                </a:gridCol>
                <a:gridCol w="1805543">
                  <a:extLst>
                    <a:ext uri="{9D8B030D-6E8A-4147-A177-3AD203B41FA5}">
                      <a16:colId xmlns:a16="http://schemas.microsoft.com/office/drawing/2014/main" val="18854214"/>
                    </a:ext>
                  </a:extLst>
                </a:gridCol>
                <a:gridCol w="1106556">
                  <a:extLst>
                    <a:ext uri="{9D8B030D-6E8A-4147-A177-3AD203B41FA5}">
                      <a16:colId xmlns:a16="http://schemas.microsoft.com/office/drawing/2014/main" val="3972986864"/>
                    </a:ext>
                  </a:extLst>
                </a:gridCol>
                <a:gridCol w="1106556">
                  <a:extLst>
                    <a:ext uri="{9D8B030D-6E8A-4147-A177-3AD203B41FA5}">
                      <a16:colId xmlns:a16="http://schemas.microsoft.com/office/drawing/2014/main" val="488937303"/>
                    </a:ext>
                  </a:extLst>
                </a:gridCol>
                <a:gridCol w="1106556">
                  <a:extLst>
                    <a:ext uri="{9D8B030D-6E8A-4147-A177-3AD203B41FA5}">
                      <a16:colId xmlns:a16="http://schemas.microsoft.com/office/drawing/2014/main" val="1233733274"/>
                    </a:ext>
                  </a:extLst>
                </a:gridCol>
              </a:tblGrid>
              <a:tr h="259229">
                <a:tc>
                  <a:txBody>
                    <a:bodyPr/>
                    <a:lstStyle/>
                    <a:p>
                      <a:pPr algn="ctr"/>
                      <a:r>
                        <a:rPr lang="de-DE" dirty="0">
                          <a:latin typeface="Lucida Sans" panose="020B0602030504020204" pitchFamily="34" charset="0"/>
                        </a:rPr>
                        <a:t># Facebook </a:t>
                      </a:r>
                      <a:r>
                        <a:rPr lang="de-DE" dirty="0" err="1">
                          <a:latin typeface="Lucida Sans" panose="020B0602030504020204" pitchFamily="34" charset="0"/>
                        </a:rPr>
                        <a:t>friends</a:t>
                      </a:r>
                      <a:r>
                        <a:rPr lang="de-DE" dirty="0">
                          <a:latin typeface="Lucida Sans" panose="020B0602030504020204" pitchFamily="34" charset="0"/>
                        </a:rPr>
                        <a:t> </a:t>
                      </a:r>
                      <a:endParaRPr lang="en-GB" dirty="0">
                        <a:latin typeface="Lucida Sans" panose="020B0602030504020204" pitchFamily="34" charset="0"/>
                      </a:endParaRPr>
                    </a:p>
                  </a:txBody>
                  <a:tcPr/>
                </a:tc>
                <a:tc>
                  <a:txBody>
                    <a:bodyPr/>
                    <a:lstStyle/>
                    <a:p>
                      <a:pPr algn="ctr"/>
                      <a:r>
                        <a:rPr lang="de-DE" dirty="0">
                          <a:latin typeface="Lucida Sans" panose="020B0602030504020204" pitchFamily="34" charset="0"/>
                        </a:rPr>
                        <a:t>Amygdala </a:t>
                      </a:r>
                      <a:r>
                        <a:rPr lang="de-DE" dirty="0" err="1">
                          <a:latin typeface="Lucida Sans" panose="020B0602030504020204" pitchFamily="34" charset="0"/>
                        </a:rPr>
                        <a:t>size</a:t>
                      </a:r>
                      <a:endParaRPr lang="en-GB" dirty="0">
                        <a:latin typeface="Lucida Sans" panose="020B0602030504020204" pitchFamily="34" charset="0"/>
                      </a:endParaRPr>
                    </a:p>
                  </a:txBody>
                  <a:tcPr>
                    <a:solidFill>
                      <a:schemeClr val="accent5"/>
                    </a:solidFill>
                  </a:tcPr>
                </a:tc>
                <a:tc>
                  <a:txBody>
                    <a:bodyPr/>
                    <a:lstStyle/>
                    <a:p>
                      <a:pPr algn="ctr"/>
                      <a:r>
                        <a:rPr lang="en-GB" dirty="0">
                          <a:latin typeface="Lucida Sans" panose="020B0602030504020204" pitchFamily="34" charset="0"/>
                        </a:rPr>
                        <a:t>Gender</a:t>
                      </a:r>
                    </a:p>
                  </a:txBody>
                  <a:tcPr>
                    <a:solidFill>
                      <a:schemeClr val="accent5"/>
                    </a:solidFill>
                  </a:tcPr>
                </a:tc>
                <a:tc>
                  <a:txBody>
                    <a:bodyPr/>
                    <a:lstStyle/>
                    <a:p>
                      <a:pPr algn="ctr"/>
                      <a:r>
                        <a:rPr lang="de-DE" dirty="0">
                          <a:latin typeface="Lucida Sans" panose="020B0602030504020204" pitchFamily="34" charset="0"/>
                        </a:rPr>
                        <a:t>Age</a:t>
                      </a:r>
                      <a:endParaRPr lang="en-GB" dirty="0">
                        <a:latin typeface="Lucida Sans" panose="020B0602030504020204" pitchFamily="34" charset="0"/>
                      </a:endParaRPr>
                    </a:p>
                  </a:txBody>
                  <a:tcPr>
                    <a:solidFill>
                      <a:schemeClr val="accent5"/>
                    </a:solidFill>
                  </a:tcPr>
                </a:tc>
                <a:tc>
                  <a:txBody>
                    <a:bodyPr/>
                    <a:lstStyle/>
                    <a:p>
                      <a:pPr algn="ctr"/>
                      <a:r>
                        <a:rPr lang="en-GB" dirty="0" err="1">
                          <a:latin typeface="Lucida Sans" panose="020B0602030504020204" pitchFamily="34" charset="0"/>
                        </a:rPr>
                        <a:t>Overal</a:t>
                      </a:r>
                      <a:r>
                        <a:rPr lang="en-GB" dirty="0">
                          <a:latin typeface="Lucida Sans" panose="020B0602030504020204" pitchFamily="34" charset="0"/>
                        </a:rPr>
                        <a:t> Brain volume</a:t>
                      </a:r>
                    </a:p>
                  </a:txBody>
                  <a:tcPr>
                    <a:solidFill>
                      <a:schemeClr val="accent5"/>
                    </a:solidFill>
                  </a:tcPr>
                </a:tc>
                <a:extLst>
                  <a:ext uri="{0D108BD9-81ED-4DB2-BD59-A6C34878D82A}">
                    <a16:rowId xmlns:a16="http://schemas.microsoft.com/office/drawing/2014/main" val="1079951947"/>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rgbClr val="D8670A"/>
                          </a:solidFill>
                          <a:latin typeface="Lucida Sans" panose="020B0602030504020204" pitchFamily="34" charset="0"/>
                        </a:rPr>
                        <a:t>84</a:t>
                      </a:r>
                    </a:p>
                  </a:txBody>
                  <a:tcPr/>
                </a:tc>
                <a:tc>
                  <a:txBody>
                    <a:bodyPr/>
                    <a:lstStyle/>
                    <a:p>
                      <a:pPr algn="r"/>
                      <a:r>
                        <a:rPr lang="en-GB" dirty="0">
                          <a:latin typeface="Lucida Sans" panose="020B0602030504020204" pitchFamily="34" charset="0"/>
                        </a:rPr>
                        <a:t>0.655</a:t>
                      </a:r>
                      <a:endParaRPr lang="en-GB" dirty="0">
                        <a:solidFill>
                          <a:schemeClr val="tx1">
                            <a:lumMod val="75000"/>
                            <a:lumOff val="25000"/>
                          </a:schemeClr>
                        </a:solidFill>
                        <a:latin typeface="Lucida Sans" panose="020B0602030504020204" pitchFamily="34" charset="0"/>
                      </a:endParaRPr>
                    </a:p>
                  </a:txBody>
                  <a:tcPr>
                    <a:solidFill>
                      <a:schemeClr val="accent1">
                        <a:lumMod val="40000"/>
                        <a:lumOff val="60000"/>
                      </a:schemeClr>
                    </a:solidFill>
                  </a:tcPr>
                </a:tc>
                <a:tc>
                  <a:txBody>
                    <a:bodyPr/>
                    <a:lstStyle/>
                    <a:p>
                      <a:pPr algn="r"/>
                      <a:r>
                        <a:rPr lang="en-GB" dirty="0">
                          <a:solidFill>
                            <a:schemeClr val="bg1"/>
                          </a:solidFill>
                          <a:latin typeface="Lucida Sans" panose="020B0602030504020204" pitchFamily="34" charset="0"/>
                        </a:rPr>
                        <a:t>male</a:t>
                      </a:r>
                    </a:p>
                  </a:txBody>
                  <a:tcPr>
                    <a:solidFill>
                      <a:schemeClr val="accent1">
                        <a:lumMod val="40000"/>
                        <a:lumOff val="60000"/>
                      </a:schemeClr>
                    </a:solidFill>
                  </a:tcPr>
                </a:tc>
                <a:tc>
                  <a:txBody>
                    <a:bodyPr/>
                    <a:lstStyle/>
                    <a:p>
                      <a:pPr algn="r"/>
                      <a:r>
                        <a:rPr lang="de-DE" dirty="0">
                          <a:solidFill>
                            <a:schemeClr val="bg1"/>
                          </a:solidFill>
                          <a:latin typeface="Lucida Sans" panose="020B0602030504020204" pitchFamily="34" charset="0"/>
                        </a:rPr>
                        <a:t>28</a:t>
                      </a:r>
                      <a:endParaRPr lang="en-GB" dirty="0">
                        <a:solidFill>
                          <a:schemeClr val="bg1"/>
                        </a:solidFill>
                        <a:latin typeface="Lucida Sans" panose="020B0602030504020204" pitchFamily="34" charset="0"/>
                      </a:endParaRPr>
                    </a:p>
                  </a:txBody>
                  <a:tcPr>
                    <a:solidFill>
                      <a:schemeClr val="accent1">
                        <a:lumMod val="40000"/>
                        <a:lumOff val="60000"/>
                      </a:schemeClr>
                    </a:solidFill>
                  </a:tcPr>
                </a:tc>
                <a:tc>
                  <a:txBody>
                    <a:bodyPr/>
                    <a:lstStyle/>
                    <a:p>
                      <a:pPr algn="r"/>
                      <a:r>
                        <a:rPr lang="en-GB" dirty="0">
                          <a:latin typeface="Lucida Sans" panose="020B0602030504020204" pitchFamily="34" charset="0"/>
                        </a:rPr>
                        <a:t>1238</a:t>
                      </a:r>
                      <a:endParaRPr lang="en-GB" dirty="0">
                        <a:solidFill>
                          <a:schemeClr val="tx1">
                            <a:lumMod val="75000"/>
                            <a:lumOff val="25000"/>
                          </a:schemeClr>
                        </a:solidFill>
                        <a:latin typeface="Lucida Sans" panose="020B0602030504020204" pitchFamily="34" charset="0"/>
                      </a:endParaRPr>
                    </a:p>
                  </a:txBody>
                  <a:tcPr>
                    <a:solidFill>
                      <a:schemeClr val="accent1">
                        <a:lumMod val="40000"/>
                        <a:lumOff val="60000"/>
                      </a:schemeClr>
                    </a:solidFill>
                  </a:tcPr>
                </a:tc>
                <a:extLst>
                  <a:ext uri="{0D108BD9-81ED-4DB2-BD59-A6C34878D82A}">
                    <a16:rowId xmlns:a16="http://schemas.microsoft.com/office/drawing/2014/main" val="3831481541"/>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rgbClr val="D8670A"/>
                          </a:solidFill>
                          <a:latin typeface="Lucida Sans" panose="020B0602030504020204" pitchFamily="34" charset="0"/>
                        </a:rPr>
                        <a:t>356</a:t>
                      </a:r>
                    </a:p>
                  </a:txBody>
                  <a:tcPr/>
                </a:tc>
                <a:tc>
                  <a:txBody>
                    <a:bodyPr/>
                    <a:lstStyle/>
                    <a:p>
                      <a:pPr algn="r"/>
                      <a:r>
                        <a:rPr lang="en-GB" dirty="0">
                          <a:latin typeface="Lucida Sans" panose="020B0602030504020204" pitchFamily="34" charset="0"/>
                        </a:rPr>
                        <a:t>0.680</a:t>
                      </a:r>
                      <a:endParaRPr lang="en-GB" dirty="0">
                        <a:solidFill>
                          <a:schemeClr val="tx1">
                            <a:lumMod val="75000"/>
                            <a:lumOff val="25000"/>
                          </a:schemeClr>
                        </a:solidFill>
                        <a:latin typeface="Lucida Sans" panose="020B0602030504020204" pitchFamily="34" charset="0"/>
                      </a:endParaRPr>
                    </a:p>
                  </a:txBody>
                  <a:tcPr>
                    <a:solidFill>
                      <a:schemeClr val="accent1">
                        <a:lumMod val="20000"/>
                        <a:lumOff val="80000"/>
                      </a:schemeClr>
                    </a:solidFill>
                  </a:tcPr>
                </a:tc>
                <a:tc>
                  <a:txBody>
                    <a:bodyPr/>
                    <a:lstStyle/>
                    <a:p>
                      <a:pPr algn="r"/>
                      <a:r>
                        <a:rPr lang="en-GB" dirty="0">
                          <a:solidFill>
                            <a:schemeClr val="bg1"/>
                          </a:solidFill>
                          <a:latin typeface="Lucida Sans" panose="020B0602030504020204" pitchFamily="34" charset="0"/>
                        </a:rPr>
                        <a:t>male</a:t>
                      </a:r>
                    </a:p>
                  </a:txBody>
                  <a:tcPr>
                    <a:solidFill>
                      <a:schemeClr val="accent1">
                        <a:lumMod val="20000"/>
                        <a:lumOff val="80000"/>
                      </a:schemeClr>
                    </a:solidFill>
                  </a:tcPr>
                </a:tc>
                <a:tc>
                  <a:txBody>
                    <a:bodyPr/>
                    <a:lstStyle/>
                    <a:p>
                      <a:pPr algn="r"/>
                      <a:r>
                        <a:rPr lang="de-DE" dirty="0">
                          <a:solidFill>
                            <a:schemeClr val="bg1"/>
                          </a:solidFill>
                          <a:latin typeface="Lucida Sans" panose="020B0602030504020204" pitchFamily="34" charset="0"/>
                        </a:rPr>
                        <a:t>35</a:t>
                      </a:r>
                      <a:endParaRPr lang="en-GB" dirty="0">
                        <a:solidFill>
                          <a:schemeClr val="bg1"/>
                        </a:solidFill>
                        <a:latin typeface="Lucida Sans" panose="020B0602030504020204" pitchFamily="34" charset="0"/>
                      </a:endParaRPr>
                    </a:p>
                  </a:txBody>
                  <a:tcPr>
                    <a:solidFill>
                      <a:schemeClr val="accent1">
                        <a:lumMod val="20000"/>
                        <a:lumOff val="80000"/>
                      </a:schemeClr>
                    </a:solidFill>
                  </a:tcPr>
                </a:tc>
                <a:tc>
                  <a:txBody>
                    <a:bodyPr/>
                    <a:lstStyle/>
                    <a:p>
                      <a:pPr algn="r"/>
                      <a:r>
                        <a:rPr lang="en-GB" dirty="0">
                          <a:latin typeface="Lucida Sans" panose="020B0602030504020204" pitchFamily="34" charset="0"/>
                        </a:rPr>
                        <a:t>1386</a:t>
                      </a:r>
                      <a:endParaRPr lang="en-GB" dirty="0">
                        <a:solidFill>
                          <a:schemeClr val="tx1">
                            <a:lumMod val="75000"/>
                            <a:lumOff val="25000"/>
                          </a:schemeClr>
                        </a:solidFill>
                        <a:latin typeface="Lucida Sans" panose="020B0602030504020204" pitchFamily="34" charset="0"/>
                      </a:endParaRPr>
                    </a:p>
                  </a:txBody>
                  <a:tcPr>
                    <a:solidFill>
                      <a:schemeClr val="accent1">
                        <a:lumMod val="20000"/>
                        <a:lumOff val="80000"/>
                      </a:schemeClr>
                    </a:solidFill>
                  </a:tcPr>
                </a:tc>
                <a:extLst>
                  <a:ext uri="{0D108BD9-81ED-4DB2-BD59-A6C34878D82A}">
                    <a16:rowId xmlns:a16="http://schemas.microsoft.com/office/drawing/2014/main" val="3217501213"/>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rgbClr val="D8670A"/>
                          </a:solidFill>
                          <a:latin typeface="Lucida Sans" panose="020B0602030504020204" pitchFamily="34" charset="0"/>
                        </a:rPr>
                        <a:t>190</a:t>
                      </a:r>
                    </a:p>
                  </a:txBody>
                  <a:tcPr/>
                </a:tc>
                <a:tc>
                  <a:txBody>
                    <a:bodyPr/>
                    <a:lstStyle/>
                    <a:p>
                      <a:pPr algn="r"/>
                      <a:r>
                        <a:rPr lang="en-GB" dirty="0">
                          <a:latin typeface="Lucida Sans" panose="020B0602030504020204" pitchFamily="34" charset="0"/>
                        </a:rPr>
                        <a:t>0.647</a:t>
                      </a:r>
                      <a:endParaRPr lang="en-GB" dirty="0">
                        <a:solidFill>
                          <a:schemeClr val="tx1">
                            <a:lumMod val="75000"/>
                            <a:lumOff val="25000"/>
                          </a:schemeClr>
                        </a:solidFill>
                        <a:latin typeface="Lucida Sans" panose="020B0602030504020204" pitchFamily="34" charset="0"/>
                      </a:endParaRPr>
                    </a:p>
                  </a:txBody>
                  <a:tcPr>
                    <a:solidFill>
                      <a:schemeClr val="accent1">
                        <a:lumMod val="40000"/>
                        <a:lumOff val="60000"/>
                      </a:schemeClr>
                    </a:solidFill>
                  </a:tcPr>
                </a:tc>
                <a:tc>
                  <a:txBody>
                    <a:bodyPr/>
                    <a:lstStyle/>
                    <a:p>
                      <a:pPr algn="r"/>
                      <a:r>
                        <a:rPr lang="en-GB" dirty="0">
                          <a:solidFill>
                            <a:schemeClr val="bg1"/>
                          </a:solidFill>
                          <a:latin typeface="Lucida Sans" panose="020B0602030504020204" pitchFamily="34" charset="0"/>
                        </a:rPr>
                        <a:t>female</a:t>
                      </a:r>
                    </a:p>
                  </a:txBody>
                  <a:tcPr>
                    <a:solidFill>
                      <a:schemeClr val="accent1">
                        <a:lumMod val="40000"/>
                        <a:lumOff val="60000"/>
                      </a:schemeClr>
                    </a:solidFill>
                  </a:tcPr>
                </a:tc>
                <a:tc>
                  <a:txBody>
                    <a:bodyPr/>
                    <a:lstStyle/>
                    <a:p>
                      <a:pPr algn="r"/>
                      <a:r>
                        <a:rPr lang="de-DE" dirty="0">
                          <a:solidFill>
                            <a:schemeClr val="bg1"/>
                          </a:solidFill>
                          <a:latin typeface="Lucida Sans" panose="020B0602030504020204" pitchFamily="34" charset="0"/>
                        </a:rPr>
                        <a:t>18</a:t>
                      </a:r>
                      <a:endParaRPr lang="en-GB" dirty="0">
                        <a:solidFill>
                          <a:schemeClr val="bg1"/>
                        </a:solidFill>
                        <a:latin typeface="Lucida Sans" panose="020B0602030504020204" pitchFamily="34" charset="0"/>
                      </a:endParaRPr>
                    </a:p>
                  </a:txBody>
                  <a:tcPr>
                    <a:solidFill>
                      <a:schemeClr val="accent1">
                        <a:lumMod val="40000"/>
                        <a:lumOff val="60000"/>
                      </a:schemeClr>
                    </a:solidFill>
                  </a:tcPr>
                </a:tc>
                <a:tc>
                  <a:txBody>
                    <a:bodyPr/>
                    <a:lstStyle/>
                    <a:p>
                      <a:pPr algn="r"/>
                      <a:r>
                        <a:rPr lang="en-GB" dirty="0">
                          <a:latin typeface="Lucida Sans" panose="020B0602030504020204" pitchFamily="34" charset="0"/>
                        </a:rPr>
                        <a:t>1176</a:t>
                      </a:r>
                      <a:endParaRPr lang="en-GB" dirty="0">
                        <a:solidFill>
                          <a:schemeClr val="tx1">
                            <a:lumMod val="75000"/>
                            <a:lumOff val="25000"/>
                          </a:schemeClr>
                        </a:solidFill>
                        <a:latin typeface="Lucida Sans" panose="020B0602030504020204" pitchFamily="34" charset="0"/>
                      </a:endParaRPr>
                    </a:p>
                  </a:txBody>
                  <a:tcPr>
                    <a:solidFill>
                      <a:schemeClr val="accent1">
                        <a:lumMod val="40000"/>
                        <a:lumOff val="60000"/>
                      </a:schemeClr>
                    </a:solidFill>
                  </a:tcPr>
                </a:tc>
                <a:extLst>
                  <a:ext uri="{0D108BD9-81ED-4DB2-BD59-A6C34878D82A}">
                    <a16:rowId xmlns:a16="http://schemas.microsoft.com/office/drawing/2014/main" val="1345791065"/>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rgbClr val="D8670A"/>
                          </a:solidFill>
                          <a:latin typeface="Lucida Sans" panose="020B0602030504020204" pitchFamily="34" charset="0"/>
                        </a:rPr>
                        <a:t>232</a:t>
                      </a:r>
                    </a:p>
                  </a:txBody>
                  <a:tcPr/>
                </a:tc>
                <a:tc>
                  <a:txBody>
                    <a:bodyPr/>
                    <a:lstStyle/>
                    <a:p>
                      <a:pPr algn="r"/>
                      <a:r>
                        <a:rPr lang="en-GB" dirty="0">
                          <a:latin typeface="Lucida Sans" panose="020B0602030504020204" pitchFamily="34" charset="0"/>
                        </a:rPr>
                        <a:t>0.698</a:t>
                      </a:r>
                      <a:endParaRPr lang="en-GB" dirty="0">
                        <a:solidFill>
                          <a:schemeClr val="tx1">
                            <a:lumMod val="75000"/>
                            <a:lumOff val="25000"/>
                          </a:schemeClr>
                        </a:solidFill>
                        <a:latin typeface="Lucida Sans" panose="020B0602030504020204" pitchFamily="34" charset="0"/>
                      </a:endParaRPr>
                    </a:p>
                  </a:txBody>
                  <a:tcPr>
                    <a:solidFill>
                      <a:schemeClr val="accent1">
                        <a:lumMod val="20000"/>
                        <a:lumOff val="80000"/>
                      </a:schemeClr>
                    </a:solidFill>
                  </a:tcPr>
                </a:tc>
                <a:tc>
                  <a:txBody>
                    <a:bodyPr/>
                    <a:lstStyle/>
                    <a:p>
                      <a:pPr algn="r"/>
                      <a:r>
                        <a:rPr lang="en-GB" dirty="0">
                          <a:solidFill>
                            <a:schemeClr val="bg1"/>
                          </a:solidFill>
                          <a:latin typeface="Lucida Sans" panose="020B0602030504020204" pitchFamily="34" charset="0"/>
                        </a:rPr>
                        <a:t>male</a:t>
                      </a:r>
                    </a:p>
                  </a:txBody>
                  <a:tcPr>
                    <a:solidFill>
                      <a:schemeClr val="accent1">
                        <a:lumMod val="20000"/>
                        <a:lumOff val="80000"/>
                      </a:schemeClr>
                    </a:solidFill>
                  </a:tcPr>
                </a:tc>
                <a:tc>
                  <a:txBody>
                    <a:bodyPr/>
                    <a:lstStyle/>
                    <a:p>
                      <a:pPr algn="r"/>
                      <a:r>
                        <a:rPr lang="de-DE" dirty="0">
                          <a:solidFill>
                            <a:schemeClr val="bg1"/>
                          </a:solidFill>
                          <a:latin typeface="Lucida Sans" panose="020B0602030504020204" pitchFamily="34" charset="0"/>
                        </a:rPr>
                        <a:t>20</a:t>
                      </a:r>
                      <a:endParaRPr lang="en-GB" dirty="0">
                        <a:solidFill>
                          <a:schemeClr val="bg1"/>
                        </a:solidFill>
                        <a:latin typeface="Lucida Sans" panose="020B0602030504020204" pitchFamily="34" charset="0"/>
                      </a:endParaRPr>
                    </a:p>
                  </a:txBody>
                  <a:tcPr>
                    <a:solidFill>
                      <a:schemeClr val="accent1">
                        <a:lumMod val="20000"/>
                        <a:lumOff val="80000"/>
                      </a:schemeClr>
                    </a:solidFill>
                  </a:tcPr>
                </a:tc>
                <a:tc>
                  <a:txBody>
                    <a:bodyPr/>
                    <a:lstStyle/>
                    <a:p>
                      <a:pPr algn="r"/>
                      <a:r>
                        <a:rPr lang="en-GB" dirty="0">
                          <a:latin typeface="Lucida Sans" panose="020B0602030504020204" pitchFamily="34" charset="0"/>
                        </a:rPr>
                        <a:t>1172</a:t>
                      </a:r>
                      <a:endParaRPr lang="en-GB" dirty="0">
                        <a:solidFill>
                          <a:schemeClr val="tx1">
                            <a:lumMod val="75000"/>
                            <a:lumOff val="25000"/>
                          </a:schemeClr>
                        </a:solidFill>
                        <a:latin typeface="Lucida Sans" panose="020B0602030504020204" pitchFamily="34" charset="0"/>
                      </a:endParaRPr>
                    </a:p>
                  </a:txBody>
                  <a:tcPr>
                    <a:solidFill>
                      <a:schemeClr val="accent1">
                        <a:lumMod val="20000"/>
                        <a:lumOff val="80000"/>
                      </a:schemeClr>
                    </a:solidFill>
                  </a:tcPr>
                </a:tc>
                <a:extLst>
                  <a:ext uri="{0D108BD9-81ED-4DB2-BD59-A6C34878D82A}">
                    <a16:rowId xmlns:a16="http://schemas.microsoft.com/office/drawing/2014/main" val="1050286898"/>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rgbClr val="D8670A"/>
                          </a:solidFill>
                          <a:latin typeface="Lucida Sans" panose="020B0602030504020204" pitchFamily="34" charset="0"/>
                        </a:rPr>
                        <a:t>138</a:t>
                      </a:r>
                    </a:p>
                  </a:txBody>
                  <a:tcPr/>
                </a:tc>
                <a:tc>
                  <a:txBody>
                    <a:bodyPr/>
                    <a:lstStyle/>
                    <a:p>
                      <a:pPr algn="r"/>
                      <a:r>
                        <a:rPr lang="en-GB" dirty="0">
                          <a:latin typeface="Lucida Sans" panose="020B0602030504020204" pitchFamily="34" charset="0"/>
                        </a:rPr>
                        <a:t>0.699</a:t>
                      </a:r>
                      <a:endParaRPr lang="en-GB" dirty="0">
                        <a:solidFill>
                          <a:schemeClr val="tx1">
                            <a:lumMod val="75000"/>
                            <a:lumOff val="25000"/>
                          </a:schemeClr>
                        </a:solidFill>
                        <a:latin typeface="Lucida Sans" panose="020B0602030504020204" pitchFamily="34" charset="0"/>
                      </a:endParaRPr>
                    </a:p>
                  </a:txBody>
                  <a:tcPr>
                    <a:solidFill>
                      <a:schemeClr val="accent1">
                        <a:lumMod val="40000"/>
                        <a:lumOff val="60000"/>
                      </a:schemeClr>
                    </a:solidFill>
                  </a:tcPr>
                </a:tc>
                <a:tc>
                  <a:txBody>
                    <a:bodyPr/>
                    <a:lstStyle/>
                    <a:p>
                      <a:pPr algn="r"/>
                      <a:r>
                        <a:rPr lang="en-GB" dirty="0">
                          <a:solidFill>
                            <a:schemeClr val="bg1"/>
                          </a:solidFill>
                          <a:latin typeface="Lucida Sans" panose="020B0602030504020204" pitchFamily="34" charset="0"/>
                        </a:rPr>
                        <a:t>female</a:t>
                      </a:r>
                    </a:p>
                  </a:txBody>
                  <a:tcPr>
                    <a:solidFill>
                      <a:schemeClr val="accent1">
                        <a:lumMod val="40000"/>
                        <a:lumOff val="60000"/>
                      </a:schemeClr>
                    </a:solidFill>
                  </a:tcPr>
                </a:tc>
                <a:tc>
                  <a:txBody>
                    <a:bodyPr/>
                    <a:lstStyle/>
                    <a:p>
                      <a:pPr algn="r"/>
                      <a:r>
                        <a:rPr lang="de-DE" dirty="0">
                          <a:solidFill>
                            <a:schemeClr val="bg1"/>
                          </a:solidFill>
                          <a:latin typeface="Lucida Sans" panose="020B0602030504020204" pitchFamily="34" charset="0"/>
                        </a:rPr>
                        <a:t>27</a:t>
                      </a:r>
                      <a:endParaRPr lang="en-GB" dirty="0">
                        <a:solidFill>
                          <a:schemeClr val="bg1"/>
                        </a:solidFill>
                        <a:latin typeface="Lucida Sans" panose="020B0602030504020204" pitchFamily="34" charset="0"/>
                      </a:endParaRPr>
                    </a:p>
                  </a:txBody>
                  <a:tcPr>
                    <a:solidFill>
                      <a:schemeClr val="accent1">
                        <a:lumMod val="40000"/>
                        <a:lumOff val="60000"/>
                      </a:schemeClr>
                    </a:solidFill>
                  </a:tcPr>
                </a:tc>
                <a:tc>
                  <a:txBody>
                    <a:bodyPr/>
                    <a:lstStyle/>
                    <a:p>
                      <a:pPr algn="r"/>
                      <a:r>
                        <a:rPr lang="en-GB" dirty="0">
                          <a:latin typeface="Lucida Sans" panose="020B0602030504020204" pitchFamily="34" charset="0"/>
                        </a:rPr>
                        <a:t>1185 </a:t>
                      </a:r>
                      <a:endParaRPr lang="en-GB" dirty="0">
                        <a:solidFill>
                          <a:schemeClr val="tx1">
                            <a:lumMod val="75000"/>
                            <a:lumOff val="25000"/>
                          </a:schemeClr>
                        </a:solidFill>
                        <a:latin typeface="Lucida Sans" panose="020B0602030504020204" pitchFamily="34" charset="0"/>
                      </a:endParaRPr>
                    </a:p>
                  </a:txBody>
                  <a:tcPr>
                    <a:solidFill>
                      <a:schemeClr val="accent1">
                        <a:lumMod val="40000"/>
                        <a:lumOff val="60000"/>
                      </a:schemeClr>
                    </a:solidFill>
                  </a:tcPr>
                </a:tc>
                <a:extLst>
                  <a:ext uri="{0D108BD9-81ED-4DB2-BD59-A6C34878D82A}">
                    <a16:rowId xmlns:a16="http://schemas.microsoft.com/office/drawing/2014/main" val="2366998799"/>
                  </a:ext>
                </a:extLst>
              </a:tr>
              <a:tr h="2592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rgbClr val="D8670A"/>
                          </a:solidFill>
                          <a:latin typeface="Lucida Sans" panose="020B0602030504020204" pitchFamily="34" charset="0"/>
                        </a:rPr>
                        <a:t>311</a:t>
                      </a:r>
                    </a:p>
                  </a:txBody>
                  <a:tcPr/>
                </a:tc>
                <a:tc>
                  <a:txBody>
                    <a:bodyPr/>
                    <a:lstStyle/>
                    <a:p>
                      <a:pPr algn="r"/>
                      <a:r>
                        <a:rPr lang="en-GB" dirty="0">
                          <a:latin typeface="Lucida Sans" panose="020B0602030504020204" pitchFamily="34" charset="0"/>
                        </a:rPr>
                        <a:t>0.732</a:t>
                      </a:r>
                      <a:endParaRPr lang="en-GB" dirty="0">
                        <a:solidFill>
                          <a:schemeClr val="tx1">
                            <a:lumMod val="75000"/>
                            <a:lumOff val="25000"/>
                          </a:schemeClr>
                        </a:solidFill>
                        <a:latin typeface="Lucida Sans" panose="020B0602030504020204" pitchFamily="34" charset="0"/>
                      </a:endParaRPr>
                    </a:p>
                  </a:txBody>
                  <a:tcPr>
                    <a:solidFill>
                      <a:schemeClr val="accent1">
                        <a:lumMod val="20000"/>
                        <a:lumOff val="80000"/>
                      </a:schemeClr>
                    </a:solidFill>
                  </a:tcPr>
                </a:tc>
                <a:tc>
                  <a:txBody>
                    <a:bodyPr/>
                    <a:lstStyle/>
                    <a:p>
                      <a:pPr algn="r"/>
                      <a:r>
                        <a:rPr lang="en-GB" dirty="0">
                          <a:solidFill>
                            <a:schemeClr val="bg1"/>
                          </a:solidFill>
                          <a:latin typeface="Lucida Sans" panose="020B0602030504020204" pitchFamily="34" charset="0"/>
                        </a:rPr>
                        <a:t>female</a:t>
                      </a:r>
                    </a:p>
                  </a:txBody>
                  <a:tcPr>
                    <a:solidFill>
                      <a:schemeClr val="accent1">
                        <a:lumMod val="20000"/>
                        <a:lumOff val="80000"/>
                      </a:schemeClr>
                    </a:solidFill>
                  </a:tcPr>
                </a:tc>
                <a:tc>
                  <a:txBody>
                    <a:bodyPr/>
                    <a:lstStyle/>
                    <a:p>
                      <a:pPr algn="r"/>
                      <a:r>
                        <a:rPr lang="de-DE" dirty="0">
                          <a:solidFill>
                            <a:schemeClr val="bg1"/>
                          </a:solidFill>
                          <a:latin typeface="Lucida Sans" panose="020B0602030504020204" pitchFamily="34" charset="0"/>
                        </a:rPr>
                        <a:t>34</a:t>
                      </a:r>
                      <a:endParaRPr lang="en-GB" dirty="0">
                        <a:solidFill>
                          <a:schemeClr val="bg1"/>
                        </a:solidFill>
                        <a:latin typeface="Lucida Sans" panose="020B0602030504020204" pitchFamily="34" charset="0"/>
                      </a:endParaRPr>
                    </a:p>
                  </a:txBody>
                  <a:tcPr>
                    <a:solidFill>
                      <a:schemeClr val="accent1">
                        <a:lumMod val="20000"/>
                        <a:lumOff val="80000"/>
                      </a:schemeClr>
                    </a:solidFill>
                  </a:tcPr>
                </a:tc>
                <a:tc>
                  <a:txBody>
                    <a:bodyPr/>
                    <a:lstStyle/>
                    <a:p>
                      <a:pPr algn="r"/>
                      <a:r>
                        <a:rPr lang="en-GB" dirty="0">
                          <a:latin typeface="Lucida Sans" panose="020B0602030504020204" pitchFamily="34" charset="0"/>
                        </a:rPr>
                        <a:t>970</a:t>
                      </a:r>
                      <a:endParaRPr lang="en-GB" dirty="0">
                        <a:solidFill>
                          <a:schemeClr val="tx1">
                            <a:lumMod val="75000"/>
                            <a:lumOff val="25000"/>
                          </a:schemeClr>
                        </a:solidFill>
                        <a:latin typeface="Lucida Sans" panose="020B0602030504020204" pitchFamily="34" charset="0"/>
                      </a:endParaRPr>
                    </a:p>
                  </a:txBody>
                  <a:tcPr>
                    <a:solidFill>
                      <a:schemeClr val="accent1">
                        <a:lumMod val="20000"/>
                        <a:lumOff val="80000"/>
                      </a:schemeClr>
                    </a:solidFill>
                  </a:tcPr>
                </a:tc>
                <a:extLst>
                  <a:ext uri="{0D108BD9-81ED-4DB2-BD59-A6C34878D82A}">
                    <a16:rowId xmlns:a16="http://schemas.microsoft.com/office/drawing/2014/main" val="2541638592"/>
                  </a:ext>
                </a:extLst>
              </a:tr>
            </a:tbl>
          </a:graphicData>
        </a:graphic>
      </p:graphicFrame>
      <p:sp>
        <p:nvSpPr>
          <p:cNvPr id="8" name="Textfeld 2">
            <a:extLst>
              <a:ext uri="{FF2B5EF4-FFF2-40B4-BE49-F238E27FC236}">
                <a16:creationId xmlns:a16="http://schemas.microsoft.com/office/drawing/2014/main" id="{D07900C9-54D4-ED4E-80FA-966D938D9E2B}"/>
              </a:ext>
            </a:extLst>
          </p:cNvPr>
          <p:cNvSpPr txBox="1"/>
          <p:nvPr/>
        </p:nvSpPr>
        <p:spPr>
          <a:xfrm>
            <a:off x="1522936" y="2092132"/>
            <a:ext cx="3222611" cy="523220"/>
          </a:xfrm>
          <a:prstGeom prst="rect">
            <a:avLst/>
          </a:prstGeom>
          <a:noFill/>
        </p:spPr>
        <p:txBody>
          <a:bodyPr wrap="square" rtlCol="0">
            <a:spAutoFit/>
          </a:bodyPr>
          <a:lstStyle/>
          <a:p>
            <a:r>
              <a:rPr lang="en-GB" sz="2800" dirty="0">
                <a:latin typeface="Lucida Sans" panose="020B0602030504020204" pitchFamily="34" charset="0"/>
              </a:rPr>
              <a:t>Blinded data</a:t>
            </a:r>
          </a:p>
        </p:txBody>
      </p:sp>
    </p:spTree>
    <p:extLst>
      <p:ext uri="{BB962C8B-B14F-4D97-AF65-F5344CB8AC3E}">
        <p14:creationId xmlns:p14="http://schemas.microsoft.com/office/powerpoint/2010/main" val="133460601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lstStyle/>
          <a:p>
            <a:endParaRPr lang="en-US"/>
          </a:p>
        </p:txBody>
      </p:sp>
      <p:sp>
        <p:nvSpPr>
          <p:cNvPr id="7" name="Title 1">
            <a:extLst>
              <a:ext uri="{FF2B5EF4-FFF2-40B4-BE49-F238E27FC236}">
                <a16:creationId xmlns:a16="http://schemas.microsoft.com/office/drawing/2014/main" id="{5E96864C-21BE-A044-9A9F-F4CBA45855CD}"/>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lumMod val="95000"/>
                    <a:lumOff val="5000"/>
                  </a:schemeClr>
                </a:solidFill>
              </a:rPr>
              <a:t>Scenario 2: Blinding</a:t>
            </a:r>
          </a:p>
        </p:txBody>
      </p:sp>
      <p:sp>
        <p:nvSpPr>
          <p:cNvPr id="9" name="Textfeld 2">
            <a:extLst>
              <a:ext uri="{FF2B5EF4-FFF2-40B4-BE49-F238E27FC236}">
                <a16:creationId xmlns:a16="http://schemas.microsoft.com/office/drawing/2014/main" id="{23AABFFC-6A92-1B43-9713-4A751792C3F5}"/>
              </a:ext>
            </a:extLst>
          </p:cNvPr>
          <p:cNvSpPr txBox="1"/>
          <p:nvPr/>
        </p:nvSpPr>
        <p:spPr>
          <a:xfrm>
            <a:off x="3271518" y="4744041"/>
            <a:ext cx="4813405" cy="1384995"/>
          </a:xfrm>
          <a:prstGeom prst="rect">
            <a:avLst/>
          </a:prstGeom>
          <a:noFill/>
          <a:ln>
            <a:noFill/>
          </a:ln>
        </p:spPr>
        <p:txBody>
          <a:bodyPr wrap="square" rtlCol="0">
            <a:spAutoFit/>
          </a:bodyPr>
          <a:lstStyle/>
          <a:p>
            <a:pPr algn="ctr"/>
            <a:r>
              <a:rPr lang="de-DE" sz="2800" dirty="0">
                <a:latin typeface="Lucida Sans" panose="020B0602030504020204" pitchFamily="34" charset="0"/>
              </a:rPr>
              <a:t>Data </a:t>
            </a:r>
            <a:r>
              <a:rPr lang="de-DE" sz="2800" dirty="0" err="1">
                <a:latin typeface="Lucida Sans" panose="020B0602030504020204" pitchFamily="34" charset="0"/>
              </a:rPr>
              <a:t>manager</a:t>
            </a:r>
            <a:r>
              <a:rPr lang="de-DE" sz="2800" dirty="0">
                <a:latin typeface="Lucida Sans" panose="020B0602030504020204" pitchFamily="34" charset="0"/>
              </a:rPr>
              <a:t> </a:t>
            </a:r>
            <a:r>
              <a:rPr lang="de-DE" sz="2800" dirty="0" err="1">
                <a:latin typeface="Lucida Sans" panose="020B0602030504020204" pitchFamily="34" charset="0"/>
              </a:rPr>
              <a:t>gives</a:t>
            </a:r>
            <a:r>
              <a:rPr lang="de-DE" sz="2800" dirty="0">
                <a:latin typeface="Lucida Sans" panose="020B0602030504020204" pitchFamily="34" charset="0"/>
              </a:rPr>
              <a:t> </a:t>
            </a:r>
            <a:r>
              <a:rPr lang="de-DE" sz="2800" dirty="0" err="1">
                <a:latin typeface="Lucida Sans" panose="020B0602030504020204" pitchFamily="34" charset="0"/>
              </a:rPr>
              <a:t>the</a:t>
            </a:r>
            <a:r>
              <a:rPr lang="de-DE" sz="2800" dirty="0">
                <a:latin typeface="Lucida Sans" panose="020B0602030504020204" pitchFamily="34" charset="0"/>
              </a:rPr>
              <a:t> </a:t>
            </a:r>
            <a:r>
              <a:rPr lang="de-DE" sz="2800" i="1" dirty="0" err="1">
                <a:solidFill>
                  <a:srgbClr val="00A9E6"/>
                </a:solidFill>
                <a:latin typeface="Lucida Sans" panose="020B0602030504020204" pitchFamily="34" charset="0"/>
              </a:rPr>
              <a:t>blinded</a:t>
            </a:r>
            <a:r>
              <a:rPr lang="de-DE" sz="2800" i="1" dirty="0">
                <a:solidFill>
                  <a:srgbClr val="00A9E6"/>
                </a:solidFill>
                <a:latin typeface="Lucida Sans" panose="020B0602030504020204" pitchFamily="34" charset="0"/>
              </a:rPr>
              <a:t> </a:t>
            </a:r>
            <a:r>
              <a:rPr lang="de-DE" sz="2800" i="1" dirty="0" err="1">
                <a:solidFill>
                  <a:srgbClr val="00A9E6"/>
                </a:solidFill>
                <a:latin typeface="Lucida Sans" panose="020B0602030504020204" pitchFamily="34" charset="0"/>
              </a:rPr>
              <a:t>data</a:t>
            </a:r>
            <a:r>
              <a:rPr lang="de-DE" sz="2800" i="1" dirty="0">
                <a:solidFill>
                  <a:srgbClr val="00A9E6"/>
                </a:solidFill>
                <a:latin typeface="Lucida Sans" panose="020B0602030504020204" pitchFamily="34" charset="0"/>
              </a:rPr>
              <a:t> </a:t>
            </a:r>
            <a:r>
              <a:rPr lang="de-DE" sz="2800" dirty="0" err="1">
                <a:latin typeface="Lucida Sans" panose="020B0602030504020204" pitchFamily="34" charset="0"/>
              </a:rPr>
              <a:t>to</a:t>
            </a:r>
            <a:r>
              <a:rPr lang="de-DE" sz="2800" dirty="0">
                <a:latin typeface="Lucida Sans" panose="020B0602030504020204" pitchFamily="34" charset="0"/>
              </a:rPr>
              <a:t> </a:t>
            </a:r>
            <a:r>
              <a:rPr lang="de-DE" sz="2800" dirty="0" err="1">
                <a:latin typeface="Lucida Sans" panose="020B0602030504020204" pitchFamily="34" charset="0"/>
              </a:rPr>
              <a:t>the</a:t>
            </a:r>
            <a:r>
              <a:rPr lang="de-DE" sz="2800" dirty="0">
                <a:latin typeface="Lucida Sans" panose="020B0602030504020204" pitchFamily="34" charset="0"/>
              </a:rPr>
              <a:t> </a:t>
            </a:r>
            <a:r>
              <a:rPr lang="de-DE" sz="2800" dirty="0" err="1">
                <a:latin typeface="Lucida Sans" panose="020B0602030504020204" pitchFamily="34" charset="0"/>
              </a:rPr>
              <a:t>researcher</a:t>
            </a:r>
            <a:endParaRPr lang="de-DE" sz="2800" dirty="0">
              <a:latin typeface="Lucida Sans" panose="020B0602030504020204" pitchFamily="34" charset="0"/>
            </a:endParaRPr>
          </a:p>
        </p:txBody>
      </p:sp>
      <p:pic>
        <p:nvPicPr>
          <p:cNvPr id="10" name="Grafik 23">
            <a:extLst>
              <a:ext uri="{FF2B5EF4-FFF2-40B4-BE49-F238E27FC236}">
                <a16:creationId xmlns:a16="http://schemas.microsoft.com/office/drawing/2014/main" id="{F0AF3544-3DFD-9A41-89BD-1332E9B7BA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6242" y="2360613"/>
            <a:ext cx="3106433" cy="2166328"/>
          </a:xfrm>
          <a:prstGeom prst="rect">
            <a:avLst/>
          </a:prstGeom>
        </p:spPr>
      </p:pic>
    </p:spTree>
    <p:extLst>
      <p:ext uri="{BB962C8B-B14F-4D97-AF65-F5344CB8AC3E}">
        <p14:creationId xmlns:p14="http://schemas.microsoft.com/office/powerpoint/2010/main" val="15677800"/>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lstStyle/>
          <a:p>
            <a:endParaRPr lang="en-US" dirty="0"/>
          </a:p>
        </p:txBody>
      </p:sp>
      <p:sp>
        <p:nvSpPr>
          <p:cNvPr id="7" name="Title 1">
            <a:extLst>
              <a:ext uri="{FF2B5EF4-FFF2-40B4-BE49-F238E27FC236}">
                <a16:creationId xmlns:a16="http://schemas.microsoft.com/office/drawing/2014/main" id="{5E96864C-21BE-A044-9A9F-F4CBA45855CD}"/>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lumMod val="95000"/>
                    <a:lumOff val="5000"/>
                  </a:schemeClr>
                </a:solidFill>
              </a:rPr>
              <a:t>Scenario 2: Blinding</a:t>
            </a:r>
          </a:p>
        </p:txBody>
      </p:sp>
      <p:graphicFrame>
        <p:nvGraphicFramePr>
          <p:cNvPr id="6" name="Diagramm 9">
            <a:extLst>
              <a:ext uri="{FF2B5EF4-FFF2-40B4-BE49-F238E27FC236}">
                <a16:creationId xmlns:a16="http://schemas.microsoft.com/office/drawing/2014/main" id="{5E249D4F-AAF5-6E4D-BBA2-A0696076C8BB}"/>
              </a:ext>
            </a:extLst>
          </p:cNvPr>
          <p:cNvGraphicFramePr/>
          <p:nvPr>
            <p:extLst>
              <p:ext uri="{D42A27DB-BD31-4B8C-83A1-F6EECF244321}">
                <p14:modId xmlns:p14="http://schemas.microsoft.com/office/powerpoint/2010/main" val="3368987275"/>
              </p:ext>
            </p:extLst>
          </p:nvPr>
        </p:nvGraphicFramePr>
        <p:xfrm>
          <a:off x="2517193" y="2360613"/>
          <a:ext cx="6024500" cy="3293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643304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B3507B8F-CC70-428A-8511-84AD9B301650}"/>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3AC630CE-4E2D-42D6-800D-BE2E828E7EF3}"/>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graphicEl>
                                              <a:dgm id="{F4F892AD-3A9C-430A-ACA8-601853DB9297}"/>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graphicEl>
                                              <a:dgm id="{CC24F998-71DD-45EC-B261-65C5FD094DB6}"/>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4101AEC0-473E-4B47-B2D6-B13EF07F0E3A}"/>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04A99418-1AC8-4818-8F06-307030A84343}"/>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lstStyle/>
          <a:p>
            <a:endParaRPr lang="en-US"/>
          </a:p>
        </p:txBody>
      </p:sp>
      <p:sp>
        <p:nvSpPr>
          <p:cNvPr id="7" name="Title 1">
            <a:extLst>
              <a:ext uri="{FF2B5EF4-FFF2-40B4-BE49-F238E27FC236}">
                <a16:creationId xmlns:a16="http://schemas.microsoft.com/office/drawing/2014/main" id="{5E96864C-21BE-A044-9A9F-F4CBA45855CD}"/>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lumMod val="95000"/>
                    <a:lumOff val="5000"/>
                  </a:schemeClr>
                </a:solidFill>
              </a:rPr>
              <a:t>Scenario 2: Blinding</a:t>
            </a:r>
          </a:p>
        </p:txBody>
      </p:sp>
      <p:pic>
        <p:nvPicPr>
          <p:cNvPr id="11" name="Grafik 13">
            <a:extLst>
              <a:ext uri="{FF2B5EF4-FFF2-40B4-BE49-F238E27FC236}">
                <a16:creationId xmlns:a16="http://schemas.microsoft.com/office/drawing/2014/main" id="{5272C49F-7799-E74C-A21B-03C21B4D92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7311727" y="2305177"/>
            <a:ext cx="3086458" cy="2152398"/>
          </a:xfrm>
          <a:prstGeom prst="rect">
            <a:avLst/>
          </a:prstGeom>
        </p:spPr>
      </p:pic>
      <p:sp>
        <p:nvSpPr>
          <p:cNvPr id="12" name="Textfeld 2">
            <a:extLst>
              <a:ext uri="{FF2B5EF4-FFF2-40B4-BE49-F238E27FC236}">
                <a16:creationId xmlns:a16="http://schemas.microsoft.com/office/drawing/2014/main" id="{08A3E6E9-7B9B-8248-8855-E3F0DA9CDB08}"/>
              </a:ext>
            </a:extLst>
          </p:cNvPr>
          <p:cNvSpPr txBox="1"/>
          <p:nvPr/>
        </p:nvSpPr>
        <p:spPr>
          <a:xfrm>
            <a:off x="6904446" y="4683080"/>
            <a:ext cx="4275075" cy="1384995"/>
          </a:xfrm>
          <a:prstGeom prst="rect">
            <a:avLst/>
          </a:prstGeom>
          <a:noFill/>
          <a:ln>
            <a:noFill/>
          </a:ln>
        </p:spPr>
        <p:txBody>
          <a:bodyPr wrap="square" rtlCol="0">
            <a:spAutoFit/>
          </a:bodyPr>
          <a:lstStyle/>
          <a:p>
            <a:pPr algn="ctr"/>
            <a:r>
              <a:rPr lang="de-DE" sz="2800" dirty="0">
                <a:latin typeface="Lucida Sans" panose="020B0602030504020204" pitchFamily="34" charset="0"/>
              </a:rPr>
              <a:t>Data </a:t>
            </a:r>
            <a:r>
              <a:rPr lang="de-DE" sz="2800" dirty="0" err="1">
                <a:latin typeface="Lucida Sans" panose="020B0602030504020204" pitchFamily="34" charset="0"/>
              </a:rPr>
              <a:t>manager</a:t>
            </a:r>
            <a:r>
              <a:rPr lang="de-DE" sz="2800" dirty="0">
                <a:latin typeface="Lucida Sans" panose="020B0602030504020204" pitchFamily="34" charset="0"/>
              </a:rPr>
              <a:t> </a:t>
            </a:r>
            <a:r>
              <a:rPr lang="de-DE" sz="2800" dirty="0" err="1">
                <a:latin typeface="Lucida Sans" panose="020B0602030504020204" pitchFamily="34" charset="0"/>
              </a:rPr>
              <a:t>gives</a:t>
            </a:r>
            <a:r>
              <a:rPr lang="de-DE" sz="2800" dirty="0">
                <a:latin typeface="Lucida Sans" panose="020B0602030504020204" pitchFamily="34" charset="0"/>
              </a:rPr>
              <a:t> </a:t>
            </a:r>
            <a:r>
              <a:rPr lang="de-DE" sz="2800" dirty="0" err="1">
                <a:latin typeface="Lucida Sans" panose="020B0602030504020204" pitchFamily="34" charset="0"/>
              </a:rPr>
              <a:t>the</a:t>
            </a:r>
            <a:r>
              <a:rPr lang="de-DE" sz="2800" i="1" dirty="0">
                <a:solidFill>
                  <a:srgbClr val="00D26E"/>
                </a:solidFill>
                <a:latin typeface="Lucida Sans" panose="020B0602030504020204" pitchFamily="34" charset="0"/>
              </a:rPr>
              <a:t> original </a:t>
            </a:r>
            <a:r>
              <a:rPr lang="de-DE" sz="2800" i="1" dirty="0" err="1">
                <a:solidFill>
                  <a:srgbClr val="00D26E"/>
                </a:solidFill>
                <a:latin typeface="Lucida Sans" panose="020B0602030504020204" pitchFamily="34" charset="0"/>
              </a:rPr>
              <a:t>data</a:t>
            </a:r>
            <a:r>
              <a:rPr lang="de-DE" sz="2800" i="1" dirty="0">
                <a:solidFill>
                  <a:srgbClr val="00D26E"/>
                </a:solidFill>
                <a:latin typeface="Lucida Sans" panose="020B0602030504020204" pitchFamily="34" charset="0"/>
              </a:rPr>
              <a:t> </a:t>
            </a:r>
            <a:r>
              <a:rPr lang="de-DE" sz="2800" dirty="0" err="1">
                <a:latin typeface="Lucida Sans" panose="020B0602030504020204" pitchFamily="34" charset="0"/>
              </a:rPr>
              <a:t>to</a:t>
            </a:r>
            <a:r>
              <a:rPr lang="de-DE" sz="2800" dirty="0">
                <a:latin typeface="Lucida Sans" panose="020B0602030504020204" pitchFamily="34" charset="0"/>
              </a:rPr>
              <a:t> </a:t>
            </a:r>
            <a:r>
              <a:rPr lang="de-DE" sz="2800" dirty="0" err="1">
                <a:latin typeface="Lucida Sans" panose="020B0602030504020204" pitchFamily="34" charset="0"/>
              </a:rPr>
              <a:t>researcher</a:t>
            </a:r>
            <a:endParaRPr lang="de-DE" sz="2800" dirty="0">
              <a:latin typeface="Lucida Sans" panose="020B0602030504020204" pitchFamily="34" charset="0"/>
            </a:endParaRPr>
          </a:p>
        </p:txBody>
      </p:sp>
      <p:pic>
        <p:nvPicPr>
          <p:cNvPr id="13" name="Picture 2" descr="Discovering the code review | Promyze">
            <a:extLst>
              <a:ext uri="{FF2B5EF4-FFF2-40B4-BE49-F238E27FC236}">
                <a16:creationId xmlns:a16="http://schemas.microsoft.com/office/drawing/2014/main" id="{DA568B4F-3AF4-2F41-9EF9-D1D79290E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479" y="2674751"/>
            <a:ext cx="4656025" cy="18818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feld 18">
            <a:extLst>
              <a:ext uri="{FF2B5EF4-FFF2-40B4-BE49-F238E27FC236}">
                <a16:creationId xmlns:a16="http://schemas.microsoft.com/office/drawing/2014/main" id="{CC7AC745-810D-C54B-8C3A-9B8F34F9B85C}"/>
              </a:ext>
            </a:extLst>
          </p:cNvPr>
          <p:cNvSpPr txBox="1"/>
          <p:nvPr/>
        </p:nvSpPr>
        <p:spPr>
          <a:xfrm>
            <a:off x="1332945" y="4782066"/>
            <a:ext cx="4577278" cy="954107"/>
          </a:xfrm>
          <a:prstGeom prst="rect">
            <a:avLst/>
          </a:prstGeom>
          <a:noFill/>
          <a:ln>
            <a:noFill/>
          </a:ln>
        </p:spPr>
        <p:txBody>
          <a:bodyPr wrap="square" rtlCol="0">
            <a:spAutoFit/>
          </a:bodyPr>
          <a:lstStyle/>
          <a:p>
            <a:r>
              <a:rPr lang="de-DE" sz="2800" dirty="0">
                <a:latin typeface="Lucida Sans" panose="020B0602030504020204" pitchFamily="34" charset="0"/>
              </a:rPr>
              <a:t>Researcher </a:t>
            </a:r>
            <a:r>
              <a:rPr lang="de-DE" sz="2800" dirty="0" err="1">
                <a:latin typeface="Lucida Sans" panose="020B0602030504020204" pitchFamily="34" charset="0"/>
              </a:rPr>
              <a:t>writes</a:t>
            </a:r>
            <a:r>
              <a:rPr lang="de-DE" sz="2800" dirty="0">
                <a:latin typeface="Lucida Sans" panose="020B0602030504020204" pitchFamily="34" charset="0"/>
              </a:rPr>
              <a:t> a </a:t>
            </a:r>
            <a:r>
              <a:rPr lang="de-DE" sz="2800" dirty="0" err="1">
                <a:latin typeface="Lucida Sans" panose="020B0602030504020204" pitchFamily="34" charset="0"/>
              </a:rPr>
              <a:t>reproducible</a:t>
            </a:r>
            <a:r>
              <a:rPr lang="de-DE" sz="2800" dirty="0">
                <a:latin typeface="Lucida Sans" panose="020B0602030504020204" pitchFamily="34" charset="0"/>
              </a:rPr>
              <a:t> </a:t>
            </a:r>
            <a:r>
              <a:rPr lang="de-DE" sz="2800" dirty="0" err="1">
                <a:latin typeface="Lucida Sans" panose="020B0602030504020204" pitchFamily="34" charset="0"/>
              </a:rPr>
              <a:t>script</a:t>
            </a:r>
            <a:endParaRPr lang="de-DE" sz="2800" dirty="0">
              <a:latin typeface="Lucida Sans" panose="020B0602030504020204" pitchFamily="34" charset="0"/>
            </a:endParaRPr>
          </a:p>
        </p:txBody>
      </p:sp>
    </p:spTree>
    <p:extLst>
      <p:ext uri="{BB962C8B-B14F-4D97-AF65-F5344CB8AC3E}">
        <p14:creationId xmlns:p14="http://schemas.microsoft.com/office/powerpoint/2010/main" val="61728701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lstStyle/>
          <a:p>
            <a:endParaRPr lang="en-US"/>
          </a:p>
        </p:txBody>
      </p:sp>
      <p:sp>
        <p:nvSpPr>
          <p:cNvPr id="7" name="Title 1">
            <a:extLst>
              <a:ext uri="{FF2B5EF4-FFF2-40B4-BE49-F238E27FC236}">
                <a16:creationId xmlns:a16="http://schemas.microsoft.com/office/drawing/2014/main" id="{5E96864C-21BE-A044-9A9F-F4CBA45855CD}"/>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lumMod val="95000"/>
                    <a:lumOff val="5000"/>
                  </a:schemeClr>
                </a:solidFill>
              </a:rPr>
              <a:t>Scenario 2: Blinding</a:t>
            </a:r>
          </a:p>
        </p:txBody>
      </p:sp>
      <p:pic>
        <p:nvPicPr>
          <p:cNvPr id="18" name="Grafik 6">
            <a:extLst>
              <a:ext uri="{FF2B5EF4-FFF2-40B4-BE49-F238E27FC236}">
                <a16:creationId xmlns:a16="http://schemas.microsoft.com/office/drawing/2014/main" id="{9D4C4C27-2074-B545-AC0C-75DF40C237E3}"/>
              </a:ext>
            </a:extLst>
          </p:cNvPr>
          <p:cNvPicPr>
            <a:picLocks noChangeAspect="1"/>
          </p:cNvPicPr>
          <p:nvPr/>
        </p:nvPicPr>
        <p:blipFill rotWithShape="1">
          <a:blip r:embed="rId2">
            <a:extLst>
              <a:ext uri="{28A0092B-C50C-407E-A947-70E740481C1C}">
                <a14:useLocalDpi xmlns:a14="http://schemas.microsoft.com/office/drawing/2010/main" val="0"/>
              </a:ext>
            </a:extLst>
          </a:blip>
          <a:srcRect t="19800"/>
          <a:stretch/>
        </p:blipFill>
        <p:spPr>
          <a:xfrm>
            <a:off x="755575" y="2682958"/>
            <a:ext cx="3193237" cy="2560981"/>
          </a:xfrm>
          <a:prstGeom prst="rect">
            <a:avLst/>
          </a:prstGeom>
        </p:spPr>
      </p:pic>
      <p:sp>
        <p:nvSpPr>
          <p:cNvPr id="21" name="Textfeld 13">
            <a:extLst>
              <a:ext uri="{FF2B5EF4-FFF2-40B4-BE49-F238E27FC236}">
                <a16:creationId xmlns:a16="http://schemas.microsoft.com/office/drawing/2014/main" id="{F8A1F624-AB33-EC41-A6B2-0E27D933D709}"/>
              </a:ext>
            </a:extLst>
          </p:cNvPr>
          <p:cNvSpPr txBox="1"/>
          <p:nvPr/>
        </p:nvSpPr>
        <p:spPr>
          <a:xfrm>
            <a:off x="5341009" y="5446965"/>
            <a:ext cx="1872208" cy="646331"/>
          </a:xfrm>
          <a:prstGeom prst="rect">
            <a:avLst/>
          </a:prstGeom>
          <a:noFill/>
        </p:spPr>
        <p:txBody>
          <a:bodyPr wrap="square" rtlCol="0">
            <a:spAutoFit/>
          </a:bodyPr>
          <a:lstStyle/>
          <a:p>
            <a:r>
              <a:rPr lang="en-GB" b="1" dirty="0">
                <a:solidFill>
                  <a:srgbClr val="00D26E"/>
                </a:solidFill>
                <a:latin typeface="Lucida Sans" panose="020B0602030504020204" pitchFamily="34" charset="0"/>
              </a:rPr>
              <a:t>Raw data</a:t>
            </a:r>
          </a:p>
          <a:p>
            <a:r>
              <a:rPr lang="en-GB" b="1" dirty="0">
                <a:solidFill>
                  <a:srgbClr val="FB8B00"/>
                </a:solidFill>
                <a:latin typeface="Lucida Sans" panose="020B0602030504020204" pitchFamily="34" charset="0"/>
              </a:rPr>
              <a:t>r = 0.32</a:t>
            </a:r>
          </a:p>
        </p:txBody>
      </p:sp>
      <p:sp>
        <p:nvSpPr>
          <p:cNvPr id="22" name="Textfeld 14">
            <a:extLst>
              <a:ext uri="{FF2B5EF4-FFF2-40B4-BE49-F238E27FC236}">
                <a16:creationId xmlns:a16="http://schemas.microsoft.com/office/drawing/2014/main" id="{D2DCC536-465F-B94B-8477-C43BAA4C595C}"/>
              </a:ext>
            </a:extLst>
          </p:cNvPr>
          <p:cNvSpPr txBox="1"/>
          <p:nvPr/>
        </p:nvSpPr>
        <p:spPr>
          <a:xfrm>
            <a:off x="1402140" y="5446964"/>
            <a:ext cx="1872208" cy="646331"/>
          </a:xfrm>
          <a:prstGeom prst="rect">
            <a:avLst/>
          </a:prstGeom>
          <a:noFill/>
        </p:spPr>
        <p:txBody>
          <a:bodyPr wrap="square" rtlCol="0">
            <a:spAutoFit/>
          </a:bodyPr>
          <a:lstStyle/>
          <a:p>
            <a:r>
              <a:rPr lang="en-GB" b="1" dirty="0">
                <a:latin typeface="Lucida Sans" panose="020B0602030504020204" pitchFamily="34" charset="0"/>
              </a:rPr>
              <a:t>Blinded data</a:t>
            </a:r>
          </a:p>
          <a:p>
            <a:r>
              <a:rPr lang="en-GB" dirty="0">
                <a:latin typeface="Lucida Sans" panose="020B0602030504020204" pitchFamily="34" charset="0"/>
              </a:rPr>
              <a:t>r = -0.02</a:t>
            </a:r>
          </a:p>
        </p:txBody>
      </p:sp>
      <p:sp>
        <p:nvSpPr>
          <p:cNvPr id="23" name="Pfeil: Chevron 15">
            <a:extLst>
              <a:ext uri="{FF2B5EF4-FFF2-40B4-BE49-F238E27FC236}">
                <a16:creationId xmlns:a16="http://schemas.microsoft.com/office/drawing/2014/main" id="{50219D33-F2E5-4A44-9D60-3C5E54721A08}"/>
              </a:ext>
            </a:extLst>
          </p:cNvPr>
          <p:cNvSpPr/>
          <p:nvPr/>
        </p:nvSpPr>
        <p:spPr>
          <a:xfrm>
            <a:off x="4355976" y="3564310"/>
            <a:ext cx="360040" cy="664364"/>
          </a:xfrm>
          <a:prstGeom prst="chevron">
            <a:avLst>
              <a:gd name="adj" fmla="val 62310"/>
            </a:avLst>
          </a:prstGeom>
          <a:solidFill>
            <a:srgbClr val="00D26E"/>
          </a:solidFill>
        </p:spPr>
        <p:style>
          <a:lnRef idx="0">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a:lstStyle/>
          <a:p>
            <a:endParaRPr lang="en-GB" dirty="0"/>
          </a:p>
        </p:txBody>
      </p:sp>
      <p:pic>
        <p:nvPicPr>
          <p:cNvPr id="24" name="Grafik 16">
            <a:extLst>
              <a:ext uri="{FF2B5EF4-FFF2-40B4-BE49-F238E27FC236}">
                <a16:creationId xmlns:a16="http://schemas.microsoft.com/office/drawing/2014/main" id="{045B5FBE-4772-CF40-89AA-082EA9EDB63A}"/>
              </a:ext>
            </a:extLst>
          </p:cNvPr>
          <p:cNvPicPr>
            <a:picLocks noChangeAspect="1"/>
          </p:cNvPicPr>
          <p:nvPr/>
        </p:nvPicPr>
        <p:blipFill rotWithShape="1">
          <a:blip r:embed="rId2">
            <a:extLst>
              <a:ext uri="{28A0092B-C50C-407E-A947-70E740481C1C}">
                <a14:useLocalDpi xmlns:a14="http://schemas.microsoft.com/office/drawing/2010/main" val="0"/>
              </a:ext>
            </a:extLst>
          </a:blip>
          <a:srcRect l="86665" t="87603"/>
          <a:stretch/>
        </p:blipFill>
        <p:spPr>
          <a:xfrm>
            <a:off x="2864053" y="4812040"/>
            <a:ext cx="404060" cy="375617"/>
          </a:xfrm>
          <a:prstGeom prst="rect">
            <a:avLst/>
          </a:prstGeom>
        </p:spPr>
      </p:pic>
      <p:pic>
        <p:nvPicPr>
          <p:cNvPr id="25" name="Grafik 17">
            <a:extLst>
              <a:ext uri="{FF2B5EF4-FFF2-40B4-BE49-F238E27FC236}">
                <a16:creationId xmlns:a16="http://schemas.microsoft.com/office/drawing/2014/main" id="{1D36EA69-3DAD-5142-B22A-34640DD89F78}"/>
              </a:ext>
            </a:extLst>
          </p:cNvPr>
          <p:cNvPicPr>
            <a:picLocks noChangeAspect="1"/>
          </p:cNvPicPr>
          <p:nvPr/>
        </p:nvPicPr>
        <p:blipFill rotWithShape="1">
          <a:blip r:embed="rId2">
            <a:extLst>
              <a:ext uri="{28A0092B-C50C-407E-A947-70E740481C1C}">
                <a14:useLocalDpi xmlns:a14="http://schemas.microsoft.com/office/drawing/2010/main" val="0"/>
              </a:ext>
            </a:extLst>
          </a:blip>
          <a:srcRect l="86665" t="87603"/>
          <a:stretch/>
        </p:blipFill>
        <p:spPr>
          <a:xfrm>
            <a:off x="7228135" y="4783356"/>
            <a:ext cx="481476" cy="447584"/>
          </a:xfrm>
          <a:prstGeom prst="rect">
            <a:avLst/>
          </a:prstGeom>
        </p:spPr>
      </p:pic>
      <p:pic>
        <p:nvPicPr>
          <p:cNvPr id="26" name="Grafik 9">
            <a:extLst>
              <a:ext uri="{FF2B5EF4-FFF2-40B4-BE49-F238E27FC236}">
                <a16:creationId xmlns:a16="http://schemas.microsoft.com/office/drawing/2014/main" id="{3172EC00-F260-C944-B741-1A0BBECC30CD}"/>
              </a:ext>
            </a:extLst>
          </p:cNvPr>
          <p:cNvPicPr>
            <a:picLocks noChangeAspect="1"/>
          </p:cNvPicPr>
          <p:nvPr/>
        </p:nvPicPr>
        <p:blipFill rotWithShape="1">
          <a:blip r:embed="rId3">
            <a:extLst>
              <a:ext uri="{28A0092B-C50C-407E-A947-70E740481C1C}">
                <a14:useLocalDpi xmlns:a14="http://schemas.microsoft.com/office/drawing/2010/main" val="0"/>
              </a:ext>
            </a:extLst>
          </a:blip>
          <a:srcRect t="20535"/>
          <a:stretch/>
        </p:blipFill>
        <p:spPr>
          <a:xfrm>
            <a:off x="5123180" y="2706434"/>
            <a:ext cx="3193236" cy="2537505"/>
          </a:xfrm>
          <a:prstGeom prst="rect">
            <a:avLst/>
          </a:prstGeom>
        </p:spPr>
      </p:pic>
      <p:pic>
        <p:nvPicPr>
          <p:cNvPr id="27" name="Grafik 21">
            <a:extLst>
              <a:ext uri="{FF2B5EF4-FFF2-40B4-BE49-F238E27FC236}">
                <a16:creationId xmlns:a16="http://schemas.microsoft.com/office/drawing/2014/main" id="{4160C4D0-5E46-AE43-878E-F2626C89C84E}"/>
              </a:ext>
            </a:extLst>
          </p:cNvPr>
          <p:cNvPicPr>
            <a:picLocks noChangeAspect="1"/>
          </p:cNvPicPr>
          <p:nvPr/>
        </p:nvPicPr>
        <p:blipFill rotWithShape="1">
          <a:blip r:embed="rId4">
            <a:extLst>
              <a:ext uri="{28A0092B-C50C-407E-A947-70E740481C1C}">
                <a14:useLocalDpi xmlns:a14="http://schemas.microsoft.com/office/drawing/2010/main" val="0"/>
              </a:ext>
            </a:extLst>
          </a:blip>
          <a:srcRect l="21919" t="78493" r="3722"/>
          <a:stretch/>
        </p:blipFill>
        <p:spPr>
          <a:xfrm rot="16200000">
            <a:off x="3850455" y="3511057"/>
            <a:ext cx="3093222" cy="778592"/>
          </a:xfrm>
          <a:prstGeom prst="rect">
            <a:avLst/>
          </a:prstGeom>
          <a:ln>
            <a:noFill/>
          </a:ln>
          <a:effectLst>
            <a:softEdge rad="112500"/>
          </a:effectLst>
        </p:spPr>
      </p:pic>
      <p:pic>
        <p:nvPicPr>
          <p:cNvPr id="28" name="Grafik 22">
            <a:extLst>
              <a:ext uri="{FF2B5EF4-FFF2-40B4-BE49-F238E27FC236}">
                <a16:creationId xmlns:a16="http://schemas.microsoft.com/office/drawing/2014/main" id="{8F340D67-626F-7C4D-8A3C-94B8E48DE423}"/>
              </a:ext>
            </a:extLst>
          </p:cNvPr>
          <p:cNvPicPr>
            <a:picLocks noChangeAspect="1"/>
          </p:cNvPicPr>
          <p:nvPr/>
        </p:nvPicPr>
        <p:blipFill rotWithShape="1">
          <a:blip r:embed="rId2">
            <a:extLst>
              <a:ext uri="{28A0092B-C50C-407E-A947-70E740481C1C}">
                <a14:useLocalDpi xmlns:a14="http://schemas.microsoft.com/office/drawing/2010/main" val="0"/>
              </a:ext>
            </a:extLst>
          </a:blip>
          <a:srcRect l="86665" t="87603"/>
          <a:stretch/>
        </p:blipFill>
        <p:spPr>
          <a:xfrm>
            <a:off x="7236296" y="4819339"/>
            <a:ext cx="404060" cy="375617"/>
          </a:xfrm>
          <a:prstGeom prst="rect">
            <a:avLst/>
          </a:prstGeom>
        </p:spPr>
      </p:pic>
      <p:pic>
        <p:nvPicPr>
          <p:cNvPr id="29" name="Grafik 20">
            <a:extLst>
              <a:ext uri="{FF2B5EF4-FFF2-40B4-BE49-F238E27FC236}">
                <a16:creationId xmlns:a16="http://schemas.microsoft.com/office/drawing/2014/main" id="{D38976D6-9136-4C4C-8CC6-B9A09E05FA26}"/>
              </a:ext>
            </a:extLst>
          </p:cNvPr>
          <p:cNvPicPr>
            <a:picLocks noChangeAspect="1"/>
          </p:cNvPicPr>
          <p:nvPr/>
        </p:nvPicPr>
        <p:blipFill rotWithShape="1">
          <a:blip r:embed="rId4">
            <a:extLst>
              <a:ext uri="{28A0092B-C50C-407E-A947-70E740481C1C}">
                <a14:useLocalDpi xmlns:a14="http://schemas.microsoft.com/office/drawing/2010/main" val="0"/>
              </a:ext>
            </a:extLst>
          </a:blip>
          <a:srcRect r="3722"/>
          <a:stretch/>
        </p:blipFill>
        <p:spPr>
          <a:xfrm rot="2437813">
            <a:off x="4043635" y="1503192"/>
            <a:ext cx="5735755" cy="5184720"/>
          </a:xfrm>
          <a:prstGeom prst="rect">
            <a:avLst/>
          </a:prstGeom>
        </p:spPr>
      </p:pic>
    </p:spTree>
    <p:extLst>
      <p:ext uri="{BB962C8B-B14F-4D97-AF65-F5344CB8AC3E}">
        <p14:creationId xmlns:p14="http://schemas.microsoft.com/office/powerpoint/2010/main" val="631735937"/>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Blinded Analysis</a:t>
            </a:r>
          </a:p>
        </p:txBody>
      </p:sp>
      <p:sp>
        <p:nvSpPr>
          <p:cNvPr id="8" name="Content Placeholder 2">
            <a:extLst>
              <a:ext uri="{FF2B5EF4-FFF2-40B4-BE49-F238E27FC236}">
                <a16:creationId xmlns:a16="http://schemas.microsoft.com/office/drawing/2014/main" id="{3411AFC3-7980-4446-B3BA-92C5F909246A}"/>
              </a:ext>
            </a:extLst>
          </p:cNvPr>
          <p:cNvSpPr>
            <a:spLocks noGrp="1"/>
          </p:cNvSpPr>
          <p:nvPr>
            <p:ph idx="1"/>
          </p:nvPr>
        </p:nvSpPr>
        <p:spPr>
          <a:xfrm>
            <a:off x="838199" y="1952795"/>
            <a:ext cx="9899073" cy="4669678"/>
          </a:xfrm>
        </p:spPr>
        <p:txBody>
          <a:bodyPr anchor="ctr">
            <a:normAutofit fontScale="85000" lnSpcReduction="20000"/>
          </a:bodyPr>
          <a:lstStyle/>
          <a:p>
            <a:pPr marL="0" indent="0">
              <a:buNone/>
            </a:pPr>
            <a:r>
              <a:rPr lang="en-US" dirty="0"/>
              <a:t>Two parties need to be involved (researcher + data manager)</a:t>
            </a:r>
          </a:p>
          <a:p>
            <a:pPr marL="0" indent="0">
              <a:buNone/>
            </a:pPr>
            <a:endParaRPr lang="en-US" dirty="0"/>
          </a:p>
          <a:p>
            <a:pPr marL="0" indent="0">
              <a:buNone/>
            </a:pPr>
            <a:r>
              <a:rPr lang="en-US" dirty="0"/>
              <a:t>The analysis script can be stored in a trusted repository (e.g., OSF) </a:t>
            </a:r>
            <a:r>
              <a:rPr lang="en-US" dirty="0">
                <a:sym typeface="Wingdings" pitchFamily="2" charset="2"/>
              </a:rPr>
              <a:t> substitute for a preregistration</a:t>
            </a:r>
            <a:endParaRPr lang="en-US" dirty="0"/>
          </a:p>
          <a:p>
            <a:pPr marL="0" indent="0">
              <a:buNone/>
            </a:pPr>
            <a:endParaRPr lang="en-US" dirty="0"/>
          </a:p>
          <a:p>
            <a:pPr marL="0" indent="0">
              <a:buNone/>
            </a:pPr>
            <a:r>
              <a:rPr lang="en-US" dirty="0"/>
              <a:t>An analysis script is more concrete than a preregistration (e.g., measurement scales)</a:t>
            </a:r>
          </a:p>
          <a:p>
            <a:pPr marL="0" indent="0">
              <a:buNone/>
            </a:pPr>
            <a:endParaRPr lang="en-US" dirty="0"/>
          </a:p>
          <a:p>
            <a:pPr marL="0" indent="0">
              <a:buNone/>
            </a:pPr>
            <a:r>
              <a:rPr lang="en-US" dirty="0"/>
              <a:t>Safes researcher from writing two documents (preregistration and manuscript)</a:t>
            </a:r>
          </a:p>
          <a:p>
            <a:pPr marL="457200" lvl="1" indent="0">
              <a:buNone/>
            </a:pPr>
            <a:r>
              <a:rPr lang="en-US" dirty="0"/>
              <a:t>However: Data manager/Researcher need to know the experimental design &amp; DVs!</a:t>
            </a:r>
          </a:p>
          <a:p>
            <a:pPr marL="0" indent="0">
              <a:buNone/>
            </a:pPr>
            <a:endParaRPr lang="en-US" dirty="0"/>
          </a:p>
          <a:p>
            <a:pPr marL="0" indent="0">
              <a:buNone/>
            </a:pPr>
            <a:r>
              <a:rPr lang="en-US" dirty="0"/>
              <a:t>Enables researcher to develop a preprocessing pipeline and a statistical model that fits the data (without risking confirmatory status!)</a:t>
            </a:r>
          </a:p>
        </p:txBody>
      </p:sp>
    </p:spTree>
    <p:extLst>
      <p:ext uri="{BB962C8B-B14F-4D97-AF65-F5344CB8AC3E}">
        <p14:creationId xmlns:p14="http://schemas.microsoft.com/office/powerpoint/2010/main" val="4198038544"/>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normAutofit fontScale="90000"/>
          </a:bodyPr>
          <a:lstStyle/>
          <a:p>
            <a:r>
              <a:rPr lang="en-US" sz="4800" dirty="0">
                <a:solidFill>
                  <a:schemeClr val="bg1"/>
                </a:solidFill>
              </a:rPr>
              <a:t>Different research designs demand different blinding methods</a:t>
            </a:r>
          </a:p>
        </p:txBody>
      </p:sp>
      <p:sp>
        <p:nvSpPr>
          <p:cNvPr id="17" name="Textfeld 8">
            <a:extLst>
              <a:ext uri="{FF2B5EF4-FFF2-40B4-BE49-F238E27FC236}">
                <a16:creationId xmlns:a16="http://schemas.microsoft.com/office/drawing/2014/main" id="{ED149B8E-C39F-0B44-A5FE-80520071C6E3}"/>
              </a:ext>
            </a:extLst>
          </p:cNvPr>
          <p:cNvSpPr txBox="1"/>
          <p:nvPr/>
        </p:nvSpPr>
        <p:spPr>
          <a:xfrm>
            <a:off x="323528" y="2276872"/>
            <a:ext cx="3222611" cy="523220"/>
          </a:xfrm>
          <a:prstGeom prst="rect">
            <a:avLst/>
          </a:prstGeom>
          <a:noFill/>
        </p:spPr>
        <p:txBody>
          <a:bodyPr wrap="square" rtlCol="0">
            <a:spAutoFit/>
          </a:bodyPr>
          <a:lstStyle/>
          <a:p>
            <a:r>
              <a:rPr lang="en-GB" sz="2800" dirty="0">
                <a:latin typeface="Lucida Sans" panose="020B0602030504020204" pitchFamily="34" charset="0"/>
              </a:rPr>
              <a:t>Masked Subset</a:t>
            </a:r>
          </a:p>
        </p:txBody>
      </p:sp>
      <p:pic>
        <p:nvPicPr>
          <p:cNvPr id="3" name="Picture 2">
            <a:extLst>
              <a:ext uri="{FF2B5EF4-FFF2-40B4-BE49-F238E27FC236}">
                <a16:creationId xmlns:a16="http://schemas.microsoft.com/office/drawing/2014/main" id="{A70341E2-20F8-C849-BA7F-C7C4E474BAD8}"/>
              </a:ext>
            </a:extLst>
          </p:cNvPr>
          <p:cNvPicPr>
            <a:picLocks noChangeAspect="1"/>
          </p:cNvPicPr>
          <p:nvPr/>
        </p:nvPicPr>
        <p:blipFill>
          <a:blip r:embed="rId2"/>
          <a:stretch>
            <a:fillRect/>
          </a:stretch>
        </p:blipFill>
        <p:spPr>
          <a:xfrm>
            <a:off x="4286991" y="2009940"/>
            <a:ext cx="5977247" cy="4482935"/>
          </a:xfrm>
          <a:prstGeom prst="rect">
            <a:avLst/>
          </a:prstGeom>
        </p:spPr>
      </p:pic>
    </p:spTree>
    <p:extLst>
      <p:ext uri="{BB962C8B-B14F-4D97-AF65-F5344CB8AC3E}">
        <p14:creationId xmlns:p14="http://schemas.microsoft.com/office/powerpoint/2010/main" val="714835285"/>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normAutofit fontScale="90000"/>
          </a:bodyPr>
          <a:lstStyle/>
          <a:p>
            <a:r>
              <a:rPr lang="en-US" sz="4800" dirty="0">
                <a:solidFill>
                  <a:schemeClr val="bg1"/>
                </a:solidFill>
              </a:rPr>
              <a:t>Different research designs demand different blinding methods</a:t>
            </a:r>
          </a:p>
        </p:txBody>
      </p:sp>
      <p:sp>
        <p:nvSpPr>
          <p:cNvPr id="17" name="Textfeld 8">
            <a:extLst>
              <a:ext uri="{FF2B5EF4-FFF2-40B4-BE49-F238E27FC236}">
                <a16:creationId xmlns:a16="http://schemas.microsoft.com/office/drawing/2014/main" id="{ED149B8E-C39F-0B44-A5FE-80520071C6E3}"/>
              </a:ext>
            </a:extLst>
          </p:cNvPr>
          <p:cNvSpPr txBox="1"/>
          <p:nvPr/>
        </p:nvSpPr>
        <p:spPr>
          <a:xfrm>
            <a:off x="371028" y="2055813"/>
            <a:ext cx="3215319" cy="523220"/>
          </a:xfrm>
          <a:prstGeom prst="rect">
            <a:avLst/>
          </a:prstGeom>
          <a:noFill/>
        </p:spPr>
        <p:txBody>
          <a:bodyPr wrap="square" rtlCol="0">
            <a:spAutoFit/>
          </a:bodyPr>
          <a:lstStyle/>
          <a:p>
            <a:r>
              <a:rPr lang="en-GB" sz="2800" dirty="0">
                <a:latin typeface="Lucida Sans" panose="020B0602030504020204" pitchFamily="34" charset="0"/>
              </a:rPr>
              <a:t>Shuffled Rows</a:t>
            </a:r>
          </a:p>
        </p:txBody>
      </p:sp>
      <p:pic>
        <p:nvPicPr>
          <p:cNvPr id="3" name="Picture 2">
            <a:extLst>
              <a:ext uri="{FF2B5EF4-FFF2-40B4-BE49-F238E27FC236}">
                <a16:creationId xmlns:a16="http://schemas.microsoft.com/office/drawing/2014/main" id="{86FE28A5-2A30-5F43-A7E3-BB5C6F7E5DBA}"/>
              </a:ext>
            </a:extLst>
          </p:cNvPr>
          <p:cNvPicPr>
            <a:picLocks noChangeAspect="1"/>
          </p:cNvPicPr>
          <p:nvPr/>
        </p:nvPicPr>
        <p:blipFill>
          <a:blip r:embed="rId2"/>
          <a:stretch>
            <a:fillRect/>
          </a:stretch>
        </p:blipFill>
        <p:spPr>
          <a:xfrm>
            <a:off x="4144248" y="1902881"/>
            <a:ext cx="6119991" cy="4589993"/>
          </a:xfrm>
          <a:prstGeom prst="rect">
            <a:avLst/>
          </a:prstGeom>
        </p:spPr>
      </p:pic>
    </p:spTree>
    <p:extLst>
      <p:ext uri="{BB962C8B-B14F-4D97-AF65-F5344CB8AC3E}">
        <p14:creationId xmlns:p14="http://schemas.microsoft.com/office/powerpoint/2010/main" val="838009118"/>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normAutofit fontScale="90000"/>
          </a:bodyPr>
          <a:lstStyle/>
          <a:p>
            <a:r>
              <a:rPr lang="en-US" sz="4800" dirty="0">
                <a:solidFill>
                  <a:schemeClr val="bg1"/>
                </a:solidFill>
              </a:rPr>
              <a:t>Different research designs demand different blinding methods</a:t>
            </a:r>
          </a:p>
        </p:txBody>
      </p:sp>
      <p:sp>
        <p:nvSpPr>
          <p:cNvPr id="17" name="Textfeld 8">
            <a:extLst>
              <a:ext uri="{FF2B5EF4-FFF2-40B4-BE49-F238E27FC236}">
                <a16:creationId xmlns:a16="http://schemas.microsoft.com/office/drawing/2014/main" id="{ED149B8E-C39F-0B44-A5FE-80520071C6E3}"/>
              </a:ext>
            </a:extLst>
          </p:cNvPr>
          <p:cNvSpPr txBox="1"/>
          <p:nvPr/>
        </p:nvSpPr>
        <p:spPr>
          <a:xfrm>
            <a:off x="323528" y="2276872"/>
            <a:ext cx="3222611" cy="523220"/>
          </a:xfrm>
          <a:prstGeom prst="rect">
            <a:avLst/>
          </a:prstGeom>
          <a:noFill/>
        </p:spPr>
        <p:txBody>
          <a:bodyPr wrap="square" rtlCol="0">
            <a:spAutoFit/>
          </a:bodyPr>
          <a:lstStyle/>
          <a:p>
            <a:r>
              <a:rPr lang="en-GB" sz="2800" dirty="0">
                <a:latin typeface="Lucida Sans" panose="020B0602030504020204" pitchFamily="34" charset="0"/>
              </a:rPr>
              <a:t>Added Noise</a:t>
            </a:r>
          </a:p>
        </p:txBody>
      </p:sp>
      <p:pic>
        <p:nvPicPr>
          <p:cNvPr id="3" name="Picture 2">
            <a:extLst>
              <a:ext uri="{FF2B5EF4-FFF2-40B4-BE49-F238E27FC236}">
                <a16:creationId xmlns:a16="http://schemas.microsoft.com/office/drawing/2014/main" id="{7EE6AEF1-2CE7-8B47-A578-4C80448231FA}"/>
              </a:ext>
            </a:extLst>
          </p:cNvPr>
          <p:cNvPicPr>
            <a:picLocks noChangeAspect="1"/>
          </p:cNvPicPr>
          <p:nvPr/>
        </p:nvPicPr>
        <p:blipFill>
          <a:blip r:embed="rId2"/>
          <a:stretch>
            <a:fillRect/>
          </a:stretch>
        </p:blipFill>
        <p:spPr>
          <a:xfrm>
            <a:off x="3748019" y="2055813"/>
            <a:ext cx="5993080" cy="4494810"/>
          </a:xfrm>
          <a:prstGeom prst="rect">
            <a:avLst/>
          </a:prstGeom>
        </p:spPr>
      </p:pic>
    </p:spTree>
    <p:extLst>
      <p:ext uri="{BB962C8B-B14F-4D97-AF65-F5344CB8AC3E}">
        <p14:creationId xmlns:p14="http://schemas.microsoft.com/office/powerpoint/2010/main" val="1388360342"/>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normAutofit fontScale="90000"/>
          </a:bodyPr>
          <a:lstStyle/>
          <a:p>
            <a:r>
              <a:rPr lang="en-US" sz="4800" dirty="0">
                <a:solidFill>
                  <a:schemeClr val="bg1"/>
                </a:solidFill>
              </a:rPr>
              <a:t>Different research designs demand different blinding methods</a:t>
            </a:r>
          </a:p>
        </p:txBody>
      </p:sp>
      <p:sp>
        <p:nvSpPr>
          <p:cNvPr id="17" name="Textfeld 8">
            <a:extLst>
              <a:ext uri="{FF2B5EF4-FFF2-40B4-BE49-F238E27FC236}">
                <a16:creationId xmlns:a16="http://schemas.microsoft.com/office/drawing/2014/main" id="{ED149B8E-C39F-0B44-A5FE-80520071C6E3}"/>
              </a:ext>
            </a:extLst>
          </p:cNvPr>
          <p:cNvSpPr txBox="1"/>
          <p:nvPr/>
        </p:nvSpPr>
        <p:spPr>
          <a:xfrm>
            <a:off x="323528" y="2276872"/>
            <a:ext cx="3222611" cy="523220"/>
          </a:xfrm>
          <a:prstGeom prst="rect">
            <a:avLst/>
          </a:prstGeom>
          <a:noFill/>
        </p:spPr>
        <p:txBody>
          <a:bodyPr wrap="square" rtlCol="0">
            <a:spAutoFit/>
          </a:bodyPr>
          <a:lstStyle/>
          <a:p>
            <a:r>
              <a:rPr lang="en-GB" sz="2800" dirty="0">
                <a:latin typeface="Lucida Sans" panose="020B0602030504020204" pitchFamily="34" charset="0"/>
              </a:rPr>
              <a:t>Masked Labels</a:t>
            </a:r>
          </a:p>
        </p:txBody>
      </p:sp>
      <p:pic>
        <p:nvPicPr>
          <p:cNvPr id="6" name="Picture 5">
            <a:extLst>
              <a:ext uri="{FF2B5EF4-FFF2-40B4-BE49-F238E27FC236}">
                <a16:creationId xmlns:a16="http://schemas.microsoft.com/office/drawing/2014/main" id="{9DB7D6EA-450B-3641-8AF7-470D11453B0D}"/>
              </a:ext>
            </a:extLst>
          </p:cNvPr>
          <p:cNvPicPr>
            <a:picLocks noChangeAspect="1"/>
          </p:cNvPicPr>
          <p:nvPr/>
        </p:nvPicPr>
        <p:blipFill>
          <a:blip r:embed="rId2"/>
          <a:stretch>
            <a:fillRect/>
          </a:stretch>
        </p:blipFill>
        <p:spPr>
          <a:xfrm>
            <a:off x="4322322" y="1992088"/>
            <a:ext cx="6108171" cy="4581128"/>
          </a:xfrm>
          <a:prstGeom prst="rect">
            <a:avLst/>
          </a:prstGeom>
        </p:spPr>
      </p:pic>
    </p:spTree>
    <p:extLst>
      <p:ext uri="{BB962C8B-B14F-4D97-AF65-F5344CB8AC3E}">
        <p14:creationId xmlns:p14="http://schemas.microsoft.com/office/powerpoint/2010/main" val="1335106277"/>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990BA8B-6930-7D43-904D-CF0B594B24D4}"/>
              </a:ext>
            </a:extLst>
          </p:cNvPr>
          <p:cNvSpPr>
            <a:spLocks noGrp="1"/>
          </p:cNvSpPr>
          <p:nvPr>
            <p:ph type="title"/>
          </p:nvPr>
        </p:nvSpPr>
        <p:spPr/>
        <p:txBody>
          <a:bodyPr>
            <a:normAutofit fontScale="90000"/>
          </a:bodyPr>
          <a:lstStyle/>
          <a:p>
            <a:r>
              <a:rPr lang="en-US" sz="4800" dirty="0">
                <a:solidFill>
                  <a:schemeClr val="bg1"/>
                </a:solidFill>
              </a:rPr>
              <a:t>Different research designs demand different blinding methods</a:t>
            </a:r>
          </a:p>
        </p:txBody>
      </p:sp>
      <p:sp>
        <p:nvSpPr>
          <p:cNvPr id="17" name="Textfeld 8">
            <a:extLst>
              <a:ext uri="{FF2B5EF4-FFF2-40B4-BE49-F238E27FC236}">
                <a16:creationId xmlns:a16="http://schemas.microsoft.com/office/drawing/2014/main" id="{ED149B8E-C39F-0B44-A5FE-80520071C6E3}"/>
              </a:ext>
            </a:extLst>
          </p:cNvPr>
          <p:cNvSpPr txBox="1"/>
          <p:nvPr/>
        </p:nvSpPr>
        <p:spPr>
          <a:xfrm>
            <a:off x="323528" y="2276872"/>
            <a:ext cx="3222611" cy="523220"/>
          </a:xfrm>
          <a:prstGeom prst="rect">
            <a:avLst/>
          </a:prstGeom>
          <a:noFill/>
        </p:spPr>
        <p:txBody>
          <a:bodyPr wrap="square" rtlCol="0">
            <a:spAutoFit/>
          </a:bodyPr>
          <a:lstStyle/>
          <a:p>
            <a:r>
              <a:rPr lang="en-GB" sz="2800" dirty="0">
                <a:latin typeface="Lucida Sans" panose="020B0602030504020204" pitchFamily="34" charset="0"/>
              </a:rPr>
              <a:t>Added Bias</a:t>
            </a:r>
          </a:p>
        </p:txBody>
      </p:sp>
      <p:pic>
        <p:nvPicPr>
          <p:cNvPr id="5" name="Picture 4">
            <a:extLst>
              <a:ext uri="{FF2B5EF4-FFF2-40B4-BE49-F238E27FC236}">
                <a16:creationId xmlns:a16="http://schemas.microsoft.com/office/drawing/2014/main" id="{EA46BCE0-78DB-E444-A920-6891559106BE}"/>
              </a:ext>
            </a:extLst>
          </p:cNvPr>
          <p:cNvPicPr>
            <a:picLocks noChangeAspect="1"/>
          </p:cNvPicPr>
          <p:nvPr/>
        </p:nvPicPr>
        <p:blipFill>
          <a:blip r:embed="rId2"/>
          <a:stretch>
            <a:fillRect/>
          </a:stretch>
        </p:blipFill>
        <p:spPr>
          <a:xfrm>
            <a:off x="3869667" y="2055813"/>
            <a:ext cx="6108171" cy="4581128"/>
          </a:xfrm>
          <a:prstGeom prst="rect">
            <a:avLst/>
          </a:prstGeom>
        </p:spPr>
      </p:pic>
    </p:spTree>
    <p:extLst>
      <p:ext uri="{BB962C8B-B14F-4D97-AF65-F5344CB8AC3E}">
        <p14:creationId xmlns:p14="http://schemas.microsoft.com/office/powerpoint/2010/main" val="1976300611"/>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7A21B5-F599-4E4D-A51F-AB1AAD8FA3E6}"/>
              </a:ext>
            </a:extLst>
          </p:cNvPr>
          <p:cNvSpPr>
            <a:spLocks noGrp="1"/>
          </p:cNvSpPr>
          <p:nvPr>
            <p:ph type="ctrTitle"/>
          </p:nvPr>
        </p:nvSpPr>
        <p:spPr>
          <a:xfrm>
            <a:off x="6592164" y="2855068"/>
            <a:ext cx="4645250" cy="1147863"/>
          </a:xfrm>
        </p:spPr>
        <p:txBody>
          <a:bodyPr anchor="b">
            <a:normAutofit fontScale="90000"/>
          </a:bodyPr>
          <a:lstStyle/>
          <a:p>
            <a:pPr algn="l"/>
            <a:r>
              <a:rPr lang="en-US" sz="4700" dirty="0">
                <a:solidFill>
                  <a:schemeClr val="bg1"/>
                </a:solidFill>
              </a:rPr>
              <a:t>Thoughts and Comments</a:t>
            </a:r>
          </a:p>
        </p:txBody>
      </p:sp>
      <p:sp>
        <p:nvSpPr>
          <p:cNvPr id="24" name="Freeform: Shape 23">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5">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Inhaltsplatzhalter 3" descr="Vrouwe Justitia_Gilles_01.jpg">
            <a:extLst>
              <a:ext uri="{FF2B5EF4-FFF2-40B4-BE49-F238E27FC236}">
                <a16:creationId xmlns:a16="http://schemas.microsoft.com/office/drawing/2014/main" id="{FE4B77D9-5631-2E49-BBC0-1CA11396DAEB}"/>
              </a:ext>
            </a:extLst>
          </p:cNvPr>
          <p:cNvPicPr>
            <a:picLocks/>
          </p:cNvPicPr>
          <p:nvPr/>
        </p:nvPicPr>
        <p:blipFill rotWithShape="1">
          <a:blip r:embed="rId2" cstate="print">
            <a:duotone>
              <a:schemeClr val="accent4">
                <a:shade val="45000"/>
                <a:satMod val="135000"/>
              </a:schemeClr>
              <a:prstClr val="white"/>
            </a:duotone>
            <a:alphaModFix/>
            <a:extLst>
              <a:ext uri="{BEBA8EAE-BF5A-486C-A8C5-ECC9F3942E4B}">
                <a14:imgProps xmlns:a14="http://schemas.microsoft.com/office/drawing/2010/main">
                  <a14:imgLayer r:embed="rId3">
                    <a14:imgEffect>
                      <a14:colorTemperature colorTemp="7200"/>
                    </a14:imgEffect>
                  </a14:imgLayer>
                </a14:imgProps>
              </a:ext>
            </a:extLst>
          </a:blip>
          <a:srcRect l="25407" t="14009" r="16548" b="20078"/>
          <a:stretch/>
        </p:blipFill>
        <p:spPr>
          <a:xfrm rot="10800000" flipH="1" flipV="1">
            <a:off x="26696" y="97005"/>
            <a:ext cx="4205545" cy="6755057"/>
          </a:xfrm>
          <a:prstGeom prst="foldedCorner">
            <a:avLst>
              <a:gd name="adj" fmla="val 39257"/>
            </a:avLst>
          </a:prstGeom>
          <a:effectLst>
            <a:softEdge rad="0"/>
          </a:effectLst>
        </p:spPr>
      </p:pic>
      <p:sp>
        <p:nvSpPr>
          <p:cNvPr id="8" name="Right Triangle 7">
            <a:extLst>
              <a:ext uri="{FF2B5EF4-FFF2-40B4-BE49-F238E27FC236}">
                <a16:creationId xmlns:a16="http://schemas.microsoft.com/office/drawing/2014/main" id="{6C7B6000-1D7B-5648-B8CA-692CE1ED77DF}"/>
              </a:ext>
            </a:extLst>
          </p:cNvPr>
          <p:cNvSpPr/>
          <p:nvPr/>
        </p:nvSpPr>
        <p:spPr>
          <a:xfrm rot="6172081">
            <a:off x="2411753" y="5286005"/>
            <a:ext cx="2119704" cy="1352202"/>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9248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Exercise</a:t>
            </a:r>
          </a:p>
        </p:txBody>
      </p:sp>
      <p:sp>
        <p:nvSpPr>
          <p:cNvPr id="9" name="Content Placeholder 2">
            <a:extLst>
              <a:ext uri="{FF2B5EF4-FFF2-40B4-BE49-F238E27FC236}">
                <a16:creationId xmlns:a16="http://schemas.microsoft.com/office/drawing/2014/main" id="{393091A8-12DE-D94C-8DF0-BEC7AE26E273}"/>
              </a:ext>
            </a:extLst>
          </p:cNvPr>
          <p:cNvSpPr>
            <a:spLocks noGrp="1"/>
          </p:cNvSpPr>
          <p:nvPr>
            <p:ph idx="1"/>
          </p:nvPr>
        </p:nvSpPr>
        <p:spPr>
          <a:xfrm>
            <a:off x="214745" y="2875964"/>
            <a:ext cx="5285510" cy="3131128"/>
          </a:xfrm>
        </p:spPr>
        <p:txBody>
          <a:bodyPr anchor="ctr">
            <a:normAutofit fontScale="85000" lnSpcReduction="20000"/>
          </a:bodyPr>
          <a:lstStyle/>
          <a:p>
            <a:pPr marL="514350" indent="-514350">
              <a:buFont typeface="+mj-lt"/>
              <a:buAutoNum type="arabicPeriod"/>
            </a:pPr>
            <a:r>
              <a:rPr lang="en-US" dirty="0"/>
              <a:t>Tutorial on how to automate data upload for Windows and Linux</a:t>
            </a:r>
          </a:p>
          <a:p>
            <a:pPr marL="514350" indent="-514350">
              <a:buFont typeface="+mj-lt"/>
              <a:buAutoNum type="arabicPeriod"/>
            </a:pPr>
            <a:r>
              <a:rPr lang="en-US" dirty="0"/>
              <a:t>Advanced GitHub workflows (creating branches, making pull requests, solve merge conflicts)</a:t>
            </a:r>
          </a:p>
          <a:p>
            <a:pPr marL="514350" indent="-514350">
              <a:buFont typeface="+mj-lt"/>
              <a:buAutoNum type="arabicPeriod"/>
            </a:pPr>
            <a:r>
              <a:rPr lang="en-US" dirty="0"/>
              <a:t>Tutorials on other tools you need to improve collaboration (e.g., OSF; Overleaf; RStudio integration)</a:t>
            </a:r>
          </a:p>
          <a:p>
            <a:pPr marL="0" indent="0">
              <a:buNone/>
            </a:pPr>
            <a:endParaRPr lang="en-US" dirty="0"/>
          </a:p>
        </p:txBody>
      </p:sp>
      <p:sp>
        <p:nvSpPr>
          <p:cNvPr id="10" name="Content Placeholder 2">
            <a:extLst>
              <a:ext uri="{FF2B5EF4-FFF2-40B4-BE49-F238E27FC236}">
                <a16:creationId xmlns:a16="http://schemas.microsoft.com/office/drawing/2014/main" id="{53B54312-AF86-7048-B795-42147B5C3D8F}"/>
              </a:ext>
            </a:extLst>
          </p:cNvPr>
          <p:cNvSpPr txBox="1">
            <a:spLocks/>
          </p:cNvSpPr>
          <p:nvPr/>
        </p:nvSpPr>
        <p:spPr>
          <a:xfrm>
            <a:off x="6134099" y="2875964"/>
            <a:ext cx="5285510" cy="3476624"/>
          </a:xfrm>
          <a:prstGeom prst="rect">
            <a:avLst/>
          </a:prstGeom>
        </p:spPr>
        <p:txBody>
          <a:bodyPr vert="horz" lIns="91440" tIns="45720" rIns="91440" bIns="45720" rtlCol="0" anchor="ct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dirty="0"/>
              <a:t>Discuss current data (or data from published articles)</a:t>
            </a:r>
          </a:p>
          <a:p>
            <a:pPr marL="514350" indent="-514350">
              <a:buFont typeface="+mj-lt"/>
              <a:buAutoNum type="arabicPeriod"/>
            </a:pPr>
            <a:r>
              <a:rPr lang="en-US" dirty="0"/>
              <a:t>How can they be blinded?</a:t>
            </a:r>
          </a:p>
          <a:p>
            <a:pPr marL="514350" indent="-514350">
              <a:buFont typeface="+mj-lt"/>
              <a:buAutoNum type="arabicPeriod"/>
            </a:pPr>
            <a:r>
              <a:rPr lang="en-US" dirty="0"/>
              <a:t>How would you organize a research project that involves analysis blinding?</a:t>
            </a:r>
          </a:p>
          <a:p>
            <a:pPr marL="514350" indent="-514350">
              <a:buFont typeface="+mj-lt"/>
              <a:buAutoNum type="arabicPeriod"/>
            </a:pPr>
            <a:r>
              <a:rPr lang="en-US" dirty="0"/>
              <a:t>Compare it to preregistration: would it safe you time/effort/frustration?</a:t>
            </a:r>
          </a:p>
          <a:p>
            <a:pPr marL="0" indent="0">
              <a:buNone/>
            </a:pPr>
            <a:endParaRPr lang="en-US" dirty="0"/>
          </a:p>
        </p:txBody>
      </p:sp>
      <p:sp>
        <p:nvSpPr>
          <p:cNvPr id="11" name="Title 1">
            <a:extLst>
              <a:ext uri="{FF2B5EF4-FFF2-40B4-BE49-F238E27FC236}">
                <a16:creationId xmlns:a16="http://schemas.microsoft.com/office/drawing/2014/main" id="{D465AE58-4934-B949-BB64-83D46CE502F2}"/>
              </a:ext>
            </a:extLst>
          </p:cNvPr>
          <p:cNvSpPr txBox="1">
            <a:spLocks/>
          </p:cNvSpPr>
          <p:nvPr/>
        </p:nvSpPr>
        <p:spPr>
          <a:xfrm>
            <a:off x="214745" y="1874659"/>
            <a:ext cx="6130637" cy="817334"/>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GitHub/Data sharing</a:t>
            </a:r>
          </a:p>
        </p:txBody>
      </p:sp>
      <p:sp>
        <p:nvSpPr>
          <p:cNvPr id="12" name="Title 1">
            <a:extLst>
              <a:ext uri="{FF2B5EF4-FFF2-40B4-BE49-F238E27FC236}">
                <a16:creationId xmlns:a16="http://schemas.microsoft.com/office/drawing/2014/main" id="{9671F259-B177-EF4C-A7D8-91FFD3B9E7B6}"/>
              </a:ext>
            </a:extLst>
          </p:cNvPr>
          <p:cNvSpPr txBox="1">
            <a:spLocks/>
          </p:cNvSpPr>
          <p:nvPr/>
        </p:nvSpPr>
        <p:spPr>
          <a:xfrm>
            <a:off x="6449290" y="1885769"/>
            <a:ext cx="4655128" cy="817334"/>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Analysis Blinding: Applied</a:t>
            </a:r>
          </a:p>
        </p:txBody>
      </p:sp>
    </p:spTree>
    <p:extLst>
      <p:ext uri="{BB962C8B-B14F-4D97-AF65-F5344CB8AC3E}">
        <p14:creationId xmlns:p14="http://schemas.microsoft.com/office/powerpoint/2010/main" val="2297967256"/>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Exercise</a:t>
            </a:r>
          </a:p>
        </p:txBody>
      </p:sp>
      <p:sp>
        <p:nvSpPr>
          <p:cNvPr id="11" name="Title 1">
            <a:extLst>
              <a:ext uri="{FF2B5EF4-FFF2-40B4-BE49-F238E27FC236}">
                <a16:creationId xmlns:a16="http://schemas.microsoft.com/office/drawing/2014/main" id="{D465AE58-4934-B949-BB64-83D46CE502F2}"/>
              </a:ext>
            </a:extLst>
          </p:cNvPr>
          <p:cNvSpPr txBox="1">
            <a:spLocks/>
          </p:cNvSpPr>
          <p:nvPr/>
        </p:nvSpPr>
        <p:spPr>
          <a:xfrm>
            <a:off x="214744" y="1954780"/>
            <a:ext cx="6878782" cy="817334"/>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Analysis Blinding: Small study</a:t>
            </a:r>
          </a:p>
        </p:txBody>
      </p:sp>
      <p:sp>
        <p:nvSpPr>
          <p:cNvPr id="14" name="Content Placeholder 2">
            <a:extLst>
              <a:ext uri="{FF2B5EF4-FFF2-40B4-BE49-F238E27FC236}">
                <a16:creationId xmlns:a16="http://schemas.microsoft.com/office/drawing/2014/main" id="{C93C3B45-9C1E-FA40-BB3B-6BBDD108E043}"/>
              </a:ext>
            </a:extLst>
          </p:cNvPr>
          <p:cNvSpPr txBox="1">
            <a:spLocks/>
          </p:cNvSpPr>
          <p:nvPr/>
        </p:nvSpPr>
        <p:spPr>
          <a:xfrm>
            <a:off x="214744" y="2772115"/>
            <a:ext cx="6338456" cy="3905776"/>
          </a:xfrm>
          <a:prstGeom prst="rect">
            <a:avLst/>
          </a:prstGeom>
        </p:spPr>
        <p:txBody>
          <a:bodyPr vert="horz" lIns="91440" tIns="45720" rIns="91440" bIns="45720" rtlCol="0" anchor="ct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dirty="0"/>
              <a:t>JASP data library</a:t>
            </a:r>
          </a:p>
          <a:p>
            <a:pPr marL="514350" indent="-514350">
              <a:buFont typeface="+mj-lt"/>
              <a:buAutoNum type="arabicPeriod"/>
            </a:pPr>
            <a:r>
              <a:rPr lang="en-US" dirty="0"/>
              <a:t>Within group: </a:t>
            </a:r>
          </a:p>
          <a:p>
            <a:pPr marL="971550" lvl="1" indent="-514350">
              <a:buFont typeface="+mj-lt"/>
              <a:buAutoNum type="arabicPeriod"/>
            </a:pPr>
            <a:r>
              <a:rPr lang="en-US" dirty="0"/>
              <a:t>Blind data and create data documentation (description + variables)</a:t>
            </a:r>
          </a:p>
          <a:p>
            <a:pPr marL="971550" lvl="1" indent="-514350">
              <a:buFont typeface="+mj-lt"/>
              <a:buAutoNum type="arabicPeriod"/>
            </a:pPr>
            <a:r>
              <a:rPr lang="en-US" dirty="0"/>
              <a:t>preregistration (based on data documentation alone)</a:t>
            </a:r>
          </a:p>
          <a:p>
            <a:pPr marL="971550" lvl="1" indent="-514350">
              <a:buFont typeface="+mj-lt"/>
              <a:buAutoNum type="arabicPeriod"/>
            </a:pPr>
            <a:r>
              <a:rPr lang="en-US" dirty="0"/>
              <a:t>analysis blinding (based on data documentation and blinded data)</a:t>
            </a:r>
          </a:p>
          <a:p>
            <a:pPr marL="514350" indent="-514350">
              <a:buFont typeface="+mj-lt"/>
              <a:buAutoNum type="arabicPeriod"/>
            </a:pPr>
            <a:r>
              <a:rPr lang="en-US" dirty="0"/>
              <a:t>Develop an analysis plan</a:t>
            </a:r>
          </a:p>
          <a:p>
            <a:pPr marL="514350" indent="-514350">
              <a:buFont typeface="+mj-lt"/>
              <a:buAutoNum type="arabicPeriod"/>
            </a:pPr>
            <a:r>
              <a:rPr lang="en-US" dirty="0"/>
              <a:t>Exchange experience</a:t>
            </a:r>
          </a:p>
          <a:p>
            <a:pPr marL="514350" indent="-514350">
              <a:buFont typeface="+mj-lt"/>
              <a:buAutoNum type="arabicPeriod"/>
            </a:pPr>
            <a:r>
              <a:rPr lang="en-US" dirty="0"/>
              <a:t>Compare analysis blinding to preregistration: would it safe you time/effort/frustration?</a:t>
            </a:r>
          </a:p>
        </p:txBody>
      </p:sp>
      <p:sp>
        <p:nvSpPr>
          <p:cNvPr id="15" name="Title 1">
            <a:extLst>
              <a:ext uri="{FF2B5EF4-FFF2-40B4-BE49-F238E27FC236}">
                <a16:creationId xmlns:a16="http://schemas.microsoft.com/office/drawing/2014/main" id="{6B42063F-2997-8742-A19E-720A4F341CBF}"/>
              </a:ext>
            </a:extLst>
          </p:cNvPr>
          <p:cNvSpPr txBox="1">
            <a:spLocks/>
          </p:cNvSpPr>
          <p:nvPr/>
        </p:nvSpPr>
        <p:spPr>
          <a:xfrm>
            <a:off x="7588828" y="5001273"/>
            <a:ext cx="3941615" cy="817334"/>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JASP Data Library:</a:t>
            </a:r>
          </a:p>
          <a:p>
            <a:endParaRPr lang="en-US" sz="3600" dirty="0"/>
          </a:p>
          <a:p>
            <a:r>
              <a:rPr lang="en-US" sz="3600" dirty="0">
                <a:hlinkClick r:id="rId2"/>
              </a:rPr>
              <a:t>https://osf.io/hfkjv/</a:t>
            </a:r>
            <a:r>
              <a:rPr lang="en-US" sz="3600" dirty="0"/>
              <a:t> (.csv and </a:t>
            </a:r>
            <a:r>
              <a:rPr lang="en-US" sz="3600" dirty="0" err="1"/>
              <a:t>jasp</a:t>
            </a:r>
            <a:r>
              <a:rPr lang="en-US" sz="3600" dirty="0"/>
              <a:t> files)</a:t>
            </a:r>
          </a:p>
          <a:p>
            <a:endParaRPr lang="en-US" sz="3600" dirty="0"/>
          </a:p>
          <a:p>
            <a:r>
              <a:rPr lang="en-US" sz="3600" dirty="0">
                <a:hlinkClick r:id="rId3"/>
              </a:rPr>
              <a:t>https://psyarxiv.com/vr2u8/</a:t>
            </a:r>
            <a:endParaRPr lang="en-US" sz="3600" dirty="0"/>
          </a:p>
          <a:p>
            <a:r>
              <a:rPr lang="en-US" sz="3600" dirty="0"/>
              <a:t>(data manual)</a:t>
            </a:r>
          </a:p>
        </p:txBody>
      </p:sp>
    </p:spTree>
    <p:extLst>
      <p:ext uri="{BB962C8B-B14F-4D97-AF65-F5344CB8AC3E}">
        <p14:creationId xmlns:p14="http://schemas.microsoft.com/office/powerpoint/2010/main" val="3671147126"/>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9B4663-9F10-B94C-A509-F0EE91E958D6}"/>
              </a:ext>
            </a:extLst>
          </p:cNvPr>
          <p:cNvPicPr>
            <a:picLocks noChangeAspect="1"/>
          </p:cNvPicPr>
          <p:nvPr/>
        </p:nvPicPr>
        <p:blipFill>
          <a:blip r:embed="rId2"/>
          <a:stretch>
            <a:fillRect/>
          </a:stretch>
        </p:blipFill>
        <p:spPr>
          <a:xfrm>
            <a:off x="942813" y="0"/>
            <a:ext cx="10306373" cy="6858000"/>
          </a:xfrm>
          <a:prstGeom prst="rect">
            <a:avLst/>
          </a:prstGeom>
        </p:spPr>
      </p:pic>
      <p:sp>
        <p:nvSpPr>
          <p:cNvPr id="2" name="Title 1">
            <a:extLst>
              <a:ext uri="{FF2B5EF4-FFF2-40B4-BE49-F238E27FC236}">
                <a16:creationId xmlns:a16="http://schemas.microsoft.com/office/drawing/2014/main" id="{18C5DC99-6186-7242-90A8-655BA41A5AA4}"/>
              </a:ext>
            </a:extLst>
          </p:cNvPr>
          <p:cNvSpPr>
            <a:spLocks noGrp="1"/>
          </p:cNvSpPr>
          <p:nvPr>
            <p:ph type="title"/>
          </p:nvPr>
        </p:nvSpPr>
        <p:spPr>
          <a:xfrm>
            <a:off x="942813" y="4865914"/>
            <a:ext cx="6461579" cy="1992086"/>
          </a:xfrm>
        </p:spPr>
        <p:txBody>
          <a:bodyPr/>
          <a:lstStyle/>
          <a:p>
            <a:r>
              <a:rPr lang="en-US" b="1" dirty="0">
                <a:solidFill>
                  <a:schemeClr val="bg1"/>
                </a:solidFill>
              </a:rPr>
              <a:t>Many Analysts Religion Project</a:t>
            </a:r>
          </a:p>
        </p:txBody>
      </p:sp>
    </p:spTree>
    <p:extLst>
      <p:ext uri="{BB962C8B-B14F-4D97-AF65-F5344CB8AC3E}">
        <p14:creationId xmlns:p14="http://schemas.microsoft.com/office/powerpoint/2010/main" val="41287333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Research Questions</a:t>
            </a:r>
          </a:p>
        </p:txBody>
      </p:sp>
      <p:sp>
        <p:nvSpPr>
          <p:cNvPr id="3" name="Content Placeholder 2">
            <a:extLst>
              <a:ext uri="{FF2B5EF4-FFF2-40B4-BE49-F238E27FC236}">
                <a16:creationId xmlns:a16="http://schemas.microsoft.com/office/drawing/2014/main" id="{18C267DB-F4B7-D049-A265-90B27DB7B870}"/>
              </a:ext>
            </a:extLst>
          </p:cNvPr>
          <p:cNvSpPr>
            <a:spLocks noGrp="1"/>
          </p:cNvSpPr>
          <p:nvPr>
            <p:ph idx="1"/>
          </p:nvPr>
        </p:nvSpPr>
        <p:spPr>
          <a:xfrm>
            <a:off x="838200" y="2015406"/>
            <a:ext cx="10515600" cy="4065986"/>
          </a:xfrm>
        </p:spPr>
        <p:txBody>
          <a:bodyPr anchor="ctr">
            <a:normAutofit/>
          </a:bodyPr>
          <a:lstStyle/>
          <a:p>
            <a:pPr marL="914400" lvl="1" indent="-457200">
              <a:buFont typeface="+mj-lt"/>
              <a:buAutoNum type="arabicPeriod"/>
            </a:pPr>
            <a:endParaRPr lang="en-US" dirty="0"/>
          </a:p>
          <a:p>
            <a:pPr marL="514350" indent="-514350">
              <a:buFont typeface="+mj-lt"/>
              <a:buAutoNum type="arabicPeriod"/>
            </a:pPr>
            <a:r>
              <a:rPr lang="en-US" dirty="0"/>
              <a:t>Do religious people report higher well-being? </a:t>
            </a:r>
          </a:p>
          <a:p>
            <a:pPr marL="514350" indent="-514350">
              <a:buFont typeface="+mj-lt"/>
              <a:buAutoNum type="arabicPeriod"/>
            </a:pPr>
            <a:r>
              <a:rPr lang="en-US" dirty="0"/>
              <a:t>Does the relation between religiosity and well-being depend on how important people consider religion to be in their country (i.e., perceived cultural norms of religion)?</a:t>
            </a:r>
          </a:p>
          <a:p>
            <a:endParaRPr lang="en-US" dirty="0"/>
          </a:p>
        </p:txBody>
      </p:sp>
    </p:spTree>
    <p:extLst>
      <p:ext uri="{BB962C8B-B14F-4D97-AF65-F5344CB8AC3E}">
        <p14:creationId xmlns:p14="http://schemas.microsoft.com/office/powerpoint/2010/main" val="1235660562"/>
      </p:ext>
    </p:extLst>
  </p:cSld>
  <p:clrMapOvr>
    <a:overrideClrMapping bg1="dk1" tx1="lt1" bg2="dk2" tx2="lt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Project Set-Up</a:t>
            </a:r>
          </a:p>
        </p:txBody>
      </p:sp>
      <p:sp>
        <p:nvSpPr>
          <p:cNvPr id="3" name="Content Placeholder 2">
            <a:extLst>
              <a:ext uri="{FF2B5EF4-FFF2-40B4-BE49-F238E27FC236}">
                <a16:creationId xmlns:a16="http://schemas.microsoft.com/office/drawing/2014/main" id="{18C267DB-F4B7-D049-A265-90B27DB7B870}"/>
              </a:ext>
            </a:extLst>
          </p:cNvPr>
          <p:cNvSpPr>
            <a:spLocks noGrp="1"/>
          </p:cNvSpPr>
          <p:nvPr>
            <p:ph idx="1"/>
          </p:nvPr>
        </p:nvSpPr>
        <p:spPr>
          <a:xfrm>
            <a:off x="838200" y="2015406"/>
            <a:ext cx="10515600" cy="4065986"/>
          </a:xfrm>
        </p:spPr>
        <p:txBody>
          <a:bodyPr anchor="ctr">
            <a:normAutofit/>
          </a:bodyPr>
          <a:lstStyle/>
          <a:p>
            <a:pPr marL="457200" lvl="1" indent="0">
              <a:buNone/>
            </a:pPr>
            <a:endParaRPr lang="en-US" dirty="0"/>
          </a:p>
          <a:p>
            <a:pPr marL="0" indent="0">
              <a:buNone/>
            </a:pPr>
            <a:r>
              <a:rPr lang="en-US" dirty="0"/>
              <a:t>Many analysts approach</a:t>
            </a:r>
          </a:p>
          <a:p>
            <a:pPr marL="971550" lvl="1" indent="-514350">
              <a:buFont typeface="+mj-lt"/>
              <a:buAutoNum type="arabicPeriod"/>
            </a:pPr>
            <a:r>
              <a:rPr lang="en-US" dirty="0"/>
              <a:t>Researchers at all levels were welcome (master students need to sign up together with a researchers who is at least a PhD student )</a:t>
            </a:r>
          </a:p>
          <a:p>
            <a:pPr marL="971550" lvl="1" indent="-514350">
              <a:buFont typeface="+mj-lt"/>
              <a:buAutoNum type="arabicPeriod"/>
            </a:pPr>
            <a:r>
              <a:rPr lang="en-US" dirty="0"/>
              <a:t>Two groups (preregistration group + analysis blinding)</a:t>
            </a:r>
          </a:p>
          <a:p>
            <a:pPr marL="971550" lvl="1" indent="-514350">
              <a:buFont typeface="+mj-lt"/>
              <a:buAutoNum type="arabicPeriod"/>
            </a:pPr>
            <a:r>
              <a:rPr lang="en-US" dirty="0"/>
              <a:t>Upon completion of the project: co-authorship of the entire analysis team on the paper</a:t>
            </a:r>
          </a:p>
          <a:p>
            <a:endParaRPr lang="en-US" dirty="0"/>
          </a:p>
        </p:txBody>
      </p:sp>
    </p:spTree>
    <p:extLst>
      <p:ext uri="{BB962C8B-B14F-4D97-AF65-F5344CB8AC3E}">
        <p14:creationId xmlns:p14="http://schemas.microsoft.com/office/powerpoint/2010/main" val="3419163914"/>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Project Timeline</a:t>
            </a:r>
          </a:p>
        </p:txBody>
      </p:sp>
      <p:sp>
        <p:nvSpPr>
          <p:cNvPr id="3" name="Content Placeholder 2">
            <a:extLst>
              <a:ext uri="{FF2B5EF4-FFF2-40B4-BE49-F238E27FC236}">
                <a16:creationId xmlns:a16="http://schemas.microsoft.com/office/drawing/2014/main" id="{18C267DB-F4B7-D049-A265-90B27DB7B870}"/>
              </a:ext>
            </a:extLst>
          </p:cNvPr>
          <p:cNvSpPr>
            <a:spLocks noGrp="1"/>
          </p:cNvSpPr>
          <p:nvPr>
            <p:ph idx="1"/>
          </p:nvPr>
        </p:nvSpPr>
        <p:spPr>
          <a:xfrm>
            <a:off x="838200" y="2015405"/>
            <a:ext cx="10515600" cy="4585691"/>
          </a:xfrm>
        </p:spPr>
        <p:txBody>
          <a:bodyPr anchor="ctr">
            <a:normAutofit fontScale="92500" lnSpcReduction="10000"/>
          </a:bodyPr>
          <a:lstStyle/>
          <a:p>
            <a:pPr marL="914400" lvl="1" indent="-457200">
              <a:buFont typeface="+mj-lt"/>
              <a:buAutoNum type="arabicPeriod"/>
            </a:pPr>
            <a:endParaRPr lang="en-US" dirty="0"/>
          </a:p>
          <a:p>
            <a:pPr marL="514350" indent="-514350">
              <a:buFont typeface="+mj-lt"/>
              <a:buAutoNum type="arabicPeriod"/>
            </a:pPr>
            <a:r>
              <a:rPr lang="en-US" dirty="0"/>
              <a:t>Sign-up: Each team gets OSF folder (October 2020)</a:t>
            </a:r>
          </a:p>
          <a:p>
            <a:pPr marL="514350" indent="-514350">
              <a:buFont typeface="+mj-lt"/>
              <a:buAutoNum type="arabicPeriod"/>
            </a:pPr>
            <a:endParaRPr lang="en-US" dirty="0"/>
          </a:p>
          <a:p>
            <a:pPr marL="514350" indent="-514350">
              <a:buFont typeface="+mj-lt"/>
              <a:buAutoNum type="arabicPeriod"/>
            </a:pPr>
            <a:r>
              <a:rPr lang="en-US" dirty="0"/>
              <a:t>Stage 1: Teams upload analysis plan to OSF (December 2020)</a:t>
            </a:r>
          </a:p>
          <a:p>
            <a:pPr marL="971550" lvl="1" indent="-514350">
              <a:buFont typeface="+mj-lt"/>
              <a:buAutoNum type="alphaLcParenR"/>
            </a:pPr>
            <a:r>
              <a:rPr lang="en-US" dirty="0" err="1"/>
              <a:t>Prereg</a:t>
            </a:r>
            <a:r>
              <a:rPr lang="en-US" dirty="0"/>
              <a:t> Group: Data documentation, survey information, research questions, </a:t>
            </a:r>
            <a:r>
              <a:rPr lang="en-US" b="1" dirty="0"/>
              <a:t>preregistration form</a:t>
            </a:r>
          </a:p>
          <a:p>
            <a:pPr lvl="2">
              <a:buFont typeface="Courier New" panose="02070309020205020404" pitchFamily="49" charset="0"/>
              <a:buChar char="o"/>
            </a:pPr>
            <a:r>
              <a:rPr lang="en-US" dirty="0"/>
              <a:t>filled out preregistration form</a:t>
            </a:r>
          </a:p>
          <a:p>
            <a:pPr marL="914400" lvl="2" indent="0">
              <a:buNone/>
            </a:pPr>
            <a:endParaRPr lang="en-US" dirty="0"/>
          </a:p>
          <a:p>
            <a:pPr marL="971550" lvl="1" indent="-514350">
              <a:buFont typeface="+mj-lt"/>
              <a:buAutoNum type="alphaLcParenR"/>
            </a:pPr>
            <a:r>
              <a:rPr lang="en-US" dirty="0"/>
              <a:t>Blinding Group: Data documentation, survey information, research questions, </a:t>
            </a:r>
            <a:r>
              <a:rPr lang="en-US" b="1" dirty="0"/>
              <a:t>blinded dataset</a:t>
            </a:r>
          </a:p>
          <a:p>
            <a:pPr lvl="2">
              <a:buFont typeface="Courier New" panose="02070309020205020404" pitchFamily="49" charset="0"/>
              <a:buChar char="o"/>
            </a:pPr>
            <a:r>
              <a:rPr lang="en-US" dirty="0"/>
              <a:t>analysis script on blinded data</a:t>
            </a:r>
          </a:p>
          <a:p>
            <a:pPr marL="914400" lvl="2" indent="0">
              <a:buNone/>
            </a:pPr>
            <a:endParaRPr lang="en-US" dirty="0"/>
          </a:p>
          <a:p>
            <a:pPr marL="514350" indent="-514350">
              <a:buFont typeface="+mj-lt"/>
              <a:buAutoNum type="arabicPeriod"/>
            </a:pPr>
            <a:r>
              <a:rPr lang="en-US" dirty="0"/>
              <a:t>Stage 2: Teams submit their final analyses (March 2021)</a:t>
            </a:r>
          </a:p>
          <a:p>
            <a:pPr marL="971550" lvl="1" indent="-514350">
              <a:buFont typeface="+mj-lt"/>
              <a:buAutoNum type="alphaLcParenR"/>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4062565351"/>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Preliminary Results</a:t>
            </a:r>
          </a:p>
        </p:txBody>
      </p:sp>
      <p:sp>
        <p:nvSpPr>
          <p:cNvPr id="6" name="Content Placeholder 2">
            <a:extLst>
              <a:ext uri="{FF2B5EF4-FFF2-40B4-BE49-F238E27FC236}">
                <a16:creationId xmlns:a16="http://schemas.microsoft.com/office/drawing/2014/main" id="{6A2B8316-BA8F-674D-9E07-0437D72F4AEC}"/>
              </a:ext>
            </a:extLst>
          </p:cNvPr>
          <p:cNvSpPr txBox="1">
            <a:spLocks/>
          </p:cNvSpPr>
          <p:nvPr/>
        </p:nvSpPr>
        <p:spPr>
          <a:xfrm>
            <a:off x="990600" y="2167806"/>
            <a:ext cx="10515600" cy="1837266"/>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dirty="0"/>
          </a:p>
          <a:p>
            <a:pPr marL="514350" indent="-514350">
              <a:buFont typeface="+mj-lt"/>
              <a:buAutoNum type="arabicPeriod"/>
            </a:pPr>
            <a:r>
              <a:rPr lang="en-US" dirty="0"/>
              <a:t>Sign-up: 173 Teams</a:t>
            </a:r>
          </a:p>
          <a:p>
            <a:pPr marL="514350" indent="-514350">
              <a:buFont typeface="+mj-lt"/>
              <a:buAutoNum type="arabicPeriod"/>
            </a:pPr>
            <a:r>
              <a:rPr lang="en-US" dirty="0"/>
              <a:t>Stage 1: 127 Teams</a:t>
            </a:r>
          </a:p>
          <a:p>
            <a:pPr marL="514350" indent="-514350">
              <a:buFont typeface="+mj-lt"/>
              <a:buAutoNum type="arabicPeriod"/>
            </a:pPr>
            <a:r>
              <a:rPr lang="en-US" dirty="0"/>
              <a:t>Stage 2: 125 Teams</a:t>
            </a:r>
          </a:p>
        </p:txBody>
      </p:sp>
    </p:spTree>
    <p:extLst>
      <p:ext uri="{BB962C8B-B14F-4D97-AF65-F5344CB8AC3E}">
        <p14:creationId xmlns:p14="http://schemas.microsoft.com/office/powerpoint/2010/main" val="1664796360"/>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Preliminary Results: Theoretical</a:t>
            </a:r>
          </a:p>
        </p:txBody>
      </p:sp>
      <p:sp>
        <p:nvSpPr>
          <p:cNvPr id="7" name="Content Placeholder 2">
            <a:extLst>
              <a:ext uri="{FF2B5EF4-FFF2-40B4-BE49-F238E27FC236}">
                <a16:creationId xmlns:a16="http://schemas.microsoft.com/office/drawing/2014/main" id="{0D70774C-A32C-F741-B03F-AD3BE9DF3EC1}"/>
              </a:ext>
            </a:extLst>
          </p:cNvPr>
          <p:cNvSpPr>
            <a:spLocks noGrp="1"/>
          </p:cNvSpPr>
          <p:nvPr>
            <p:ph idx="1"/>
          </p:nvPr>
        </p:nvSpPr>
        <p:spPr>
          <a:xfrm>
            <a:off x="0" y="1734821"/>
            <a:ext cx="10515600" cy="855810"/>
          </a:xfrm>
        </p:spPr>
        <p:txBody>
          <a:bodyPr anchor="ctr">
            <a:normAutofit lnSpcReduction="10000"/>
          </a:bodyPr>
          <a:lstStyle/>
          <a:p>
            <a:pPr marL="914400" lvl="1" indent="-457200">
              <a:buFont typeface="+mj-lt"/>
              <a:buAutoNum type="arabicPeriod"/>
            </a:pPr>
            <a:endParaRPr lang="en-US" dirty="0"/>
          </a:p>
          <a:p>
            <a:pPr marL="0" indent="0">
              <a:buNone/>
            </a:pPr>
            <a:r>
              <a:rPr lang="en-US" dirty="0"/>
              <a:t>Do religious people report higher well-being? </a:t>
            </a:r>
          </a:p>
          <a:p>
            <a:endParaRPr lang="en-US" dirty="0"/>
          </a:p>
        </p:txBody>
      </p:sp>
      <p:pic>
        <p:nvPicPr>
          <p:cNvPr id="4" name="Picture 3">
            <a:extLst>
              <a:ext uri="{FF2B5EF4-FFF2-40B4-BE49-F238E27FC236}">
                <a16:creationId xmlns:a16="http://schemas.microsoft.com/office/drawing/2014/main" id="{44044D17-FE74-6F4A-8FBA-52C342FBE52F}"/>
              </a:ext>
            </a:extLst>
          </p:cNvPr>
          <p:cNvPicPr>
            <a:picLocks noChangeAspect="1"/>
          </p:cNvPicPr>
          <p:nvPr/>
        </p:nvPicPr>
        <p:blipFill>
          <a:blip r:embed="rId2"/>
          <a:stretch>
            <a:fillRect/>
          </a:stretch>
        </p:blipFill>
        <p:spPr>
          <a:xfrm>
            <a:off x="2793546" y="2536202"/>
            <a:ext cx="6604907" cy="4100444"/>
          </a:xfrm>
          <a:prstGeom prst="rect">
            <a:avLst/>
          </a:prstGeom>
        </p:spPr>
      </p:pic>
    </p:spTree>
    <p:extLst>
      <p:ext uri="{BB962C8B-B14F-4D97-AF65-F5344CB8AC3E}">
        <p14:creationId xmlns:p14="http://schemas.microsoft.com/office/powerpoint/2010/main" val="2370031735"/>
      </p:ext>
    </p:extLst>
  </p:cSld>
  <p:clrMapOvr>
    <a:overrideClrMapping bg1="dk1" tx1="lt1" bg2="dk2" tx2="lt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Preliminary Results: Theoretical</a:t>
            </a:r>
          </a:p>
        </p:txBody>
      </p:sp>
      <p:sp>
        <p:nvSpPr>
          <p:cNvPr id="7" name="Content Placeholder 2">
            <a:extLst>
              <a:ext uri="{FF2B5EF4-FFF2-40B4-BE49-F238E27FC236}">
                <a16:creationId xmlns:a16="http://schemas.microsoft.com/office/drawing/2014/main" id="{F6CE5148-D0FC-874B-BC57-7CE6B2222C1E}"/>
              </a:ext>
            </a:extLst>
          </p:cNvPr>
          <p:cNvSpPr>
            <a:spLocks noGrp="1"/>
          </p:cNvSpPr>
          <p:nvPr>
            <p:ph idx="1"/>
          </p:nvPr>
        </p:nvSpPr>
        <p:spPr>
          <a:xfrm>
            <a:off x="0" y="1734820"/>
            <a:ext cx="12070080" cy="1035811"/>
          </a:xfrm>
        </p:spPr>
        <p:txBody>
          <a:bodyPr anchor="ctr">
            <a:normAutofit fontScale="85000" lnSpcReduction="20000"/>
          </a:bodyPr>
          <a:lstStyle/>
          <a:p>
            <a:pPr marL="914400" lvl="1" indent="-457200">
              <a:buFont typeface="+mj-lt"/>
              <a:buAutoNum type="arabicPeriod"/>
            </a:pPr>
            <a:endParaRPr lang="en-US" dirty="0"/>
          </a:p>
          <a:p>
            <a:pPr marL="0" indent="0">
              <a:buNone/>
            </a:pPr>
            <a:r>
              <a:rPr lang="en-US" dirty="0"/>
              <a:t>Does the relation between religiosity and well-being depend on how important people consider religion to be in their country?</a:t>
            </a:r>
          </a:p>
          <a:p>
            <a:endParaRPr lang="en-US" dirty="0"/>
          </a:p>
        </p:txBody>
      </p:sp>
      <p:pic>
        <p:nvPicPr>
          <p:cNvPr id="6" name="Picture 5">
            <a:extLst>
              <a:ext uri="{FF2B5EF4-FFF2-40B4-BE49-F238E27FC236}">
                <a16:creationId xmlns:a16="http://schemas.microsoft.com/office/drawing/2014/main" id="{E78088B8-2A52-BB44-B23D-2D50A25C6EA6}"/>
              </a:ext>
            </a:extLst>
          </p:cNvPr>
          <p:cNvPicPr>
            <a:picLocks noChangeAspect="1"/>
          </p:cNvPicPr>
          <p:nvPr/>
        </p:nvPicPr>
        <p:blipFill>
          <a:blip r:embed="rId2"/>
          <a:stretch>
            <a:fillRect/>
          </a:stretch>
        </p:blipFill>
        <p:spPr>
          <a:xfrm>
            <a:off x="3009900" y="2741834"/>
            <a:ext cx="6172200" cy="3892171"/>
          </a:xfrm>
          <a:prstGeom prst="rect">
            <a:avLst/>
          </a:prstGeom>
        </p:spPr>
      </p:pic>
    </p:spTree>
    <p:extLst>
      <p:ext uri="{BB962C8B-B14F-4D97-AF65-F5344CB8AC3E}">
        <p14:creationId xmlns:p14="http://schemas.microsoft.com/office/powerpoint/2010/main" val="643043804"/>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Preliminary Results: Blinding vs Preregistration</a:t>
            </a:r>
          </a:p>
        </p:txBody>
      </p:sp>
      <p:sp>
        <p:nvSpPr>
          <p:cNvPr id="7" name="Content Placeholder 2">
            <a:extLst>
              <a:ext uri="{FF2B5EF4-FFF2-40B4-BE49-F238E27FC236}">
                <a16:creationId xmlns:a16="http://schemas.microsoft.com/office/drawing/2014/main" id="{F6CE5148-D0FC-874B-BC57-7CE6B2222C1E}"/>
              </a:ext>
            </a:extLst>
          </p:cNvPr>
          <p:cNvSpPr>
            <a:spLocks noGrp="1"/>
          </p:cNvSpPr>
          <p:nvPr>
            <p:ph idx="1"/>
          </p:nvPr>
        </p:nvSpPr>
        <p:spPr>
          <a:xfrm>
            <a:off x="1554480" y="1734820"/>
            <a:ext cx="10515600" cy="4578894"/>
          </a:xfrm>
        </p:spPr>
        <p:txBody>
          <a:bodyPr anchor="ctr">
            <a:normAutofit/>
          </a:bodyPr>
          <a:lstStyle/>
          <a:p>
            <a:pPr marL="914400" lvl="1" indent="-457200">
              <a:buFont typeface="+mj-lt"/>
              <a:buAutoNum type="arabicPeriod"/>
            </a:pPr>
            <a:endParaRPr lang="en-US" dirty="0"/>
          </a:p>
          <a:p>
            <a:pPr marL="0" indent="0">
              <a:buNone/>
            </a:pPr>
            <a:r>
              <a:rPr lang="en-US" sz="3100" dirty="0"/>
              <a:t>Based on 125 responses (62 blinding; 63 preregistration)</a:t>
            </a:r>
          </a:p>
          <a:p>
            <a:pPr marL="971550" lvl="1" indent="-514350">
              <a:buFont typeface="+mj-lt"/>
              <a:buAutoNum type="arabicPeriod"/>
            </a:pPr>
            <a:r>
              <a:rPr lang="en-US" sz="3100" dirty="0"/>
              <a:t>Time investment</a:t>
            </a:r>
          </a:p>
          <a:p>
            <a:pPr marL="971550" lvl="1" indent="-514350">
              <a:buFont typeface="+mj-lt"/>
              <a:buAutoNum type="arabicPeriod"/>
            </a:pPr>
            <a:r>
              <a:rPr lang="en-US" sz="3100" dirty="0"/>
              <a:t>Perceived effort</a:t>
            </a:r>
          </a:p>
          <a:p>
            <a:pPr marL="971550" lvl="1" indent="-514350">
              <a:buFont typeface="+mj-lt"/>
              <a:buAutoNum type="arabicPeriod"/>
            </a:pPr>
            <a:r>
              <a:rPr lang="en-US" sz="3100" dirty="0"/>
              <a:t>Perceived frustration</a:t>
            </a:r>
          </a:p>
          <a:p>
            <a:pPr marL="971550" lvl="1" indent="-514350">
              <a:buFont typeface="+mj-lt"/>
              <a:buAutoNum type="arabicPeriod"/>
            </a:pPr>
            <a:r>
              <a:rPr lang="en-US" sz="3100" dirty="0"/>
              <a:t>Deviations from analysis plan</a:t>
            </a:r>
          </a:p>
          <a:p>
            <a:endParaRPr lang="en-US" dirty="0"/>
          </a:p>
        </p:txBody>
      </p:sp>
    </p:spTree>
    <p:extLst>
      <p:ext uri="{BB962C8B-B14F-4D97-AF65-F5344CB8AC3E}">
        <p14:creationId xmlns:p14="http://schemas.microsoft.com/office/powerpoint/2010/main" val="3856936216"/>
      </p:ext>
    </p:extLst>
  </p:cSld>
  <p:clrMapOvr>
    <a:overrideClrMapping bg1="dk1" tx1="lt1" bg2="dk2" tx2="lt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Preliminary Results: Blinding vs Preregistration</a:t>
            </a:r>
          </a:p>
        </p:txBody>
      </p:sp>
      <p:sp>
        <p:nvSpPr>
          <p:cNvPr id="8" name="Content Placeholder 2">
            <a:extLst>
              <a:ext uri="{FF2B5EF4-FFF2-40B4-BE49-F238E27FC236}">
                <a16:creationId xmlns:a16="http://schemas.microsoft.com/office/drawing/2014/main" id="{2147FA9B-717E-AE40-A3AF-FB866319FB78}"/>
              </a:ext>
            </a:extLst>
          </p:cNvPr>
          <p:cNvSpPr txBox="1">
            <a:spLocks/>
          </p:cNvSpPr>
          <p:nvPr/>
        </p:nvSpPr>
        <p:spPr>
          <a:xfrm>
            <a:off x="838200" y="5715192"/>
            <a:ext cx="3781425" cy="1047558"/>
          </a:xfrm>
          <a:prstGeom prst="rect">
            <a:avLst/>
          </a:prstGeom>
        </p:spPr>
        <p:txBody>
          <a:bodyPr vert="horz" lIns="91440" tIns="45720" rIns="91440" bIns="45720" rtlCol="0" anchor="ct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Independent samples t-test</a:t>
            </a:r>
          </a:p>
          <a:p>
            <a:pPr marL="0" indent="0">
              <a:buNone/>
            </a:pPr>
            <a:r>
              <a:rPr lang="en-US" dirty="0"/>
              <a:t>BF0- : 14.77</a:t>
            </a:r>
          </a:p>
        </p:txBody>
      </p:sp>
      <p:pic>
        <p:nvPicPr>
          <p:cNvPr id="12" name="Picture 11">
            <a:extLst>
              <a:ext uri="{FF2B5EF4-FFF2-40B4-BE49-F238E27FC236}">
                <a16:creationId xmlns:a16="http://schemas.microsoft.com/office/drawing/2014/main" id="{D6A2BA90-E9F7-C045-AB96-3FEBB3672A35}"/>
              </a:ext>
            </a:extLst>
          </p:cNvPr>
          <p:cNvPicPr>
            <a:picLocks noChangeAspect="1"/>
          </p:cNvPicPr>
          <p:nvPr/>
        </p:nvPicPr>
        <p:blipFill>
          <a:blip r:embed="rId2"/>
          <a:stretch>
            <a:fillRect/>
          </a:stretch>
        </p:blipFill>
        <p:spPr>
          <a:xfrm>
            <a:off x="925285" y="2514311"/>
            <a:ext cx="3873067" cy="3200882"/>
          </a:xfrm>
          <a:prstGeom prst="rect">
            <a:avLst/>
          </a:prstGeom>
        </p:spPr>
      </p:pic>
      <p:sp>
        <p:nvSpPr>
          <p:cNvPr id="17" name="Content Placeholder 2">
            <a:extLst>
              <a:ext uri="{FF2B5EF4-FFF2-40B4-BE49-F238E27FC236}">
                <a16:creationId xmlns:a16="http://schemas.microsoft.com/office/drawing/2014/main" id="{D04258EC-88D1-6B48-8900-BAFD87CB94FB}"/>
              </a:ext>
            </a:extLst>
          </p:cNvPr>
          <p:cNvSpPr>
            <a:spLocks noGrp="1"/>
          </p:cNvSpPr>
          <p:nvPr>
            <p:ph idx="1"/>
          </p:nvPr>
        </p:nvSpPr>
        <p:spPr>
          <a:xfrm>
            <a:off x="838200" y="1760532"/>
            <a:ext cx="6966857" cy="907869"/>
          </a:xfrm>
        </p:spPr>
        <p:txBody>
          <a:bodyPr anchor="ctr">
            <a:normAutofit fontScale="70000" lnSpcReduction="20000"/>
          </a:bodyPr>
          <a:lstStyle/>
          <a:p>
            <a:pPr marL="914400" lvl="1" indent="-457200">
              <a:buFont typeface="+mj-lt"/>
              <a:buAutoNum type="arabicPeriod"/>
            </a:pPr>
            <a:endParaRPr lang="en-US" dirty="0"/>
          </a:p>
          <a:p>
            <a:pPr marL="0" indent="0">
              <a:buNone/>
            </a:pPr>
            <a:r>
              <a:rPr lang="en-US" sz="3200" i="1" dirty="0"/>
              <a:t>Hypothesis: </a:t>
            </a:r>
            <a:r>
              <a:rPr lang="en-US" sz="3200" dirty="0"/>
              <a:t>Blinded analysis saves time (stage 1 + stage 2)</a:t>
            </a:r>
          </a:p>
          <a:p>
            <a:pPr marL="0" indent="0">
              <a:buNone/>
            </a:pPr>
            <a:endParaRPr lang="en-US" dirty="0"/>
          </a:p>
        </p:txBody>
      </p:sp>
    </p:spTree>
    <p:extLst>
      <p:ext uri="{BB962C8B-B14F-4D97-AF65-F5344CB8AC3E}">
        <p14:creationId xmlns:p14="http://schemas.microsoft.com/office/powerpoint/2010/main" val="1707593345"/>
      </p:ext>
    </p:extLst>
  </p:cSld>
  <p:clrMapOvr>
    <a:overrideClrMapping bg1="dk1" tx1="lt1" bg2="dk2" tx2="lt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Preliminary Results: Blinding vs Preregistration</a:t>
            </a:r>
          </a:p>
        </p:txBody>
      </p:sp>
      <p:sp>
        <p:nvSpPr>
          <p:cNvPr id="7" name="Content Placeholder 2">
            <a:extLst>
              <a:ext uri="{FF2B5EF4-FFF2-40B4-BE49-F238E27FC236}">
                <a16:creationId xmlns:a16="http://schemas.microsoft.com/office/drawing/2014/main" id="{F6CE5148-D0FC-874B-BC57-7CE6B2222C1E}"/>
              </a:ext>
            </a:extLst>
          </p:cNvPr>
          <p:cNvSpPr>
            <a:spLocks noGrp="1"/>
          </p:cNvSpPr>
          <p:nvPr>
            <p:ph idx="1"/>
          </p:nvPr>
        </p:nvSpPr>
        <p:spPr>
          <a:xfrm>
            <a:off x="838200" y="1760532"/>
            <a:ext cx="6966857" cy="907869"/>
          </a:xfrm>
        </p:spPr>
        <p:txBody>
          <a:bodyPr anchor="ctr">
            <a:normAutofit fontScale="70000" lnSpcReduction="20000"/>
          </a:bodyPr>
          <a:lstStyle/>
          <a:p>
            <a:pPr marL="914400" lvl="1" indent="-457200">
              <a:buFont typeface="+mj-lt"/>
              <a:buAutoNum type="arabicPeriod"/>
            </a:pPr>
            <a:endParaRPr lang="en-US" dirty="0"/>
          </a:p>
          <a:p>
            <a:pPr marL="0" indent="0">
              <a:buNone/>
            </a:pPr>
            <a:r>
              <a:rPr lang="en-US" sz="3200" i="1" dirty="0"/>
              <a:t>Hypothesis: </a:t>
            </a:r>
            <a:r>
              <a:rPr lang="en-US" sz="3200" dirty="0"/>
              <a:t>Blinded analysis saves time (stage 1 + stage 2)</a:t>
            </a:r>
          </a:p>
          <a:p>
            <a:pPr marL="0" indent="0">
              <a:buNone/>
            </a:pPr>
            <a:endParaRPr lang="en-US" dirty="0"/>
          </a:p>
        </p:txBody>
      </p:sp>
      <p:sp>
        <p:nvSpPr>
          <p:cNvPr id="8" name="Content Placeholder 2">
            <a:extLst>
              <a:ext uri="{FF2B5EF4-FFF2-40B4-BE49-F238E27FC236}">
                <a16:creationId xmlns:a16="http://schemas.microsoft.com/office/drawing/2014/main" id="{2147FA9B-717E-AE40-A3AF-FB866319FB78}"/>
              </a:ext>
            </a:extLst>
          </p:cNvPr>
          <p:cNvSpPr txBox="1">
            <a:spLocks/>
          </p:cNvSpPr>
          <p:nvPr/>
        </p:nvSpPr>
        <p:spPr>
          <a:xfrm>
            <a:off x="838200" y="5715192"/>
            <a:ext cx="3781425" cy="1047558"/>
          </a:xfrm>
          <a:prstGeom prst="rect">
            <a:avLst/>
          </a:prstGeom>
        </p:spPr>
        <p:txBody>
          <a:bodyPr vert="horz" lIns="91440" tIns="45720" rIns="91440" bIns="45720" rtlCol="0" anchor="ct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Independent samples t-test</a:t>
            </a:r>
          </a:p>
          <a:p>
            <a:pPr marL="0" indent="0">
              <a:buNone/>
            </a:pPr>
            <a:r>
              <a:rPr lang="en-US" dirty="0"/>
              <a:t>BF0- : 14.77</a:t>
            </a:r>
          </a:p>
        </p:txBody>
      </p:sp>
      <p:pic>
        <p:nvPicPr>
          <p:cNvPr id="12" name="Picture 11">
            <a:extLst>
              <a:ext uri="{FF2B5EF4-FFF2-40B4-BE49-F238E27FC236}">
                <a16:creationId xmlns:a16="http://schemas.microsoft.com/office/drawing/2014/main" id="{48CB375A-63D1-C04B-9208-D30C6B444356}"/>
              </a:ext>
            </a:extLst>
          </p:cNvPr>
          <p:cNvPicPr>
            <a:picLocks noChangeAspect="1"/>
          </p:cNvPicPr>
          <p:nvPr/>
        </p:nvPicPr>
        <p:blipFill>
          <a:blip r:embed="rId2"/>
          <a:stretch>
            <a:fillRect/>
          </a:stretch>
        </p:blipFill>
        <p:spPr>
          <a:xfrm>
            <a:off x="925285" y="2514311"/>
            <a:ext cx="3873067" cy="3200882"/>
          </a:xfrm>
          <a:prstGeom prst="rect">
            <a:avLst/>
          </a:prstGeom>
        </p:spPr>
      </p:pic>
      <p:pic>
        <p:nvPicPr>
          <p:cNvPr id="15" name="Picture 14">
            <a:extLst>
              <a:ext uri="{FF2B5EF4-FFF2-40B4-BE49-F238E27FC236}">
                <a16:creationId xmlns:a16="http://schemas.microsoft.com/office/drawing/2014/main" id="{10634AF7-9F51-EB45-B210-A4EA5907F743}"/>
              </a:ext>
            </a:extLst>
          </p:cNvPr>
          <p:cNvPicPr>
            <a:picLocks noChangeAspect="1"/>
          </p:cNvPicPr>
          <p:nvPr/>
        </p:nvPicPr>
        <p:blipFill>
          <a:blip r:embed="rId3"/>
          <a:stretch>
            <a:fillRect/>
          </a:stretch>
        </p:blipFill>
        <p:spPr>
          <a:xfrm>
            <a:off x="8586107" y="1851880"/>
            <a:ext cx="2672339" cy="2284050"/>
          </a:xfrm>
          <a:prstGeom prst="rect">
            <a:avLst/>
          </a:prstGeom>
        </p:spPr>
      </p:pic>
      <p:pic>
        <p:nvPicPr>
          <p:cNvPr id="17" name="Picture 16">
            <a:extLst>
              <a:ext uri="{FF2B5EF4-FFF2-40B4-BE49-F238E27FC236}">
                <a16:creationId xmlns:a16="http://schemas.microsoft.com/office/drawing/2014/main" id="{A23CCABA-9BD0-2048-8E9E-4413026DD798}"/>
              </a:ext>
            </a:extLst>
          </p:cNvPr>
          <p:cNvPicPr>
            <a:picLocks noChangeAspect="1"/>
          </p:cNvPicPr>
          <p:nvPr/>
        </p:nvPicPr>
        <p:blipFill>
          <a:blip r:embed="rId4"/>
          <a:stretch>
            <a:fillRect/>
          </a:stretch>
        </p:blipFill>
        <p:spPr>
          <a:xfrm>
            <a:off x="8586106" y="4290921"/>
            <a:ext cx="2672339" cy="2335580"/>
          </a:xfrm>
          <a:prstGeom prst="rect">
            <a:avLst/>
          </a:prstGeom>
        </p:spPr>
      </p:pic>
    </p:spTree>
    <p:extLst>
      <p:ext uri="{BB962C8B-B14F-4D97-AF65-F5344CB8AC3E}">
        <p14:creationId xmlns:p14="http://schemas.microsoft.com/office/powerpoint/2010/main" val="1868165661"/>
      </p:ext>
    </p:extLst>
  </p:cSld>
  <p:clrMapOvr>
    <a:overrideClrMapping bg1="dk1" tx1="lt1" bg2="dk2" tx2="lt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Preliminary Results: Blinding vs Preregistration</a:t>
            </a:r>
          </a:p>
        </p:txBody>
      </p:sp>
      <p:sp>
        <p:nvSpPr>
          <p:cNvPr id="10" name="Content Placeholder 2">
            <a:extLst>
              <a:ext uri="{FF2B5EF4-FFF2-40B4-BE49-F238E27FC236}">
                <a16:creationId xmlns:a16="http://schemas.microsoft.com/office/drawing/2014/main" id="{843AE48B-4F01-C945-81C7-617B24FEC186}"/>
              </a:ext>
            </a:extLst>
          </p:cNvPr>
          <p:cNvSpPr txBox="1">
            <a:spLocks/>
          </p:cNvSpPr>
          <p:nvPr/>
        </p:nvSpPr>
        <p:spPr>
          <a:xfrm>
            <a:off x="695326" y="1785996"/>
            <a:ext cx="10021507" cy="907869"/>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buFont typeface="+mj-lt"/>
              <a:buAutoNum type="arabicPeriod"/>
            </a:pPr>
            <a:endParaRPr lang="en-US" dirty="0"/>
          </a:p>
          <a:p>
            <a:pPr marL="0" indent="0">
              <a:buNone/>
            </a:pPr>
            <a:r>
              <a:rPr lang="en-US" sz="3200" i="1" dirty="0"/>
              <a:t>Hypothesis: </a:t>
            </a:r>
            <a:r>
              <a:rPr lang="en-US" sz="3200" dirty="0"/>
              <a:t>Blinded analysis is less effort and causes less frustration (stage 1 + stage 2)</a:t>
            </a:r>
          </a:p>
          <a:p>
            <a:pPr marL="0" indent="0">
              <a:buFont typeface="Arial" panose="020B0604020202020204" pitchFamily="34" charset="0"/>
              <a:buNone/>
            </a:pPr>
            <a:endParaRPr lang="en-US" dirty="0"/>
          </a:p>
        </p:txBody>
      </p:sp>
      <p:sp>
        <p:nvSpPr>
          <p:cNvPr id="11" name="Content Placeholder 2">
            <a:extLst>
              <a:ext uri="{FF2B5EF4-FFF2-40B4-BE49-F238E27FC236}">
                <a16:creationId xmlns:a16="http://schemas.microsoft.com/office/drawing/2014/main" id="{A88F8A11-90C8-894A-A83A-1D6892719D61}"/>
              </a:ext>
            </a:extLst>
          </p:cNvPr>
          <p:cNvSpPr txBox="1">
            <a:spLocks/>
          </p:cNvSpPr>
          <p:nvPr/>
        </p:nvSpPr>
        <p:spPr>
          <a:xfrm>
            <a:off x="5675993" y="5867275"/>
            <a:ext cx="3035766" cy="777683"/>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Independent samples t-test</a:t>
            </a:r>
          </a:p>
          <a:p>
            <a:pPr marL="0" indent="0">
              <a:buNone/>
            </a:pPr>
            <a:r>
              <a:rPr lang="en-US" dirty="0"/>
              <a:t>BF0- : 5.58</a:t>
            </a:r>
          </a:p>
        </p:txBody>
      </p:sp>
      <p:sp>
        <p:nvSpPr>
          <p:cNvPr id="13" name="Content Placeholder 2">
            <a:extLst>
              <a:ext uri="{FF2B5EF4-FFF2-40B4-BE49-F238E27FC236}">
                <a16:creationId xmlns:a16="http://schemas.microsoft.com/office/drawing/2014/main" id="{73B9D9DB-BF43-C947-AD7E-7D168BB3FE3C}"/>
              </a:ext>
            </a:extLst>
          </p:cNvPr>
          <p:cNvSpPr txBox="1">
            <a:spLocks/>
          </p:cNvSpPr>
          <p:nvPr/>
        </p:nvSpPr>
        <p:spPr>
          <a:xfrm>
            <a:off x="695326" y="5839836"/>
            <a:ext cx="3035766" cy="777683"/>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Independent samples t-test</a:t>
            </a:r>
          </a:p>
          <a:p>
            <a:pPr marL="0" indent="0">
              <a:buNone/>
            </a:pPr>
            <a:r>
              <a:rPr lang="en-US" dirty="0"/>
              <a:t>BF0- : 4.477</a:t>
            </a:r>
          </a:p>
        </p:txBody>
      </p:sp>
      <p:pic>
        <p:nvPicPr>
          <p:cNvPr id="4" name="Picture 3">
            <a:extLst>
              <a:ext uri="{FF2B5EF4-FFF2-40B4-BE49-F238E27FC236}">
                <a16:creationId xmlns:a16="http://schemas.microsoft.com/office/drawing/2014/main" id="{D416D2EB-196F-0C4E-8E53-FABBA23529EB}"/>
              </a:ext>
            </a:extLst>
          </p:cNvPr>
          <p:cNvPicPr>
            <a:picLocks noChangeAspect="1"/>
          </p:cNvPicPr>
          <p:nvPr/>
        </p:nvPicPr>
        <p:blipFill rotWithShape="1">
          <a:blip r:embed="rId2"/>
          <a:srcRect t="7023"/>
          <a:stretch/>
        </p:blipFill>
        <p:spPr>
          <a:xfrm>
            <a:off x="809624" y="2696832"/>
            <a:ext cx="3764223" cy="3082174"/>
          </a:xfrm>
          <a:prstGeom prst="rect">
            <a:avLst/>
          </a:prstGeom>
        </p:spPr>
      </p:pic>
      <p:pic>
        <p:nvPicPr>
          <p:cNvPr id="7" name="Picture 6">
            <a:extLst>
              <a:ext uri="{FF2B5EF4-FFF2-40B4-BE49-F238E27FC236}">
                <a16:creationId xmlns:a16="http://schemas.microsoft.com/office/drawing/2014/main" id="{EBA6162A-67EF-CB44-A0E8-E3DAD7D70590}"/>
              </a:ext>
            </a:extLst>
          </p:cNvPr>
          <p:cNvPicPr>
            <a:picLocks noChangeAspect="1"/>
          </p:cNvPicPr>
          <p:nvPr/>
        </p:nvPicPr>
        <p:blipFill rotWithShape="1">
          <a:blip r:embed="rId3"/>
          <a:srcRect t="7966"/>
          <a:stretch/>
        </p:blipFill>
        <p:spPr>
          <a:xfrm>
            <a:off x="5675990" y="2693865"/>
            <a:ext cx="3764223" cy="3119360"/>
          </a:xfrm>
          <a:prstGeom prst="rect">
            <a:avLst/>
          </a:prstGeom>
        </p:spPr>
      </p:pic>
    </p:spTree>
    <p:extLst>
      <p:ext uri="{BB962C8B-B14F-4D97-AF65-F5344CB8AC3E}">
        <p14:creationId xmlns:p14="http://schemas.microsoft.com/office/powerpoint/2010/main" val="2706059798"/>
      </p:ext>
    </p:extLst>
  </p:cSld>
  <p:clrMapOvr>
    <a:overrideClrMapping bg1="dk1" tx1="lt1" bg2="dk2" tx2="lt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3A4F209C-C20E-4FA7-B241-1EF4F8D19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6">
            <a:extLst>
              <a:ext uri="{FF2B5EF4-FFF2-40B4-BE49-F238E27FC236}">
                <a16:creationId xmlns:a16="http://schemas.microsoft.com/office/drawing/2014/main" id="{E4564234-45B0-4ED8-A9E2-199C00173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2192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9B72B-1898-944F-8E16-79262A0DC68E}"/>
              </a:ext>
            </a:extLst>
          </p:cNvPr>
          <p:cNvSpPr>
            <a:spLocks noGrp="1"/>
          </p:cNvSpPr>
          <p:nvPr>
            <p:ph type="title"/>
          </p:nvPr>
        </p:nvSpPr>
        <p:spPr>
          <a:xfrm>
            <a:off x="838200" y="365125"/>
            <a:ext cx="10515600" cy="1325563"/>
          </a:xfrm>
        </p:spPr>
        <p:txBody>
          <a:bodyPr>
            <a:normAutofit/>
          </a:bodyPr>
          <a:lstStyle/>
          <a:p>
            <a:r>
              <a:rPr lang="en-US" dirty="0">
                <a:solidFill>
                  <a:schemeClr val="bg1">
                    <a:lumMod val="95000"/>
                    <a:lumOff val="5000"/>
                  </a:schemeClr>
                </a:solidFill>
              </a:rPr>
              <a:t>Preliminary Results: Blinding vs Preregistration</a:t>
            </a:r>
          </a:p>
        </p:txBody>
      </p:sp>
      <p:sp>
        <p:nvSpPr>
          <p:cNvPr id="14" name="Content Placeholder 2">
            <a:extLst>
              <a:ext uri="{FF2B5EF4-FFF2-40B4-BE49-F238E27FC236}">
                <a16:creationId xmlns:a16="http://schemas.microsoft.com/office/drawing/2014/main" id="{CAA4B9B8-A2F8-D04F-8034-8CA2536247C7}"/>
              </a:ext>
            </a:extLst>
          </p:cNvPr>
          <p:cNvSpPr>
            <a:spLocks noGrp="1"/>
          </p:cNvSpPr>
          <p:nvPr>
            <p:ph idx="1"/>
          </p:nvPr>
        </p:nvSpPr>
        <p:spPr>
          <a:xfrm>
            <a:off x="598645" y="1683064"/>
            <a:ext cx="10755155" cy="1035811"/>
          </a:xfrm>
        </p:spPr>
        <p:txBody>
          <a:bodyPr anchor="ctr">
            <a:normAutofit fontScale="92500" lnSpcReduction="20000"/>
          </a:bodyPr>
          <a:lstStyle/>
          <a:p>
            <a:pPr marL="914400" lvl="1" indent="-457200">
              <a:buFont typeface="+mj-lt"/>
              <a:buAutoNum type="arabicPeriod"/>
            </a:pPr>
            <a:endParaRPr lang="en-US" dirty="0"/>
          </a:p>
          <a:p>
            <a:pPr marL="0" indent="0">
              <a:buNone/>
            </a:pPr>
            <a:r>
              <a:rPr lang="en-US" i="1" dirty="0"/>
              <a:t>Hypothesis: </a:t>
            </a:r>
            <a:r>
              <a:rPr lang="en-US" dirty="0"/>
              <a:t>Teams that use analysis blinding deviate less from the analysis plan. If they deviate, they deviate on fewer aspects </a:t>
            </a:r>
          </a:p>
          <a:p>
            <a:endParaRPr lang="en-US" dirty="0"/>
          </a:p>
        </p:txBody>
      </p:sp>
      <p:sp>
        <p:nvSpPr>
          <p:cNvPr id="21" name="Content Placeholder 2">
            <a:extLst>
              <a:ext uri="{FF2B5EF4-FFF2-40B4-BE49-F238E27FC236}">
                <a16:creationId xmlns:a16="http://schemas.microsoft.com/office/drawing/2014/main" id="{F8AB925B-8B6D-BD4C-84A2-16A805BF3F5A}"/>
              </a:ext>
            </a:extLst>
          </p:cNvPr>
          <p:cNvSpPr txBox="1">
            <a:spLocks/>
          </p:cNvSpPr>
          <p:nvPr/>
        </p:nvSpPr>
        <p:spPr>
          <a:xfrm>
            <a:off x="9413121" y="3265472"/>
            <a:ext cx="1940679" cy="69874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t>BFr0 : 4.5</a:t>
            </a:r>
          </a:p>
        </p:txBody>
      </p:sp>
      <p:sp>
        <p:nvSpPr>
          <p:cNvPr id="22" name="Content Placeholder 2">
            <a:extLst>
              <a:ext uri="{FF2B5EF4-FFF2-40B4-BE49-F238E27FC236}">
                <a16:creationId xmlns:a16="http://schemas.microsoft.com/office/drawing/2014/main" id="{3AD832F3-4DED-7549-A2AB-24DF905B5F6A}"/>
              </a:ext>
            </a:extLst>
          </p:cNvPr>
          <p:cNvSpPr txBox="1">
            <a:spLocks/>
          </p:cNvSpPr>
          <p:nvPr/>
        </p:nvSpPr>
        <p:spPr>
          <a:xfrm>
            <a:off x="9413120" y="4269723"/>
            <a:ext cx="2666520" cy="2424333"/>
          </a:xfrm>
          <a:prstGeom prst="rect">
            <a:avLst/>
          </a:prstGeom>
        </p:spPr>
        <p:txBody>
          <a:bodyPr vert="horz" lIns="91440" tIns="45720" rIns="91440" bIns="45720" rtlCol="0" anchor="ctr">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6400" dirty="0"/>
              <a:t>Probability to adhere was higher for blinding group (58% vs 74%)</a:t>
            </a:r>
          </a:p>
          <a:p>
            <a:pPr marL="0" indent="0">
              <a:buNone/>
            </a:pPr>
            <a:endParaRPr lang="en-US" sz="6400" dirty="0"/>
          </a:p>
          <a:p>
            <a:pPr marL="0" indent="0">
              <a:buNone/>
            </a:pPr>
            <a:r>
              <a:rPr lang="en-US" sz="6400" dirty="0"/>
              <a:t>Blinding group deviated on fewer aspects (2.1 vs 1.7)</a:t>
            </a:r>
          </a:p>
        </p:txBody>
      </p:sp>
      <p:sp>
        <p:nvSpPr>
          <p:cNvPr id="23" name="Content Placeholder 2">
            <a:extLst>
              <a:ext uri="{FF2B5EF4-FFF2-40B4-BE49-F238E27FC236}">
                <a16:creationId xmlns:a16="http://schemas.microsoft.com/office/drawing/2014/main" id="{0095DCDE-EA62-3E4C-B8B8-AF5292E626CB}"/>
              </a:ext>
            </a:extLst>
          </p:cNvPr>
          <p:cNvSpPr txBox="1">
            <a:spLocks/>
          </p:cNvSpPr>
          <p:nvPr/>
        </p:nvSpPr>
        <p:spPr>
          <a:xfrm>
            <a:off x="9381719" y="2389436"/>
            <a:ext cx="2666520" cy="984316"/>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Zero-inflated Poisson regression model</a:t>
            </a:r>
          </a:p>
        </p:txBody>
      </p:sp>
      <p:pic>
        <p:nvPicPr>
          <p:cNvPr id="4" name="Picture 3">
            <a:extLst>
              <a:ext uri="{FF2B5EF4-FFF2-40B4-BE49-F238E27FC236}">
                <a16:creationId xmlns:a16="http://schemas.microsoft.com/office/drawing/2014/main" id="{8F2EC8F8-38CB-EE41-B8BE-029EA372F56F}"/>
              </a:ext>
            </a:extLst>
          </p:cNvPr>
          <p:cNvPicPr>
            <a:picLocks noChangeAspect="1"/>
          </p:cNvPicPr>
          <p:nvPr/>
        </p:nvPicPr>
        <p:blipFill>
          <a:blip r:embed="rId2"/>
          <a:stretch>
            <a:fillRect/>
          </a:stretch>
        </p:blipFill>
        <p:spPr>
          <a:xfrm>
            <a:off x="708852" y="5328865"/>
            <a:ext cx="3655192" cy="1315869"/>
          </a:xfrm>
          <a:prstGeom prst="rect">
            <a:avLst/>
          </a:prstGeom>
        </p:spPr>
      </p:pic>
      <p:pic>
        <p:nvPicPr>
          <p:cNvPr id="6" name="Picture 5">
            <a:extLst>
              <a:ext uri="{FF2B5EF4-FFF2-40B4-BE49-F238E27FC236}">
                <a16:creationId xmlns:a16="http://schemas.microsoft.com/office/drawing/2014/main" id="{796B8F75-5E25-6249-9340-1F26283B2E50}"/>
              </a:ext>
            </a:extLst>
          </p:cNvPr>
          <p:cNvPicPr>
            <a:picLocks noChangeAspect="1"/>
          </p:cNvPicPr>
          <p:nvPr/>
        </p:nvPicPr>
        <p:blipFill>
          <a:blip r:embed="rId3"/>
          <a:stretch>
            <a:fillRect/>
          </a:stretch>
        </p:blipFill>
        <p:spPr>
          <a:xfrm>
            <a:off x="5206504" y="5328865"/>
            <a:ext cx="3655192" cy="1365192"/>
          </a:xfrm>
          <a:prstGeom prst="rect">
            <a:avLst/>
          </a:prstGeom>
        </p:spPr>
      </p:pic>
      <p:pic>
        <p:nvPicPr>
          <p:cNvPr id="8" name="Picture 7">
            <a:extLst>
              <a:ext uri="{FF2B5EF4-FFF2-40B4-BE49-F238E27FC236}">
                <a16:creationId xmlns:a16="http://schemas.microsoft.com/office/drawing/2014/main" id="{BBBC49FC-8CB6-A044-B3E7-6DCC8AC753C4}"/>
              </a:ext>
            </a:extLst>
          </p:cNvPr>
          <p:cNvPicPr>
            <a:picLocks noChangeAspect="1"/>
          </p:cNvPicPr>
          <p:nvPr/>
        </p:nvPicPr>
        <p:blipFill>
          <a:blip r:embed="rId4"/>
          <a:stretch>
            <a:fillRect/>
          </a:stretch>
        </p:blipFill>
        <p:spPr>
          <a:xfrm>
            <a:off x="708851" y="2552761"/>
            <a:ext cx="3655191" cy="2615096"/>
          </a:xfrm>
          <a:prstGeom prst="rect">
            <a:avLst/>
          </a:prstGeom>
        </p:spPr>
      </p:pic>
      <p:pic>
        <p:nvPicPr>
          <p:cNvPr id="25" name="Picture 24">
            <a:extLst>
              <a:ext uri="{FF2B5EF4-FFF2-40B4-BE49-F238E27FC236}">
                <a16:creationId xmlns:a16="http://schemas.microsoft.com/office/drawing/2014/main" id="{C8FE5456-A2AD-004C-8841-B503597C200B}"/>
              </a:ext>
            </a:extLst>
          </p:cNvPr>
          <p:cNvPicPr>
            <a:picLocks noChangeAspect="1"/>
          </p:cNvPicPr>
          <p:nvPr/>
        </p:nvPicPr>
        <p:blipFill>
          <a:blip r:embed="rId5"/>
          <a:stretch>
            <a:fillRect/>
          </a:stretch>
        </p:blipFill>
        <p:spPr>
          <a:xfrm>
            <a:off x="5206503" y="2553232"/>
            <a:ext cx="3675925" cy="2612641"/>
          </a:xfrm>
          <a:prstGeom prst="rect">
            <a:avLst/>
          </a:prstGeom>
        </p:spPr>
      </p:pic>
    </p:spTree>
    <p:extLst>
      <p:ext uri="{BB962C8B-B14F-4D97-AF65-F5344CB8AC3E}">
        <p14:creationId xmlns:p14="http://schemas.microsoft.com/office/powerpoint/2010/main" val="3777625132"/>
      </p:ext>
    </p:extLst>
  </p:cSld>
  <p:clrMapOvr>
    <a:overrideClrMapping bg1="dk1" tx1="lt1" bg2="dk2" tx2="lt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7A21B5-F599-4E4D-A51F-AB1AAD8FA3E6}"/>
              </a:ext>
            </a:extLst>
          </p:cNvPr>
          <p:cNvSpPr>
            <a:spLocks noGrp="1"/>
          </p:cNvSpPr>
          <p:nvPr>
            <p:ph type="ctrTitle"/>
          </p:nvPr>
        </p:nvSpPr>
        <p:spPr>
          <a:xfrm>
            <a:off x="6592164" y="2855068"/>
            <a:ext cx="4645250" cy="1147863"/>
          </a:xfrm>
        </p:spPr>
        <p:txBody>
          <a:bodyPr anchor="b">
            <a:normAutofit fontScale="90000"/>
          </a:bodyPr>
          <a:lstStyle/>
          <a:p>
            <a:pPr algn="l"/>
            <a:r>
              <a:rPr lang="en-US" sz="4700" dirty="0">
                <a:solidFill>
                  <a:schemeClr val="bg1"/>
                </a:solidFill>
              </a:rPr>
              <a:t>Thoughts and Comments</a:t>
            </a:r>
          </a:p>
        </p:txBody>
      </p:sp>
      <p:sp>
        <p:nvSpPr>
          <p:cNvPr id="24" name="Freeform: Shape 23">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5">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Inhaltsplatzhalter 3" descr="Vrouwe Justitia_Gilles_01.jpg">
            <a:extLst>
              <a:ext uri="{FF2B5EF4-FFF2-40B4-BE49-F238E27FC236}">
                <a16:creationId xmlns:a16="http://schemas.microsoft.com/office/drawing/2014/main" id="{FE4B77D9-5631-2E49-BBC0-1CA11396DAEB}"/>
              </a:ext>
            </a:extLst>
          </p:cNvPr>
          <p:cNvPicPr>
            <a:picLocks/>
          </p:cNvPicPr>
          <p:nvPr/>
        </p:nvPicPr>
        <p:blipFill rotWithShape="1">
          <a:blip r:embed="rId2" cstate="print">
            <a:duotone>
              <a:schemeClr val="accent4">
                <a:shade val="45000"/>
                <a:satMod val="135000"/>
              </a:schemeClr>
              <a:prstClr val="white"/>
            </a:duotone>
            <a:alphaModFix/>
            <a:extLst>
              <a:ext uri="{BEBA8EAE-BF5A-486C-A8C5-ECC9F3942E4B}">
                <a14:imgProps xmlns:a14="http://schemas.microsoft.com/office/drawing/2010/main">
                  <a14:imgLayer r:embed="rId3">
                    <a14:imgEffect>
                      <a14:colorTemperature colorTemp="7200"/>
                    </a14:imgEffect>
                  </a14:imgLayer>
                </a14:imgProps>
              </a:ext>
            </a:extLst>
          </a:blip>
          <a:srcRect l="25407" t="14009" r="16548" b="20078"/>
          <a:stretch/>
        </p:blipFill>
        <p:spPr>
          <a:xfrm rot="10800000" flipH="1" flipV="1">
            <a:off x="26696" y="97005"/>
            <a:ext cx="4205545" cy="6755057"/>
          </a:xfrm>
          <a:prstGeom prst="foldedCorner">
            <a:avLst>
              <a:gd name="adj" fmla="val 39257"/>
            </a:avLst>
          </a:prstGeom>
          <a:effectLst>
            <a:softEdge rad="0"/>
          </a:effectLst>
        </p:spPr>
      </p:pic>
      <p:sp>
        <p:nvSpPr>
          <p:cNvPr id="8" name="Right Triangle 7">
            <a:extLst>
              <a:ext uri="{FF2B5EF4-FFF2-40B4-BE49-F238E27FC236}">
                <a16:creationId xmlns:a16="http://schemas.microsoft.com/office/drawing/2014/main" id="{6C7B6000-1D7B-5648-B8CA-692CE1ED77DF}"/>
              </a:ext>
            </a:extLst>
          </p:cNvPr>
          <p:cNvSpPr/>
          <p:nvPr/>
        </p:nvSpPr>
        <p:spPr>
          <a:xfrm rot="6172081">
            <a:off x="2411753" y="5286005"/>
            <a:ext cx="2119704" cy="1352202"/>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76202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1473</TotalTime>
  <Words>1379</Words>
  <Application>Microsoft Macintosh PowerPoint</Application>
  <PresentationFormat>Widescreen</PresentationFormat>
  <Paragraphs>307</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Courier New</vt:lpstr>
      <vt:lpstr>Lucida Sans</vt:lpstr>
      <vt:lpstr>Office Theme</vt:lpstr>
      <vt:lpstr>Preregistration and Blinded Analysis</vt:lpstr>
      <vt:lpstr>Preregistration</vt:lpstr>
      <vt:lpstr>Preregistration</vt:lpstr>
      <vt:lpstr>Preregistration Survey</vt:lpstr>
      <vt:lpstr>Pilot Study</vt:lpstr>
      <vt:lpstr>Main Study</vt:lpstr>
      <vt:lpstr>Sample </vt:lpstr>
      <vt:lpstr>Preregistration </vt:lpstr>
      <vt:lpstr>Preregistration </vt:lpstr>
      <vt:lpstr>Preregistration </vt:lpstr>
      <vt:lpstr>Free-text comments </vt:lpstr>
      <vt:lpstr>Free-text comments </vt:lpstr>
      <vt:lpstr>Conclusion</vt:lpstr>
      <vt:lpstr>Discussion</vt:lpstr>
      <vt:lpstr>Blinded Analysis</vt:lpstr>
      <vt:lpstr>Preregistration</vt:lpstr>
      <vt:lpstr>Blinded Analysis</vt:lpstr>
      <vt:lpstr>How does blinding work?</vt:lpstr>
      <vt:lpstr>How does blinding work?</vt:lpstr>
      <vt:lpstr>How does blinding work?</vt:lpstr>
      <vt:lpstr>How does blinding work?</vt:lpstr>
      <vt:lpstr>Blinded Analysis</vt:lpstr>
      <vt:lpstr>Concrete Example</vt:lpstr>
      <vt:lpstr>Scenario 1: Preregistration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Blinded Analysis</vt:lpstr>
      <vt:lpstr>Different research designs demand different blinding methods</vt:lpstr>
      <vt:lpstr>Different research designs demand different blinding methods</vt:lpstr>
      <vt:lpstr>Different research designs demand different blinding methods</vt:lpstr>
      <vt:lpstr>Different research designs demand different blinding methods</vt:lpstr>
      <vt:lpstr>Different research designs demand different blinding methods</vt:lpstr>
      <vt:lpstr>Thoughts and Comments</vt:lpstr>
      <vt:lpstr>Exercise</vt:lpstr>
      <vt:lpstr>Exercise</vt:lpstr>
      <vt:lpstr>Many Analysts Religion Project</vt:lpstr>
      <vt:lpstr>Research Questions</vt:lpstr>
      <vt:lpstr>Project Set-Up</vt:lpstr>
      <vt:lpstr>Project Timeline</vt:lpstr>
      <vt:lpstr>Preliminary Results</vt:lpstr>
      <vt:lpstr>Preliminary Results: Theoretical</vt:lpstr>
      <vt:lpstr>Preliminary Results: Theoretical</vt:lpstr>
      <vt:lpstr>Preliminary Results: Blinding vs Preregistration</vt:lpstr>
      <vt:lpstr>Preliminary Results: Blinding vs Preregistration</vt:lpstr>
      <vt:lpstr>Preliminary Results: Blinding vs Preregistration</vt:lpstr>
      <vt:lpstr>Preliminary Results: Blinding vs Preregistration</vt:lpstr>
      <vt:lpstr>Preliminary Results: Blinding vs Preregistration</vt:lpstr>
      <vt:lpstr>Thoughts and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Laypeople Can Predict Which Social Science Studies Replicate</dc:title>
  <dc:creator>Hoogeveen, Suzanne</dc:creator>
  <cp:lastModifiedBy>Alex Sara</cp:lastModifiedBy>
  <cp:revision>94</cp:revision>
  <dcterms:created xsi:type="dcterms:W3CDTF">2019-11-13T07:10:40Z</dcterms:created>
  <dcterms:modified xsi:type="dcterms:W3CDTF">2021-05-05T16:01:10Z</dcterms:modified>
</cp:coreProperties>
</file>