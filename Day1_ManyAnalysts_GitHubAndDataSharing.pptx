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30"/>
  </p:notesMasterIdLst>
  <p:sldIdLst>
    <p:sldId id="256" r:id="rId2"/>
    <p:sldId id="287" r:id="rId3"/>
    <p:sldId id="307" r:id="rId4"/>
    <p:sldId id="432" r:id="rId5"/>
    <p:sldId id="261" r:id="rId6"/>
    <p:sldId id="422" r:id="rId7"/>
    <p:sldId id="420" r:id="rId8"/>
    <p:sldId id="409" r:id="rId9"/>
    <p:sldId id="408" r:id="rId10"/>
    <p:sldId id="411" r:id="rId11"/>
    <p:sldId id="421" r:id="rId12"/>
    <p:sldId id="424" r:id="rId13"/>
    <p:sldId id="412" r:id="rId14"/>
    <p:sldId id="413" r:id="rId15"/>
    <p:sldId id="414" r:id="rId16"/>
    <p:sldId id="415" r:id="rId17"/>
    <p:sldId id="430" r:id="rId18"/>
    <p:sldId id="416" r:id="rId19"/>
    <p:sldId id="417" r:id="rId20"/>
    <p:sldId id="418" r:id="rId21"/>
    <p:sldId id="410" r:id="rId22"/>
    <p:sldId id="426" r:id="rId23"/>
    <p:sldId id="419" r:id="rId24"/>
    <p:sldId id="427" r:id="rId25"/>
    <p:sldId id="423" r:id="rId26"/>
    <p:sldId id="428" r:id="rId27"/>
    <p:sldId id="429" r:id="rId28"/>
    <p:sldId id="28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87"/>
    <p:restoredTop sz="93875"/>
  </p:normalViewPr>
  <p:slideViewPr>
    <p:cSldViewPr snapToGrid="0" snapToObjects="1">
      <p:cViewPr varScale="1">
        <p:scale>
          <a:sx n="95" d="100"/>
          <a:sy n="95" d="100"/>
        </p:scale>
        <p:origin x="184" y="680"/>
      </p:cViewPr>
      <p:guideLst/>
    </p:cSldViewPr>
  </p:slideViewPr>
  <p:outlineViewPr>
    <p:cViewPr>
      <p:scale>
        <a:sx n="33" d="100"/>
        <a:sy n="33" d="100"/>
      </p:scale>
      <p:origin x="0" y="-45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92E78-E4D0-0147-8064-F123574F7084}" type="datetimeFigureOut">
              <a:rPr lang="en-US" smtClean="0"/>
              <a:t>5/5/21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6ABBA-2F85-C843-AAC4-8A106C5A5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58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E525-CDE5-804A-B0CF-B624E211C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C3B1C1-F5DB-C44B-A5FF-81F01B3C4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9AF55-A5FD-B54A-90ED-9FB899544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C554-1E82-2E47-9D1B-5A042A14144A}" type="datetimeFigureOut">
              <a:rPr lang="en-US" smtClean="0"/>
              <a:t>5/5/21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D1622-3716-F645-BD7A-13CA1B39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E099B-BEFD-3348-817B-6065FD31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CE10-D4C8-9C48-8E7C-C6757807D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9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4F662-DF6E-F84F-B918-9DD0A946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B8260-DE53-664A-8477-FEE1C620D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DB9F1-57CD-5D48-A773-DC17E9D4D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C554-1E82-2E47-9D1B-5A042A14144A}" type="datetimeFigureOut">
              <a:rPr lang="en-US" smtClean="0"/>
              <a:t>5/5/21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B63C7-5554-DC49-9109-E1452B59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9FAA9-5EC8-CF4E-AF1A-FC5E273CA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CE10-D4C8-9C48-8E7C-C6757807D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3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C1A9-ABD9-4B4D-B21B-352C926A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B0CF9-A7AF-6548-BDEA-4B669DC26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5BC8B-0D20-CA44-AC8D-C4918C01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C554-1E82-2E47-9D1B-5A042A14144A}" type="datetimeFigureOut">
              <a:rPr lang="en-US" smtClean="0"/>
              <a:t>5/5/21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73B32-2B70-E449-9554-34C3FB893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87241-6742-A643-AD73-2D4068B5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CE10-D4C8-9C48-8E7C-C6757807D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45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48244-2E98-AF4B-B129-FDC65FBE2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9571-A7A6-FF4E-8D27-A3EC1AE25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85333-75EF-374C-997E-835C82BB6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1784B-395F-5848-9D9A-E86D36C8B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C554-1E82-2E47-9D1B-5A042A14144A}" type="datetimeFigureOut">
              <a:rPr lang="en-US" smtClean="0"/>
              <a:t>5/5/21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CC856-2E4D-4745-9F5D-8DF1298D2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03924-26C6-1349-ADB4-2879C396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CE10-D4C8-9C48-8E7C-C6757807D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7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4C91B-632F-084C-815D-8B052F02D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B4EE7-76EA-8948-B6A9-20AEBA1EF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65DE2-B755-E542-A8A4-36C3CD382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33AC3-9BF6-D24E-BBB6-B64FE9F1F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3B4F6-F466-6E4D-BEB2-70B0F9824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561029-9BCB-074A-9EF3-9A4A5D05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C554-1E82-2E47-9D1B-5A042A14144A}" type="datetimeFigureOut">
              <a:rPr lang="en-US" smtClean="0"/>
              <a:t>5/5/21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E405F6-2CA8-974F-99F6-5E5026E9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E40746-FA92-6B43-8495-4C3282338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CE10-D4C8-9C48-8E7C-C6757807D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9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0AF7F-3699-A640-86F6-8A3CF8058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5C83B3-3CAB-584E-8E91-4F6A3FE0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C554-1E82-2E47-9D1B-5A042A14144A}" type="datetimeFigureOut">
              <a:rPr lang="en-US" smtClean="0"/>
              <a:t>5/5/21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C5EF2-C72A-3044-BBDD-D6C527DC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35DAB-F2DD-774B-B96C-2156F320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CE10-D4C8-9C48-8E7C-C6757807D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6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2DEFEC-DE64-0E4A-A50D-B8261649E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C554-1E82-2E47-9D1B-5A042A14144A}" type="datetimeFigureOut">
              <a:rPr lang="en-US" smtClean="0"/>
              <a:t>5/5/21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F7391D-490F-0D41-9580-6215EBA61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6965D-E778-5A4A-909A-E7746492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CE10-D4C8-9C48-8E7C-C6757807D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07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3FDF-A215-794C-AD20-000BA93AC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D59C0-AA74-3640-AD4B-C6EA5498D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87482-02A2-9F48-89D3-7BFE87BD3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2293C-2EE7-BE49-9A12-615215491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C554-1E82-2E47-9D1B-5A042A14144A}" type="datetimeFigureOut">
              <a:rPr lang="en-US" smtClean="0"/>
              <a:t>5/5/21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4A216-7A71-5748-BBC2-74C22D49E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7C496-AA59-5E41-9E54-7FB07F66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CE10-D4C8-9C48-8E7C-C6757807D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5B2CB-1543-AF40-B803-6DFE0DF93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F6189F-8B24-F844-B5AA-3CC61F8BC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44E24-A316-3040-BF54-520089E28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D4659-02D5-664B-8154-8DBDC7FD9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C554-1E82-2E47-9D1B-5A042A14144A}" type="datetimeFigureOut">
              <a:rPr lang="en-US" smtClean="0"/>
              <a:t>5/5/21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5B1A0-09AB-CA45-AAD5-71EE8B4D4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E3AA4-684F-A946-B9CF-85A23E87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CE10-D4C8-9C48-8E7C-C6757807D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8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47C7-2885-6445-8696-443D1123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5CB8B-AF9C-DB4F-A7A5-9B752A70F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0E629-54F7-0D4B-AAAE-648D5648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C554-1E82-2E47-9D1B-5A042A14144A}" type="datetimeFigureOut">
              <a:rPr lang="en-US" smtClean="0"/>
              <a:t>5/5/21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49C24-ED75-7C4D-98E7-76B9FA4D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B6828-D96E-C841-9414-73664702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CE10-D4C8-9C48-8E7C-C6757807D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6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204E96-73EF-6047-B7AB-024DA5BD3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336E8-97ED-B74A-9612-D80AF3756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6F533-AC2C-F744-8C28-A9CC0E93D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C554-1E82-2E47-9D1B-5A042A14144A}" type="datetimeFigureOut">
              <a:rPr lang="en-US" smtClean="0"/>
              <a:t>5/5/21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A4499-89A7-D246-BEFD-237638D93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ACF4B-00DE-664E-B0BE-B159C5438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CE10-D4C8-9C48-8E7C-C6757807D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9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E68D06-7700-F14A-8300-1FCEC3366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76E7D-00B0-074E-9DDB-52B9B3C56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8B348-452B-E548-87E3-8E182958F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EC554-1E82-2E47-9D1B-5A042A14144A}" type="datetimeFigureOut">
              <a:rPr lang="en-US" smtClean="0"/>
              <a:t>5/5/21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BB0AF-EAC2-2343-B383-011E94DC0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EAA59-356F-3A40-8DFF-7D2ABF711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4CE10-D4C8-9C48-8E7C-C6757807D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34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7A21B5-F599-4E4D-A51F-AB1AAD8FA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825" y="2088758"/>
            <a:ext cx="5888182" cy="2966935"/>
          </a:xfrm>
        </p:spPr>
        <p:txBody>
          <a:bodyPr anchor="b">
            <a:no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Hands-On Open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EA190-D2B2-3342-8CD7-6AE1879DB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7245" y="5264882"/>
            <a:ext cx="4645250" cy="539564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Alexandra </a:t>
            </a:r>
            <a:r>
              <a:rPr lang="en-US" dirty="0" err="1">
                <a:solidFill>
                  <a:schemeClr val="bg1"/>
                </a:solidFill>
              </a:rPr>
              <a:t>Sarafoglou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5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nhaltsplatzhalter 3" descr="Vrouwe Justitia_Gilles_01.jpg">
            <a:extLst>
              <a:ext uri="{FF2B5EF4-FFF2-40B4-BE49-F238E27FC236}">
                <a16:creationId xmlns:a16="http://schemas.microsoft.com/office/drawing/2014/main" id="{04E91580-0DC7-0547-99F6-9EB0EA43D167}"/>
              </a:ext>
            </a:extLst>
          </p:cNvPr>
          <p:cNvPicPr>
            <a:picLocks/>
          </p:cNvPicPr>
          <p:nvPr/>
        </p:nvPicPr>
        <p:blipFill rotWithShape="1"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 l="25407" t="14009" r="16548" b="20078"/>
          <a:stretch/>
        </p:blipFill>
        <p:spPr>
          <a:xfrm rot="10800000" flipH="1" flipV="1">
            <a:off x="26696" y="97005"/>
            <a:ext cx="4205545" cy="6755057"/>
          </a:xfrm>
          <a:prstGeom prst="foldedCorner">
            <a:avLst>
              <a:gd name="adj" fmla="val 39257"/>
            </a:avLst>
          </a:prstGeom>
          <a:effectLst>
            <a:softEdge rad="0"/>
          </a:effectLst>
        </p:spPr>
      </p:pic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535026C-F242-154B-A306-CC7648DF0798}"/>
              </a:ext>
            </a:extLst>
          </p:cNvPr>
          <p:cNvSpPr/>
          <p:nvPr/>
        </p:nvSpPr>
        <p:spPr>
          <a:xfrm rot="6172081">
            <a:off x="2411753" y="5286005"/>
            <a:ext cx="2119704" cy="1352202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bout · GitHub">
            <a:extLst>
              <a:ext uri="{FF2B5EF4-FFF2-40B4-BE49-F238E27FC236}">
                <a16:creationId xmlns:a16="http://schemas.microsoft.com/office/drawing/2014/main" id="{371617AA-C5A6-4347-B6D4-78665AC91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312" y="2722239"/>
            <a:ext cx="2865886" cy="150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4419600" cy="4065986"/>
          </a:xfrm>
        </p:spPr>
        <p:txBody>
          <a:bodyPr anchor="ctr">
            <a:normAutofit fontScale="92500"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Collaboration, GitHub, data sharing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Exercise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Preregistration, Blinded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Lunch break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Team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Presentations/Discussions</a:t>
            </a:r>
          </a:p>
          <a:p>
            <a:endParaRPr lang="en-US" dirty="0"/>
          </a:p>
        </p:txBody>
      </p:sp>
      <p:pic>
        <p:nvPicPr>
          <p:cNvPr id="7" name="Picture 2" descr="OSF | Badges to Acknowledge Open Practices Wiki">
            <a:extLst>
              <a:ext uri="{FF2B5EF4-FFF2-40B4-BE49-F238E27FC236}">
                <a16:creationId xmlns:a16="http://schemas.microsoft.com/office/drawing/2014/main" id="{41C3F090-E6DF-1F4A-A6E1-3734581D29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43"/>
          <a:stretch/>
        </p:blipFill>
        <p:spPr bwMode="auto">
          <a:xfrm>
            <a:off x="5849470" y="3238199"/>
            <a:ext cx="5212976" cy="1620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440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Black Hat 2020: xGitGuard uses AI to detect inadvertently exposed data on  GitHub | The Daily Swig">
            <a:extLst>
              <a:ext uri="{FF2B5EF4-FFF2-40B4-BE49-F238E27FC236}">
                <a16:creationId xmlns:a16="http://schemas.microsoft.com/office/drawing/2014/main" id="{8CC8964D-B2FA-434F-9024-B091B429D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58" y="705970"/>
            <a:ext cx="9681884" cy="544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C5DC99-6186-7242-90A8-655BA41A5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90" y="4744891"/>
            <a:ext cx="6461579" cy="199208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Collaboration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on GitHub</a:t>
            </a:r>
          </a:p>
        </p:txBody>
      </p:sp>
    </p:spTree>
    <p:extLst>
      <p:ext uri="{BB962C8B-B14F-4D97-AF65-F5344CB8AC3E}">
        <p14:creationId xmlns:p14="http://schemas.microsoft.com/office/powerpoint/2010/main" val="4224877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0515600" cy="4065986"/>
          </a:xfrm>
        </p:spPr>
        <p:txBody>
          <a:bodyPr anchor="ctr"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git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Basic GitHub workflow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Born-open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sharing</a:t>
            </a:r>
          </a:p>
          <a:p>
            <a:endParaRPr lang="en-US" dirty="0"/>
          </a:p>
        </p:txBody>
      </p:sp>
      <p:pic>
        <p:nvPicPr>
          <p:cNvPr id="6" name="Picture 2" descr="About · GitHub">
            <a:extLst>
              <a:ext uri="{FF2B5EF4-FFF2-40B4-BE49-F238E27FC236}">
                <a16:creationId xmlns:a16="http://schemas.microsoft.com/office/drawing/2014/main" id="{9F781702-E334-4A4B-8028-70E99EA71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118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What is GitHub?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0515600" cy="4065986"/>
          </a:xfrm>
        </p:spPr>
        <p:txBody>
          <a:bodyPr anchor="ctr"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is a version control system (google docs but more powerful)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Collaboration on code/R files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OSF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Overleaf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Goggle docs/Dropbox/Drive</a:t>
            </a:r>
          </a:p>
          <a:p>
            <a:endParaRPr lang="en-US" dirty="0"/>
          </a:p>
        </p:txBody>
      </p:sp>
      <p:pic>
        <p:nvPicPr>
          <p:cNvPr id="6" name="Picture 2" descr="About · GitHub">
            <a:extLst>
              <a:ext uri="{FF2B5EF4-FFF2-40B4-BE49-F238E27FC236}">
                <a16:creationId xmlns:a16="http://schemas.microsoft.com/office/drawing/2014/main" id="{3DFF541D-3EED-D845-9A29-34ABFD13F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660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GitHub Collaboration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570294D-0531-1940-90C8-5EECA690B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1364" y="3650199"/>
            <a:ext cx="1418112" cy="763420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US" dirty="0"/>
              <a:t>You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9D09A63-F124-8C43-8625-2F676199B9CE}"/>
              </a:ext>
            </a:extLst>
          </p:cNvPr>
          <p:cNvSpPr txBox="1">
            <a:spLocks/>
          </p:cNvSpPr>
          <p:nvPr/>
        </p:nvSpPr>
        <p:spPr>
          <a:xfrm>
            <a:off x="1974480" y="5520060"/>
            <a:ext cx="2493817" cy="76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Collaborator 1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7CA98B7-BABB-0644-831A-CEE7387945E2}"/>
              </a:ext>
            </a:extLst>
          </p:cNvPr>
          <p:cNvSpPr txBox="1">
            <a:spLocks/>
          </p:cNvSpPr>
          <p:nvPr/>
        </p:nvSpPr>
        <p:spPr>
          <a:xfrm>
            <a:off x="7723705" y="5520060"/>
            <a:ext cx="2493817" cy="76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Collaborator 2</a:t>
            </a:r>
          </a:p>
        </p:txBody>
      </p:sp>
      <p:pic>
        <p:nvPicPr>
          <p:cNvPr id="1026" name="Picture 2" descr="person icon | EIT RawMaterials">
            <a:extLst>
              <a:ext uri="{FF2B5EF4-FFF2-40B4-BE49-F238E27FC236}">
                <a16:creationId xmlns:a16="http://schemas.microsoft.com/office/drawing/2014/main" id="{271C72D1-3371-8F47-8612-C2B22C515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347" y="2431134"/>
            <a:ext cx="1170234" cy="117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person icon | EIT RawMaterials">
            <a:extLst>
              <a:ext uri="{FF2B5EF4-FFF2-40B4-BE49-F238E27FC236}">
                <a16:creationId xmlns:a16="http://schemas.microsoft.com/office/drawing/2014/main" id="{D10197E4-5CB6-0544-9581-3AB9ECCDE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511" y="4290338"/>
            <a:ext cx="1170234" cy="117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6E3B9D0-2FE3-944B-A31D-92E52C40D5E6}"/>
              </a:ext>
            </a:extLst>
          </p:cNvPr>
          <p:cNvCxnSpPr>
            <a:cxnSpLocks/>
            <a:stCxn id="11" idx="1"/>
            <a:endCxn id="1026" idx="1"/>
          </p:cNvCxnSpPr>
          <p:nvPr/>
        </p:nvCxnSpPr>
        <p:spPr>
          <a:xfrm flipV="1">
            <a:off x="2854511" y="3016251"/>
            <a:ext cx="2396836" cy="1859204"/>
          </a:xfrm>
          <a:prstGeom prst="line">
            <a:avLst/>
          </a:prstGeom>
          <a:ln w="476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EF2B3B4-BB8A-6B48-8B7B-DA5CCCC03DC7}"/>
              </a:ext>
            </a:extLst>
          </p:cNvPr>
          <p:cNvCxnSpPr>
            <a:cxnSpLocks/>
            <a:stCxn id="10" idx="3"/>
            <a:endCxn id="1026" idx="3"/>
          </p:cNvCxnSpPr>
          <p:nvPr/>
        </p:nvCxnSpPr>
        <p:spPr>
          <a:xfrm flipH="1" flipV="1">
            <a:off x="6421581" y="3016251"/>
            <a:ext cx="3164819" cy="1849971"/>
          </a:xfrm>
          <a:prstGeom prst="line">
            <a:avLst/>
          </a:prstGeom>
          <a:ln w="476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person icon | EIT RawMaterials">
            <a:extLst>
              <a:ext uri="{FF2B5EF4-FFF2-40B4-BE49-F238E27FC236}">
                <a16:creationId xmlns:a16="http://schemas.microsoft.com/office/drawing/2014/main" id="{FA9EA541-AA3D-E44C-B7CD-44C8D77B0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166" y="4281105"/>
            <a:ext cx="1170234" cy="117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4A0C2B8-04EF-554B-BA66-A680158B04F0}"/>
              </a:ext>
            </a:extLst>
          </p:cNvPr>
          <p:cNvSpPr txBox="1">
            <a:spLocks/>
          </p:cNvSpPr>
          <p:nvPr/>
        </p:nvSpPr>
        <p:spPr>
          <a:xfrm>
            <a:off x="8614743" y="1759409"/>
            <a:ext cx="3556207" cy="19365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- Branches</a:t>
            </a:r>
          </a:p>
          <a:p>
            <a:pPr lvl="1">
              <a:buFontTx/>
              <a:buChar char="-"/>
            </a:pPr>
            <a:r>
              <a:rPr lang="en-US" dirty="0"/>
              <a:t>Pull request</a:t>
            </a:r>
          </a:p>
          <a:p>
            <a:pPr lvl="1">
              <a:buFontTx/>
              <a:buChar char="-"/>
            </a:pP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Code development projects (R packages)</a:t>
            </a:r>
          </a:p>
          <a:p>
            <a:pPr lvl="1">
              <a:buFontTx/>
              <a:buChar char="-"/>
            </a:pPr>
            <a:r>
              <a:rPr lang="en-US" dirty="0"/>
              <a:t>Overlapping tasks</a:t>
            </a:r>
          </a:p>
        </p:txBody>
      </p:sp>
      <p:pic>
        <p:nvPicPr>
          <p:cNvPr id="18" name="Picture 2" descr="About · GitHub">
            <a:extLst>
              <a:ext uri="{FF2B5EF4-FFF2-40B4-BE49-F238E27FC236}">
                <a16:creationId xmlns:a16="http://schemas.microsoft.com/office/drawing/2014/main" id="{3B27AC9F-7D85-AE4A-A500-15E4F3671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4512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GitHub Collaboration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570294D-0531-1940-90C8-5EECA690B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7408" y="3892158"/>
            <a:ext cx="1418112" cy="763420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US" dirty="0"/>
              <a:t>You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D27F6A-7D30-D74D-B6C7-378E8C486667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>
            <a:off x="2854511" y="3016251"/>
            <a:ext cx="5963906" cy="0"/>
          </a:xfrm>
          <a:prstGeom prst="line">
            <a:avLst/>
          </a:prstGeom>
          <a:ln w="476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9D09A63-F124-8C43-8625-2F676199B9CE}"/>
              </a:ext>
            </a:extLst>
          </p:cNvPr>
          <p:cNvSpPr txBox="1">
            <a:spLocks/>
          </p:cNvSpPr>
          <p:nvPr/>
        </p:nvSpPr>
        <p:spPr>
          <a:xfrm>
            <a:off x="1900052" y="3877334"/>
            <a:ext cx="2493817" cy="76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Collaborator 1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7CA98B7-BABB-0644-831A-CEE7387945E2}"/>
              </a:ext>
            </a:extLst>
          </p:cNvPr>
          <p:cNvSpPr txBox="1">
            <a:spLocks/>
          </p:cNvSpPr>
          <p:nvPr/>
        </p:nvSpPr>
        <p:spPr>
          <a:xfrm>
            <a:off x="7046026" y="3877334"/>
            <a:ext cx="2493817" cy="763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Collaborator 2</a:t>
            </a:r>
          </a:p>
        </p:txBody>
      </p:sp>
      <p:pic>
        <p:nvPicPr>
          <p:cNvPr id="10" name="Picture 2" descr="person icon | EIT RawMaterials">
            <a:extLst>
              <a:ext uri="{FF2B5EF4-FFF2-40B4-BE49-F238E27FC236}">
                <a16:creationId xmlns:a16="http://schemas.microsoft.com/office/drawing/2014/main" id="{FA9EA541-AA3D-E44C-B7CD-44C8D77B0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183" y="2431134"/>
            <a:ext cx="1170234" cy="117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erson icon | EIT RawMaterials">
            <a:extLst>
              <a:ext uri="{FF2B5EF4-FFF2-40B4-BE49-F238E27FC236}">
                <a16:creationId xmlns:a16="http://schemas.microsoft.com/office/drawing/2014/main" id="{271C72D1-3371-8F47-8612-C2B22C515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347" y="2431134"/>
            <a:ext cx="1170234" cy="117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person icon | EIT RawMaterials">
            <a:extLst>
              <a:ext uri="{FF2B5EF4-FFF2-40B4-BE49-F238E27FC236}">
                <a16:creationId xmlns:a16="http://schemas.microsoft.com/office/drawing/2014/main" id="{D10197E4-5CB6-0544-9581-3AB9ECCDE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511" y="2431134"/>
            <a:ext cx="1170234" cy="117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57D47F2-6369-9348-BD8D-B9E7566347DA}"/>
              </a:ext>
            </a:extLst>
          </p:cNvPr>
          <p:cNvSpPr txBox="1">
            <a:spLocks/>
          </p:cNvSpPr>
          <p:nvPr/>
        </p:nvSpPr>
        <p:spPr>
          <a:xfrm>
            <a:off x="7809547" y="4870832"/>
            <a:ext cx="4217894" cy="19365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- Everybody has editing rights</a:t>
            </a:r>
          </a:p>
          <a:p>
            <a:pPr lvl="1">
              <a:buFontTx/>
              <a:buChar char="-"/>
            </a:pPr>
            <a:r>
              <a:rPr lang="en-US" dirty="0"/>
              <a:t>Smaller projects (3-4 collaborators)</a:t>
            </a:r>
          </a:p>
          <a:p>
            <a:pPr lvl="1">
              <a:buFontTx/>
              <a:buChar char="-"/>
            </a:pPr>
            <a:r>
              <a:rPr lang="en-US" dirty="0"/>
              <a:t>Distinct tasks</a:t>
            </a:r>
          </a:p>
        </p:txBody>
      </p:sp>
      <p:pic>
        <p:nvPicPr>
          <p:cNvPr id="16" name="Picture 2" descr="About · GitHub">
            <a:extLst>
              <a:ext uri="{FF2B5EF4-FFF2-40B4-BE49-F238E27FC236}">
                <a16:creationId xmlns:a16="http://schemas.microsoft.com/office/drawing/2014/main" id="{EDC60063-C228-7248-B6AD-BBA01CDA9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851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Create a Git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1353800" cy="4065986"/>
          </a:xfrm>
        </p:spPr>
        <p:txBody>
          <a:bodyPr anchor="ctr"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Install git on your computer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https://git-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scm.com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/downloads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GitHub account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 repository in </a:t>
            </a:r>
            <a:r>
              <a:rPr lang="en-US" dirty="0" err="1"/>
              <a:t>Github</a:t>
            </a:r>
            <a:r>
              <a:rPr lang="en-US" dirty="0"/>
              <a:t> (a place for things to be stored)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2" descr="About · GitHub">
            <a:extLst>
              <a:ext uri="{FF2B5EF4-FFF2-40B4-BE49-F238E27FC236}">
                <a16:creationId xmlns:a16="http://schemas.microsoft.com/office/drawing/2014/main" id="{6DF440DD-A1A0-B94B-A37A-34AD1FF08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246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Create a Git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0515600" cy="1365970"/>
          </a:xfrm>
        </p:spPr>
        <p:txBody>
          <a:bodyPr anchor="ctr">
            <a:normAutofit lnSpcReduction="10000"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Login to GitHub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Press icon “New”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AACE62-B493-574F-8592-611ACB572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260" y="3576866"/>
            <a:ext cx="8827540" cy="226014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6C7951-A597-4941-B164-92C2558D0D7D}"/>
              </a:ext>
            </a:extLst>
          </p:cNvPr>
          <p:cNvCxnSpPr/>
          <p:nvPr/>
        </p:nvCxnSpPr>
        <p:spPr>
          <a:xfrm flipH="1">
            <a:off x="4169229" y="3091543"/>
            <a:ext cx="1110342" cy="11823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About · GitHub">
            <a:extLst>
              <a:ext uri="{FF2B5EF4-FFF2-40B4-BE49-F238E27FC236}">
                <a16:creationId xmlns:a16="http://schemas.microsoft.com/office/drawing/2014/main" id="{586CD921-2716-7248-84AA-07358EF1A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030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Create a Git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5257800" cy="3688708"/>
          </a:xfrm>
        </p:spPr>
        <p:txBody>
          <a:bodyPr anchor="ctr"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Login to GitHub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Press icon “New”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Give your repository a name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</a:t>
            </a:r>
            <a:r>
              <a:rPr lang="en-US" i="1" dirty="0"/>
              <a:t>public</a:t>
            </a:r>
            <a:r>
              <a:rPr lang="en-US" dirty="0"/>
              <a:t> or </a:t>
            </a:r>
            <a:r>
              <a:rPr lang="en-US" i="1" dirty="0"/>
              <a:t>private </a:t>
            </a:r>
            <a:r>
              <a:rPr lang="en-US" dirty="0"/>
              <a:t>(public for collaboration purposes)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README file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49CA3C-488B-594D-A634-3437B15CC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907" y="1733642"/>
            <a:ext cx="5499100" cy="5003800"/>
          </a:xfrm>
          <a:prstGeom prst="rect">
            <a:avLst/>
          </a:prstGeom>
        </p:spPr>
      </p:pic>
      <p:pic>
        <p:nvPicPr>
          <p:cNvPr id="7" name="Picture 2" descr="About · GitHub">
            <a:extLst>
              <a:ext uri="{FF2B5EF4-FFF2-40B4-BE49-F238E27FC236}">
                <a16:creationId xmlns:a16="http://schemas.microsoft.com/office/drawing/2014/main" id="{603C1D7E-3BF6-E04F-ABDC-84CF99572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552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Collaboration in Teams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570294D-0531-1940-90C8-5EECA690B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0059" y="2714321"/>
            <a:ext cx="1173697" cy="245156"/>
          </a:xfrm>
        </p:spPr>
        <p:txBody>
          <a:bodyPr anchor="ctr">
            <a:normAutofit fontScale="55000" lnSpcReduction="20000"/>
          </a:bodyPr>
          <a:lstStyle/>
          <a:p>
            <a:pPr marL="457200" lvl="1" indent="0">
              <a:buNone/>
            </a:pPr>
            <a:r>
              <a:rPr lang="en-US" dirty="0"/>
              <a:t>You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9D09A63-F124-8C43-8625-2F676199B9CE}"/>
              </a:ext>
            </a:extLst>
          </p:cNvPr>
          <p:cNvSpPr txBox="1">
            <a:spLocks/>
          </p:cNvSpPr>
          <p:nvPr/>
        </p:nvSpPr>
        <p:spPr>
          <a:xfrm>
            <a:off x="2725471" y="2718128"/>
            <a:ext cx="1656865" cy="258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Collaborator 1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7CA98B7-BABB-0644-831A-CEE7387945E2}"/>
              </a:ext>
            </a:extLst>
          </p:cNvPr>
          <p:cNvSpPr txBox="1">
            <a:spLocks/>
          </p:cNvSpPr>
          <p:nvPr/>
        </p:nvSpPr>
        <p:spPr>
          <a:xfrm>
            <a:off x="5450942" y="2718128"/>
            <a:ext cx="1656865" cy="258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Collaborator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EEF0BA-4F38-0648-AB0D-9DB2CE169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671" y="3071253"/>
            <a:ext cx="8597734" cy="371744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E533B2-6A78-9A4D-9D74-434C5D1314C1}"/>
              </a:ext>
            </a:extLst>
          </p:cNvPr>
          <p:cNvCxnSpPr/>
          <p:nvPr/>
        </p:nvCxnSpPr>
        <p:spPr>
          <a:xfrm flipH="1">
            <a:off x="7432402" y="5167312"/>
            <a:ext cx="1110342" cy="11823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193B4505-6940-7A49-8F3B-2BFD6A0254D0}"/>
              </a:ext>
            </a:extLst>
          </p:cNvPr>
          <p:cNvSpPr/>
          <p:nvPr/>
        </p:nvSpPr>
        <p:spPr>
          <a:xfrm>
            <a:off x="6341423" y="3289465"/>
            <a:ext cx="985652" cy="581891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3EDC1D-D6F4-074B-8704-80915680A4EC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>
            <a:off x="3360327" y="2234763"/>
            <a:ext cx="3513164" cy="24834"/>
          </a:xfrm>
          <a:prstGeom prst="line">
            <a:avLst/>
          </a:prstGeom>
          <a:ln w="476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person icon | EIT RawMaterials">
            <a:extLst>
              <a:ext uri="{FF2B5EF4-FFF2-40B4-BE49-F238E27FC236}">
                <a16:creationId xmlns:a16="http://schemas.microsoft.com/office/drawing/2014/main" id="{D10197E4-5CB6-0544-9581-3AB9ECCDE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327" y="1846017"/>
            <a:ext cx="777491" cy="77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erson icon | EIT RawMaterials">
            <a:extLst>
              <a:ext uri="{FF2B5EF4-FFF2-40B4-BE49-F238E27FC236}">
                <a16:creationId xmlns:a16="http://schemas.microsoft.com/office/drawing/2014/main" id="{271C72D1-3371-8F47-8612-C2B22C515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163" y="1858039"/>
            <a:ext cx="777491" cy="77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person icon | EIT RawMaterials">
            <a:extLst>
              <a:ext uri="{FF2B5EF4-FFF2-40B4-BE49-F238E27FC236}">
                <a16:creationId xmlns:a16="http://schemas.microsoft.com/office/drawing/2014/main" id="{FA9EA541-AA3D-E44C-B7CD-44C8D77B0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70851"/>
            <a:ext cx="777491" cy="77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About · GitHub">
            <a:extLst>
              <a:ext uri="{FF2B5EF4-FFF2-40B4-BE49-F238E27FC236}">
                <a16:creationId xmlns:a16="http://schemas.microsoft.com/office/drawing/2014/main" id="{BA776925-4C2D-5A42-B998-36DC6B533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896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Share code/data/materials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1353800" cy="4065986"/>
          </a:xfrm>
        </p:spPr>
        <p:txBody>
          <a:bodyPr anchor="ctr"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Connect the repository to your computer (clone)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Make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Upload your changes to GitHub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2" descr="About · GitHub">
            <a:extLst>
              <a:ext uri="{FF2B5EF4-FFF2-40B4-BE49-F238E27FC236}">
                <a16:creationId xmlns:a16="http://schemas.microsoft.com/office/drawing/2014/main" id="{77F51311-809C-924D-9949-ADB496D92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32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Clone a Git repository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C9BDCF-16DC-054B-8108-F91459E81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909280"/>
            <a:ext cx="9601199" cy="3741008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A1B1514-33C0-ED44-93F6-726CE6A61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8305800" cy="1325563"/>
          </a:xfrm>
        </p:spPr>
        <p:txBody>
          <a:bodyPr anchor="ctr"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Cloning is similar to copying the files to your computer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FE7191-700F-B841-944B-8B140FB3F1E2}"/>
              </a:ext>
            </a:extLst>
          </p:cNvPr>
          <p:cNvCxnSpPr/>
          <p:nvPr/>
        </p:nvCxnSpPr>
        <p:spPr>
          <a:xfrm flipH="1">
            <a:off x="7728858" y="2425088"/>
            <a:ext cx="1110342" cy="11823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About · GitHub">
            <a:extLst>
              <a:ext uri="{FF2B5EF4-FFF2-40B4-BE49-F238E27FC236}">
                <a16:creationId xmlns:a16="http://schemas.microsoft.com/office/drawing/2014/main" id="{ADDDA15B-E484-B543-AE69-C93752FD5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925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Clone a Git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15406"/>
            <a:ext cx="5886451" cy="2295337"/>
          </a:xfrm>
        </p:spPr>
        <p:txBody>
          <a:bodyPr anchor="ctr">
            <a:normAutofit lnSpcReduction="10000"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Cloning is similar to copying the files to your computer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on “Code”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Copy the URL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789F6F-1929-054D-A4ED-A39D6FA65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650" y="2640944"/>
            <a:ext cx="4629150" cy="372460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C83AE7-E2F6-664B-B6FD-683AE0A7D32A}"/>
              </a:ext>
            </a:extLst>
          </p:cNvPr>
          <p:cNvCxnSpPr/>
          <p:nvPr/>
        </p:nvCxnSpPr>
        <p:spPr>
          <a:xfrm flipH="1">
            <a:off x="10842172" y="2998127"/>
            <a:ext cx="1110342" cy="11823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About · GitHub">
            <a:extLst>
              <a:ext uri="{FF2B5EF4-FFF2-40B4-BE49-F238E27FC236}">
                <a16:creationId xmlns:a16="http://schemas.microsoft.com/office/drawing/2014/main" id="{E5908932-F35E-6C43-A3AB-8EFC29B9F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348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Clone a Git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15166"/>
            <a:ext cx="10881576" cy="3293006"/>
          </a:xfrm>
        </p:spPr>
        <p:txBody>
          <a:bodyPr anchor="ctr">
            <a:normAutofit fontScale="92500" lnSpcReduction="20000"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Cloning is similar to copying the files to your computer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on “Code”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Copy the URL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Open Terminal on your computer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Decide where you want this folder to be copied into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Navigate to that location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clone URL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C3B9D-CE91-034B-99C5-ADBD158BBC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262"/>
          <a:stretch/>
        </p:blipFill>
        <p:spPr>
          <a:xfrm>
            <a:off x="953038" y="4754067"/>
            <a:ext cx="9614694" cy="1868282"/>
          </a:xfrm>
          <a:prstGeom prst="rect">
            <a:avLst/>
          </a:prstGeom>
        </p:spPr>
      </p:pic>
      <p:pic>
        <p:nvPicPr>
          <p:cNvPr id="7" name="Picture 2" descr="About · GitHub">
            <a:extLst>
              <a:ext uri="{FF2B5EF4-FFF2-40B4-BE49-F238E27FC236}">
                <a16:creationId xmlns:a16="http://schemas.microsoft.com/office/drawing/2014/main" id="{FFE46D5A-90E5-7E43-93A3-05CF1522B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443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Share code/data/materials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15166"/>
            <a:ext cx="10881576" cy="3293006"/>
          </a:xfrm>
        </p:spPr>
        <p:txBody>
          <a:bodyPr anchor="ctr"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Save everything you want to share in your repository folder on your computer (e.g., .</a:t>
            </a:r>
            <a:r>
              <a:rPr lang="en-US" dirty="0" err="1">
                <a:cs typeface="Courier New" panose="02070309020205020404" pitchFamily="49" charset="0"/>
              </a:rPr>
              <a:t>Rmd</a:t>
            </a:r>
            <a:r>
              <a:rPr lang="en-US" dirty="0">
                <a:cs typeface="Courier New" panose="02070309020205020404" pitchFamily="49" charset="0"/>
              </a:rPr>
              <a:t>/data/code)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In terminal navigate again to your got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Indicate which files should be uploaded to GitHub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. </a:t>
            </a:r>
            <a:r>
              <a:rPr lang="en-US" dirty="0">
                <a:cs typeface="Courier New" panose="02070309020205020404" pitchFamily="49" charset="0"/>
              </a:rPr>
              <a:t>(add everything)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Rcode1.R </a:t>
            </a:r>
            <a:r>
              <a:rPr lang="en-US" dirty="0">
                <a:cs typeface="Courier New" panose="02070309020205020404" pitchFamily="49" charset="0"/>
              </a:rPr>
              <a:t>(only add specific files)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E9D02E-9E24-D742-88C7-FF5AACA38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56" y="5048544"/>
            <a:ext cx="11317219" cy="984106"/>
          </a:xfrm>
          <a:prstGeom prst="rect">
            <a:avLst/>
          </a:prstGeom>
        </p:spPr>
      </p:pic>
      <p:pic>
        <p:nvPicPr>
          <p:cNvPr id="7" name="Picture 2" descr="About · GitHub">
            <a:extLst>
              <a:ext uri="{FF2B5EF4-FFF2-40B4-BE49-F238E27FC236}">
                <a16:creationId xmlns:a16="http://schemas.microsoft.com/office/drawing/2014/main" id="{EBFA8950-065C-4048-B7C3-5A4F66E36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3229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Share code/data/materials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15166"/>
            <a:ext cx="10881576" cy="3293006"/>
          </a:xfrm>
        </p:spPr>
        <p:txBody>
          <a:bodyPr anchor="ctr"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Save everything you want to share in your repository folder on your computer (e.g., .</a:t>
            </a:r>
            <a:r>
              <a:rPr lang="en-US" dirty="0" err="1">
                <a:cs typeface="Courier New" panose="02070309020205020404" pitchFamily="49" charset="0"/>
              </a:rPr>
              <a:t>Rmd</a:t>
            </a:r>
            <a:r>
              <a:rPr lang="en-US" dirty="0">
                <a:cs typeface="Courier New" panose="02070309020205020404" pitchFamily="49" charset="0"/>
              </a:rPr>
              <a:t>/data/code)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In terminal navigate again to your got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Indicate which files should be uploaded to GitHub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. </a:t>
            </a:r>
            <a:r>
              <a:rPr lang="en-US" dirty="0">
                <a:cs typeface="Courier New" panose="02070309020205020404" pitchFamily="49" charset="0"/>
              </a:rPr>
              <a:t>(add everything)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Rcode1.R </a:t>
            </a:r>
            <a:r>
              <a:rPr lang="en-US" dirty="0">
                <a:cs typeface="Courier New" panose="02070309020205020404" pitchFamily="49" charset="0"/>
              </a:rPr>
              <a:t>(only add specific files)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7" name="Picture 2" descr="About · GitHub">
            <a:extLst>
              <a:ext uri="{FF2B5EF4-FFF2-40B4-BE49-F238E27FC236}">
                <a16:creationId xmlns:a16="http://schemas.microsoft.com/office/drawing/2014/main" id="{EBFA8950-065C-4048-B7C3-5A4F66E36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SF | Badges to Acknowledge Open Practices Wiki">
            <a:extLst>
              <a:ext uri="{FF2B5EF4-FFF2-40B4-BE49-F238E27FC236}">
                <a16:creationId xmlns:a16="http://schemas.microsoft.com/office/drawing/2014/main" id="{6D363686-9A14-C945-A8C3-34BF7EC9A0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09" r="33518"/>
          <a:stretch/>
        </p:blipFill>
        <p:spPr bwMode="auto">
          <a:xfrm>
            <a:off x="3524319" y="4720438"/>
            <a:ext cx="3333682" cy="157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03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Share code/data/materials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15166"/>
            <a:ext cx="10881576" cy="3293006"/>
          </a:xfrm>
        </p:spPr>
        <p:txBody>
          <a:bodyPr anchor="ctr"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Save everything you want to share in your repository folder on your computer (e.g., .</a:t>
            </a:r>
            <a:r>
              <a:rPr lang="en-US" dirty="0" err="1">
                <a:cs typeface="Courier New" panose="02070309020205020404" pitchFamily="49" charset="0"/>
              </a:rPr>
              <a:t>Rmd</a:t>
            </a:r>
            <a:r>
              <a:rPr lang="en-US" dirty="0">
                <a:cs typeface="Courier New" panose="02070309020205020404" pitchFamily="49" charset="0"/>
              </a:rPr>
              <a:t>/data/code)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In terminal navigate again to your got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Indicate which files should be uploaded to GitHub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commit message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–m ‘Your commit message’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C5D2F-8583-DF48-ABBA-CA33A83A5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487" y="5029777"/>
            <a:ext cx="8556348" cy="1181017"/>
          </a:xfrm>
          <a:prstGeom prst="rect">
            <a:avLst/>
          </a:prstGeom>
        </p:spPr>
      </p:pic>
      <p:pic>
        <p:nvPicPr>
          <p:cNvPr id="7" name="Picture 2" descr="About · GitHub">
            <a:extLst>
              <a:ext uri="{FF2B5EF4-FFF2-40B4-BE49-F238E27FC236}">
                <a16:creationId xmlns:a16="http://schemas.microsoft.com/office/drawing/2014/main" id="{0B57923E-D2F7-B04B-BF53-52BC19512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6510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Share code/data/materials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15166"/>
            <a:ext cx="10881576" cy="3293006"/>
          </a:xfrm>
        </p:spPr>
        <p:txBody>
          <a:bodyPr anchor="ctr">
            <a:normAutofit fontScale="92500" lnSpcReduction="10000"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Save everything you want to share in your repository folder on your computer (e.g., .</a:t>
            </a:r>
            <a:r>
              <a:rPr lang="en-US" dirty="0" err="1">
                <a:cs typeface="Courier New" panose="02070309020205020404" pitchFamily="49" charset="0"/>
              </a:rPr>
              <a:t>Rmd</a:t>
            </a:r>
            <a:r>
              <a:rPr lang="en-US" dirty="0">
                <a:cs typeface="Courier New" panose="02070309020205020404" pitchFamily="49" charset="0"/>
              </a:rPr>
              <a:t>/data/code)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In terminal navigate again to your got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Indicate which files should be uploaded to GitHub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commit message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Upload “Push” it to GitHub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D70344-DC78-3644-8BE6-6B84D6F60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8" y="4897846"/>
            <a:ext cx="6987445" cy="1840885"/>
          </a:xfrm>
          <a:prstGeom prst="rect">
            <a:avLst/>
          </a:prstGeom>
        </p:spPr>
      </p:pic>
      <p:pic>
        <p:nvPicPr>
          <p:cNvPr id="7" name="Picture 2" descr="About · GitHub">
            <a:extLst>
              <a:ext uri="{FF2B5EF4-FFF2-40B4-BE49-F238E27FC236}">
                <a16:creationId xmlns:a16="http://schemas.microsoft.com/office/drawing/2014/main" id="{A02BD67B-CF36-FE4C-AD52-F306D1122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36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Get latest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732"/>
            <a:ext cx="10881576" cy="3537546"/>
          </a:xfrm>
        </p:spPr>
        <p:txBody>
          <a:bodyPr anchor="ctr">
            <a:normAutofit lnSpcReduction="10000"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In terminal navigate to your got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Download the latest changes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</a:p>
          <a:p>
            <a:pPr marL="4572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Always push your changes to the directory (at the end of the workday)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Always pull changes from others before you start working (at the beginning of the workday)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2" descr="About · GitHub">
            <a:extLst>
              <a:ext uri="{FF2B5EF4-FFF2-40B4-BE49-F238E27FC236}">
                <a16:creationId xmlns:a16="http://schemas.microsoft.com/office/drawing/2014/main" id="{EB72DC25-8567-E049-97BD-38C2CA1DC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477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When to use GitHub for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0515600" cy="4065986"/>
          </a:xfrm>
        </p:spPr>
        <p:txBody>
          <a:bodyPr anchor="ctr"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 data and materials and store latest versions of the manuscript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Set up experiments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Writing manuscripts (not ideal; cannot work on a file simultaneously)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 package development </a:t>
            </a:r>
          </a:p>
          <a:p>
            <a:endParaRPr lang="en-US" dirty="0"/>
          </a:p>
        </p:txBody>
      </p:sp>
      <p:pic>
        <p:nvPicPr>
          <p:cNvPr id="6" name="Picture 2" descr="About · GitHub">
            <a:extLst>
              <a:ext uri="{FF2B5EF4-FFF2-40B4-BE49-F238E27FC236}">
                <a16:creationId xmlns:a16="http://schemas.microsoft.com/office/drawing/2014/main" id="{F2D4E54C-4764-724B-A438-088041E4E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423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When to use GitHub for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0515600" cy="4065986"/>
          </a:xfrm>
        </p:spPr>
        <p:txBody>
          <a:bodyPr anchor="ctr"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Share data and materials and store latest versions of the manuscript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Set up experiments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Writing manuscripts (not ideal)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 package development </a:t>
            </a:r>
          </a:p>
          <a:p>
            <a:endParaRPr lang="en-US" dirty="0"/>
          </a:p>
        </p:txBody>
      </p:sp>
      <p:pic>
        <p:nvPicPr>
          <p:cNvPr id="6" name="Picture 2" descr="About · GitHub">
            <a:extLst>
              <a:ext uri="{FF2B5EF4-FFF2-40B4-BE49-F238E27FC236}">
                <a16:creationId xmlns:a16="http://schemas.microsoft.com/office/drawing/2014/main" id="{B450AAD1-EDD9-6040-B9E2-7141CF3CA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954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Push changes automatically to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7DB-F4B7-D049-A265-90B27DB7B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732"/>
            <a:ext cx="10881576" cy="3537546"/>
          </a:xfrm>
        </p:spPr>
        <p:txBody>
          <a:bodyPr anchor="ctr">
            <a:normAutofit lnSpcReduction="10000"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In terminal navigate to your got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Download the latest changes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</a:p>
          <a:p>
            <a:pPr marL="4572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Always push your changes to the directory (at the end of the workday)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Always pull changes from others before you start working (at the beginning of the workday)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2" descr="About · GitHub">
            <a:extLst>
              <a:ext uri="{FF2B5EF4-FFF2-40B4-BE49-F238E27FC236}">
                <a16:creationId xmlns:a16="http://schemas.microsoft.com/office/drawing/2014/main" id="{AE30FA0C-9AAD-034D-AF58-D68B8A3E4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607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Push Changes Automatically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F0263-8177-574C-B999-97AB09127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29554"/>
            <a:ext cx="7427606" cy="183775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0F39BE-0DB6-9A45-9980-07024C3B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7" y="1908741"/>
            <a:ext cx="10698588" cy="1202760"/>
          </a:xfrm>
        </p:spPr>
        <p:txBody>
          <a:bodyPr anchor="ctr">
            <a:normAutofit lnSpcReduction="10000"/>
          </a:bodyPr>
          <a:lstStyle/>
          <a:p>
            <a:pPr marL="457200" lvl="1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Use Automator in Mac and trigger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 </a:t>
            </a:r>
            <a:r>
              <a:rPr lang="en-US" dirty="0">
                <a:cs typeface="Courier New" panose="02070309020205020404" pitchFamily="49" charset="0"/>
              </a:rPr>
              <a:t>every time a new file gets added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2" descr="About · GitHub">
            <a:extLst>
              <a:ext uri="{FF2B5EF4-FFF2-40B4-BE49-F238E27FC236}">
                <a16:creationId xmlns:a16="http://schemas.microsoft.com/office/drawing/2014/main" id="{6B08FF4C-0AD4-E249-AE2F-6349D99F5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261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Push Changes Automatically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0F39BE-0DB6-9A45-9980-07024C3B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24" y="1805125"/>
            <a:ext cx="10698588" cy="1690688"/>
          </a:xfrm>
        </p:spPr>
        <p:txBody>
          <a:bodyPr anchor="ctr"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In Automator, create a “Folder Action” for your data folder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Select the data folder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C195CF-9415-5342-91C6-891E0723D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591" y="2758232"/>
            <a:ext cx="4266593" cy="3852956"/>
          </a:xfrm>
          <a:prstGeom prst="rect">
            <a:avLst/>
          </a:prstGeom>
        </p:spPr>
      </p:pic>
      <p:pic>
        <p:nvPicPr>
          <p:cNvPr id="15" name="Picture 2" descr="About · GitHub">
            <a:extLst>
              <a:ext uri="{FF2B5EF4-FFF2-40B4-BE49-F238E27FC236}">
                <a16:creationId xmlns:a16="http://schemas.microsoft.com/office/drawing/2014/main" id="{4EF799F8-BC30-864A-A025-0774F02B3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017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Push Changes Automatically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0F39BE-0DB6-9A45-9980-07024C3B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24" y="1805125"/>
            <a:ext cx="10698588" cy="2949438"/>
          </a:xfrm>
        </p:spPr>
        <p:txBody>
          <a:bodyPr anchor="ctr">
            <a:normAutofit fontScale="92500" lnSpcReduction="20000"/>
          </a:bodyPr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In Automator, create a “Folder Action” for your data folder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Select the data folder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Shell Script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Git_projects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HandsOnOpenScience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/data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. / git add *.csv*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–am ‘automatic commit’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B418FB-5C79-0442-8745-EA87CCEBB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076" y="4206056"/>
            <a:ext cx="7096028" cy="2450237"/>
          </a:xfrm>
          <a:prstGeom prst="rect">
            <a:avLst/>
          </a:prstGeom>
        </p:spPr>
      </p:pic>
      <p:pic>
        <p:nvPicPr>
          <p:cNvPr id="13" name="Picture 2" descr="About · GitHub">
            <a:extLst>
              <a:ext uri="{FF2B5EF4-FFF2-40B4-BE49-F238E27FC236}">
                <a16:creationId xmlns:a16="http://schemas.microsoft.com/office/drawing/2014/main" id="{CA85B0E1-927F-4D45-BC62-8B813A52F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444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4">
            <a:extLst>
              <a:ext uri="{FF2B5EF4-FFF2-40B4-BE49-F238E27FC236}">
                <a16:creationId xmlns:a16="http://schemas.microsoft.com/office/drawing/2014/main" id="{3A4F209C-C20E-4FA7-B241-1EF4F8D19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E4564234-45B0-4ED8-A9E2-199C00173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2192000" cy="5166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B72B-1898-944F-8E16-79262A0D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Exercises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0F39BE-0DB6-9A45-9980-07024C3B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24" y="2055813"/>
            <a:ext cx="10698588" cy="4615695"/>
          </a:xfrm>
        </p:spPr>
        <p:txBody>
          <a:bodyPr anchor="ctr"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Discuss the following topics: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What is your current collaboration workflow?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Which tools do you currently use (share data/code/materials, write manuscripts together)?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Would your research profit from a GitHub collaboration or automated uploads?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Do you think that your collaborators would be confident to use GitHub? </a:t>
            </a:r>
          </a:p>
          <a:p>
            <a:pPr marL="457200" lvl="1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In your breakout group, 1 person should create a git repository and add the others as collaborators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The collaborators make a local copy of the repository to their computer,  add a file, commit the change and push it back to GitHub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(Additional task: create a ‘material’ folder in your repository and implement an automatic upload (Mac Users)/Find out how to automate processes on Windows/Linux machines)</a:t>
            </a:r>
          </a:p>
          <a:p>
            <a:pPr marL="457200" lvl="1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13" name="Picture 2" descr="About · GitHub">
            <a:extLst>
              <a:ext uri="{FF2B5EF4-FFF2-40B4-BE49-F238E27FC236}">
                <a16:creationId xmlns:a16="http://schemas.microsoft.com/office/drawing/2014/main" id="{CA85B0E1-927F-4D45-BC62-8B813A52F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954" y="186491"/>
            <a:ext cx="2319846" cy="121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54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7A21B5-F599-4E4D-A51F-AB1AAD8FA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2164" y="2855068"/>
            <a:ext cx="4645250" cy="1147863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700" dirty="0">
                <a:solidFill>
                  <a:schemeClr val="bg1"/>
                </a:solidFill>
              </a:rPr>
              <a:t>Thoughts and Comments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5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2" descr="About · GitHub">
            <a:extLst>
              <a:ext uri="{FF2B5EF4-FFF2-40B4-BE49-F238E27FC236}">
                <a16:creationId xmlns:a16="http://schemas.microsoft.com/office/drawing/2014/main" id="{5BDF6679-ABE8-4E49-B265-7C04B8A1B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5657"/>
            <a:ext cx="4292082" cy="2253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2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1670</TotalTime>
  <Words>936</Words>
  <Application>Microsoft Macintosh PowerPoint</Application>
  <PresentationFormat>Widescreen</PresentationFormat>
  <Paragraphs>176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Office Theme</vt:lpstr>
      <vt:lpstr>Hands-On Open Science</vt:lpstr>
      <vt:lpstr>Overview</vt:lpstr>
      <vt:lpstr>Collaboration  on GitHub</vt:lpstr>
      <vt:lpstr>Overview</vt:lpstr>
      <vt:lpstr>What is GitHub?</vt:lpstr>
      <vt:lpstr>GitHub Collaboration</vt:lpstr>
      <vt:lpstr>GitHub Collaboration</vt:lpstr>
      <vt:lpstr>Create a Git repository</vt:lpstr>
      <vt:lpstr>Create a Git repository</vt:lpstr>
      <vt:lpstr>Create a Git repository</vt:lpstr>
      <vt:lpstr>Collaboration in Teams</vt:lpstr>
      <vt:lpstr>Share code/data/materials</vt:lpstr>
      <vt:lpstr>Clone a Git repository</vt:lpstr>
      <vt:lpstr>Clone a Git repository</vt:lpstr>
      <vt:lpstr>Clone a Git repository</vt:lpstr>
      <vt:lpstr>Share code/data/materials</vt:lpstr>
      <vt:lpstr>Share code/data/materials</vt:lpstr>
      <vt:lpstr>Share code/data/materials</vt:lpstr>
      <vt:lpstr>Share code/data/materials</vt:lpstr>
      <vt:lpstr>Get latest changes</vt:lpstr>
      <vt:lpstr>When to use GitHub for Collaboration</vt:lpstr>
      <vt:lpstr>When to use GitHub for Collaboration</vt:lpstr>
      <vt:lpstr>Push changes automatically to GitHub</vt:lpstr>
      <vt:lpstr>Push Changes Automatically</vt:lpstr>
      <vt:lpstr>Push Changes Automatically</vt:lpstr>
      <vt:lpstr>Push Changes Automatically</vt:lpstr>
      <vt:lpstr>Exercises</vt:lpstr>
      <vt:lpstr>Thoughts and 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Laypeople Can Predict Which Social Science Studies Replicate</dc:title>
  <dc:creator>Hoogeveen, Suzanne</dc:creator>
  <cp:lastModifiedBy>Alex Sara</cp:lastModifiedBy>
  <cp:revision>85</cp:revision>
  <dcterms:created xsi:type="dcterms:W3CDTF">2019-11-13T07:10:40Z</dcterms:created>
  <dcterms:modified xsi:type="dcterms:W3CDTF">2021-05-05T14:43:01Z</dcterms:modified>
</cp:coreProperties>
</file>